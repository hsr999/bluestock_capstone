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Proxima Nova Bold" charset="1" panose="02000506030000020004"/>
      <p:regular r:id="rId21"/>
    </p:embeddedFont>
    <p:embeddedFont>
      <p:font typeface="Montserrat Bold" charset="1" panose="00000800000000000000"/>
      <p:regular r:id="rId22"/>
    </p:embeddedFont>
    <p:embeddedFont>
      <p:font typeface="Proxima Nova" charset="1" panose="02000506030000020004"/>
      <p:regular r:id="rId23"/>
    </p:embeddedFont>
    <p:embeddedFont>
      <p:font typeface="Proxima Nova Italics" charset="1" panose="020005060300000200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notesSlides/notesSlide4.xml" Type="http://schemas.openxmlformats.org/officeDocument/2006/relationships/notesSlide"/><Relationship Id="rId27" Target="notesSlides/notesSlide5.xml" Type="http://schemas.openxmlformats.org/officeDocument/2006/relationships/notesSlide"/><Relationship Id="rId28" Target="fonts/font28.fntdata" Type="http://schemas.openxmlformats.org/officeDocument/2006/relationships/font"/><Relationship Id="rId29" Target="notesSlides/notesSlide6.xml" Type="http://schemas.openxmlformats.org/officeDocument/2006/relationships/notesSlide"/><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notesSlides/notesSlide10.xml" Type="http://schemas.openxmlformats.org/officeDocument/2006/relationships/notesSlide"/><Relationship Id="rId34" Target="notesSlides/notesSlide11.xml" Type="http://schemas.openxmlformats.org/officeDocument/2006/relationships/notesSlide"/><Relationship Id="rId35" Target="notesSlides/notesSlide1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71707" cy="10312403"/>
            <a:chOff x="0" y="0"/>
            <a:chExt cx="228943" cy="13749871"/>
          </a:xfrm>
        </p:grpSpPr>
        <p:sp>
          <p:nvSpPr>
            <p:cNvPr name="Freeform 3" id="3"/>
            <p:cNvSpPr/>
            <p:nvPr/>
          </p:nvSpPr>
          <p:spPr>
            <a:xfrm flipH="false" flipV="false" rot="0">
              <a:off x="0" y="0"/>
              <a:ext cx="228981" cy="13749910"/>
            </a:xfrm>
            <a:custGeom>
              <a:avLst/>
              <a:gdLst/>
              <a:ahLst/>
              <a:cxnLst/>
              <a:rect r="r" b="b" t="t" l="l"/>
              <a:pathLst>
                <a:path h="13749910" w="228981">
                  <a:moveTo>
                    <a:pt x="0" y="0"/>
                  </a:moveTo>
                  <a:lnTo>
                    <a:pt x="228981" y="0"/>
                  </a:lnTo>
                  <a:lnTo>
                    <a:pt x="228981" y="13749910"/>
                  </a:lnTo>
                  <a:lnTo>
                    <a:pt x="0" y="13749910"/>
                  </a:lnTo>
                  <a:close/>
                </a:path>
              </a:pathLst>
            </a:custGeom>
            <a:solidFill>
              <a:srgbClr val="0D9488"/>
            </a:solidFill>
            <a:ln w="25400" cap="sq">
              <a:solidFill>
                <a:srgbClr val="0D9488"/>
              </a:solidFill>
              <a:prstDash val="solid"/>
              <a:miter/>
            </a:ln>
          </p:spPr>
        </p:sp>
      </p:grpSp>
      <p:grpSp>
        <p:nvGrpSpPr>
          <p:cNvPr name="Group 4" id="4"/>
          <p:cNvGrpSpPr/>
          <p:nvPr/>
        </p:nvGrpSpPr>
        <p:grpSpPr>
          <a:xfrm rot="0">
            <a:off x="14251943" y="-1109977"/>
            <a:ext cx="5877563" cy="5877563"/>
            <a:chOff x="0" y="0"/>
            <a:chExt cx="7836751" cy="7836751"/>
          </a:xfrm>
        </p:grpSpPr>
        <p:sp>
          <p:nvSpPr>
            <p:cNvPr name="Freeform 5" id="5"/>
            <p:cNvSpPr/>
            <p:nvPr/>
          </p:nvSpPr>
          <p:spPr>
            <a:xfrm flipH="false" flipV="false" rot="0">
              <a:off x="0" y="0"/>
              <a:ext cx="7836789" cy="7836789"/>
            </a:xfrm>
            <a:custGeom>
              <a:avLst/>
              <a:gdLst/>
              <a:ahLst/>
              <a:cxnLst/>
              <a:rect r="r" b="b" t="t" l="l"/>
              <a:pathLst>
                <a:path h="7836789" w="7836789">
                  <a:moveTo>
                    <a:pt x="0" y="3918331"/>
                  </a:moveTo>
                  <a:cubicBezTo>
                    <a:pt x="0" y="1754378"/>
                    <a:pt x="1754378" y="0"/>
                    <a:pt x="3918331" y="0"/>
                  </a:cubicBezTo>
                  <a:cubicBezTo>
                    <a:pt x="6082284" y="0"/>
                    <a:pt x="7836789" y="1754378"/>
                    <a:pt x="7836789" y="3918331"/>
                  </a:cubicBezTo>
                  <a:cubicBezTo>
                    <a:pt x="7836789" y="6082284"/>
                    <a:pt x="6082411" y="7836789"/>
                    <a:pt x="3918331" y="7836789"/>
                  </a:cubicBezTo>
                  <a:cubicBezTo>
                    <a:pt x="1754251" y="7836789"/>
                    <a:pt x="0" y="6082411"/>
                    <a:pt x="0" y="3918331"/>
                  </a:cubicBezTo>
                  <a:close/>
                </a:path>
              </a:pathLst>
            </a:custGeom>
            <a:solidFill>
              <a:srgbClr val="0D9488">
                <a:alpha val="3137"/>
              </a:srgbClr>
            </a:solidFill>
            <a:ln w="25400" cap="sq">
              <a:solidFill>
                <a:srgbClr val="0D9488"/>
              </a:solidFill>
              <a:prstDash val="solid"/>
              <a:miter/>
            </a:ln>
          </p:spPr>
        </p:sp>
      </p:grpSp>
      <p:grpSp>
        <p:nvGrpSpPr>
          <p:cNvPr name="Group 6" id="6"/>
          <p:cNvGrpSpPr/>
          <p:nvPr/>
        </p:nvGrpSpPr>
        <p:grpSpPr>
          <a:xfrm rot="0">
            <a:off x="15349223" y="-378457"/>
            <a:ext cx="4048763" cy="4048763"/>
            <a:chOff x="0" y="0"/>
            <a:chExt cx="5398351" cy="5398351"/>
          </a:xfrm>
        </p:grpSpPr>
        <p:sp>
          <p:nvSpPr>
            <p:cNvPr name="Freeform 7" id="7"/>
            <p:cNvSpPr/>
            <p:nvPr/>
          </p:nvSpPr>
          <p:spPr>
            <a:xfrm flipH="false" flipV="false" rot="0">
              <a:off x="0" y="0"/>
              <a:ext cx="5398389" cy="5398389"/>
            </a:xfrm>
            <a:custGeom>
              <a:avLst/>
              <a:gdLst/>
              <a:ahLst/>
              <a:cxnLst/>
              <a:rect r="r" b="b" t="t" l="l"/>
              <a:pathLst>
                <a:path h="5398389" w="5398389">
                  <a:moveTo>
                    <a:pt x="0" y="2699131"/>
                  </a:moveTo>
                  <a:cubicBezTo>
                    <a:pt x="0" y="1208405"/>
                    <a:pt x="1208405" y="0"/>
                    <a:pt x="2699131" y="0"/>
                  </a:cubicBezTo>
                  <a:cubicBezTo>
                    <a:pt x="4189857" y="0"/>
                    <a:pt x="5398389" y="1208405"/>
                    <a:pt x="5398389" y="2699131"/>
                  </a:cubicBezTo>
                  <a:cubicBezTo>
                    <a:pt x="5398389" y="4189857"/>
                    <a:pt x="4189857" y="5398389"/>
                    <a:pt x="2699131" y="5398389"/>
                  </a:cubicBezTo>
                  <a:cubicBezTo>
                    <a:pt x="1208405" y="5398389"/>
                    <a:pt x="0" y="4189857"/>
                    <a:pt x="0" y="2699131"/>
                  </a:cubicBezTo>
                  <a:close/>
                </a:path>
              </a:pathLst>
            </a:custGeom>
            <a:solidFill>
              <a:srgbClr val="CCFBF1">
                <a:alpha val="1176"/>
              </a:srgbClr>
            </a:solidFill>
            <a:ln w="25400" cap="sq">
              <a:solidFill>
                <a:srgbClr val="0D9488"/>
              </a:solidFill>
              <a:prstDash val="solid"/>
              <a:miter/>
            </a:ln>
          </p:spPr>
        </p:sp>
      </p:grpSp>
      <p:grpSp>
        <p:nvGrpSpPr>
          <p:cNvPr name="Group 8" id="8"/>
          <p:cNvGrpSpPr/>
          <p:nvPr/>
        </p:nvGrpSpPr>
        <p:grpSpPr>
          <a:xfrm rot="0">
            <a:off x="822960" y="1188720"/>
            <a:ext cx="16459200" cy="548640"/>
            <a:chOff x="0" y="0"/>
            <a:chExt cx="21945600" cy="731520"/>
          </a:xfrm>
        </p:grpSpPr>
        <p:sp>
          <p:nvSpPr>
            <p:cNvPr name="Freeform 9" id="9"/>
            <p:cNvSpPr/>
            <p:nvPr/>
          </p:nvSpPr>
          <p:spPr>
            <a:xfrm flipH="false" flipV="false" rot="0">
              <a:off x="0" y="0"/>
              <a:ext cx="21945600" cy="731520"/>
            </a:xfrm>
            <a:custGeom>
              <a:avLst/>
              <a:gdLst/>
              <a:ahLst/>
              <a:cxnLst/>
              <a:rect r="r" b="b" t="t" l="l"/>
              <a:pathLst>
                <a:path h="731520" w="21945600">
                  <a:moveTo>
                    <a:pt x="0" y="0"/>
                  </a:moveTo>
                  <a:lnTo>
                    <a:pt x="21945600" y="0"/>
                  </a:lnTo>
                  <a:lnTo>
                    <a:pt x="21945600" y="731520"/>
                  </a:lnTo>
                  <a:lnTo>
                    <a:pt x="0" y="731520"/>
                  </a:lnTo>
                  <a:close/>
                </a:path>
              </a:pathLst>
            </a:custGeom>
            <a:blipFill>
              <a:blip r:embed="rId3">
                <a:alphaModFix amt="0"/>
              </a:blip>
              <a:stretch>
                <a:fillRect l="0" t="-534551" r="0" b="-534551"/>
              </a:stretch>
            </a:blipFill>
          </p:spPr>
        </p:sp>
        <p:sp>
          <p:nvSpPr>
            <p:cNvPr name="TextBox 10" id="10"/>
            <p:cNvSpPr txBox="true"/>
            <p:nvPr/>
          </p:nvSpPr>
          <p:spPr>
            <a:xfrm>
              <a:off x="0" y="-9525"/>
              <a:ext cx="21945600" cy="741045"/>
            </a:xfrm>
            <a:prstGeom prst="rect">
              <a:avLst/>
            </a:prstGeom>
          </p:spPr>
          <p:txBody>
            <a:bodyPr anchor="ctr" rtlCol="false" tIns="0" lIns="0" bIns="0" rIns="0"/>
            <a:lstStyle/>
            <a:p>
              <a:pPr algn="l">
                <a:lnSpc>
                  <a:spcPts val="2400"/>
                </a:lnSpc>
              </a:pPr>
              <a:r>
                <a:rPr lang="en-US" b="true" sz="2000" spc="800">
                  <a:solidFill>
                    <a:srgbClr val="0D9488"/>
                  </a:solidFill>
                  <a:latin typeface="Proxima Nova Bold"/>
                  <a:ea typeface="Proxima Nova Bold"/>
                  <a:cs typeface="Proxima Nova Bold"/>
                  <a:sym typeface="Proxima Nova Bold"/>
                </a:rPr>
                <a:t>CAPSTONE PROJECT  •  2026</a:t>
              </a:r>
            </a:p>
          </p:txBody>
        </p:sp>
      </p:grpSp>
      <p:grpSp>
        <p:nvGrpSpPr>
          <p:cNvPr name="Group 11" id="11"/>
          <p:cNvGrpSpPr/>
          <p:nvPr/>
        </p:nvGrpSpPr>
        <p:grpSpPr>
          <a:xfrm rot="0">
            <a:off x="822960" y="1975104"/>
            <a:ext cx="16642080" cy="1757070"/>
            <a:chOff x="0" y="0"/>
            <a:chExt cx="22189440" cy="2342761"/>
          </a:xfrm>
        </p:grpSpPr>
        <p:sp>
          <p:nvSpPr>
            <p:cNvPr name="Freeform 12" id="12"/>
            <p:cNvSpPr/>
            <p:nvPr/>
          </p:nvSpPr>
          <p:spPr>
            <a:xfrm flipH="false" flipV="false" rot="0">
              <a:off x="0" y="0"/>
              <a:ext cx="22189439" cy="2342760"/>
            </a:xfrm>
            <a:custGeom>
              <a:avLst/>
              <a:gdLst/>
              <a:ahLst/>
              <a:cxnLst/>
              <a:rect r="r" b="b" t="t" l="l"/>
              <a:pathLst>
                <a:path h="2342760" w="22189439">
                  <a:moveTo>
                    <a:pt x="0" y="0"/>
                  </a:moveTo>
                  <a:lnTo>
                    <a:pt x="22189439" y="0"/>
                  </a:lnTo>
                  <a:lnTo>
                    <a:pt x="22189439" y="2342760"/>
                  </a:lnTo>
                  <a:lnTo>
                    <a:pt x="0" y="2342760"/>
                  </a:lnTo>
                  <a:close/>
                </a:path>
              </a:pathLst>
            </a:custGeom>
            <a:blipFill>
              <a:blip r:embed="rId3">
                <a:alphaModFix amt="0"/>
              </a:blip>
              <a:stretch>
                <a:fillRect l="0" t="-137715" r="0" b="-131389"/>
              </a:stretch>
            </a:blipFill>
          </p:spPr>
        </p:sp>
        <p:sp>
          <p:nvSpPr>
            <p:cNvPr name="TextBox 13" id="13"/>
            <p:cNvSpPr txBox="true"/>
            <p:nvPr/>
          </p:nvSpPr>
          <p:spPr>
            <a:xfrm>
              <a:off x="0" y="9525"/>
              <a:ext cx="22189440" cy="2333236"/>
            </a:xfrm>
            <a:prstGeom prst="rect">
              <a:avLst/>
            </a:prstGeom>
          </p:spPr>
          <p:txBody>
            <a:bodyPr anchor="ctr" rtlCol="false" tIns="0" lIns="0" bIns="0" rIns="0"/>
            <a:lstStyle/>
            <a:p>
              <a:pPr algn="l">
                <a:lnSpc>
                  <a:spcPts val="10560"/>
                </a:lnSpc>
              </a:pPr>
              <a:r>
                <a:rPr lang="en-US" sz="8800" b="true">
                  <a:solidFill>
                    <a:srgbClr val="FFFFFF"/>
                  </a:solidFill>
                  <a:latin typeface="Montserrat Bold"/>
                  <a:ea typeface="Montserrat Bold"/>
                  <a:cs typeface="Montserrat Bold"/>
                  <a:sym typeface="Montserrat Bold"/>
                </a:rPr>
                <a:t>Bluestock Mutual Fund</a:t>
              </a:r>
            </a:p>
          </p:txBody>
        </p:sp>
      </p:grpSp>
      <p:grpSp>
        <p:nvGrpSpPr>
          <p:cNvPr name="Group 14" id="14"/>
          <p:cNvGrpSpPr/>
          <p:nvPr/>
        </p:nvGrpSpPr>
        <p:grpSpPr>
          <a:xfrm rot="0">
            <a:off x="822960" y="3438144"/>
            <a:ext cx="16642080" cy="1757070"/>
            <a:chOff x="0" y="0"/>
            <a:chExt cx="22189440" cy="2342761"/>
          </a:xfrm>
        </p:grpSpPr>
        <p:sp>
          <p:nvSpPr>
            <p:cNvPr name="Freeform 15" id="15"/>
            <p:cNvSpPr/>
            <p:nvPr/>
          </p:nvSpPr>
          <p:spPr>
            <a:xfrm flipH="false" flipV="false" rot="0">
              <a:off x="0" y="0"/>
              <a:ext cx="22189439" cy="2342760"/>
            </a:xfrm>
            <a:custGeom>
              <a:avLst/>
              <a:gdLst/>
              <a:ahLst/>
              <a:cxnLst/>
              <a:rect r="r" b="b" t="t" l="l"/>
              <a:pathLst>
                <a:path h="2342760" w="22189439">
                  <a:moveTo>
                    <a:pt x="0" y="0"/>
                  </a:moveTo>
                  <a:lnTo>
                    <a:pt x="22189439" y="0"/>
                  </a:lnTo>
                  <a:lnTo>
                    <a:pt x="22189439" y="2342760"/>
                  </a:lnTo>
                  <a:lnTo>
                    <a:pt x="0" y="2342760"/>
                  </a:lnTo>
                  <a:close/>
                </a:path>
              </a:pathLst>
            </a:custGeom>
            <a:blipFill>
              <a:blip r:embed="rId3">
                <a:alphaModFix amt="0"/>
              </a:blip>
              <a:stretch>
                <a:fillRect l="0" t="-137715" r="0" b="-131389"/>
              </a:stretch>
            </a:blipFill>
          </p:spPr>
        </p:sp>
        <p:sp>
          <p:nvSpPr>
            <p:cNvPr name="TextBox 16" id="16"/>
            <p:cNvSpPr txBox="true"/>
            <p:nvPr/>
          </p:nvSpPr>
          <p:spPr>
            <a:xfrm>
              <a:off x="0" y="9525"/>
              <a:ext cx="22189440" cy="2333236"/>
            </a:xfrm>
            <a:prstGeom prst="rect">
              <a:avLst/>
            </a:prstGeom>
          </p:spPr>
          <p:txBody>
            <a:bodyPr anchor="ctr" rtlCol="false" tIns="0" lIns="0" bIns="0" rIns="0"/>
            <a:lstStyle/>
            <a:p>
              <a:pPr algn="l">
                <a:lnSpc>
                  <a:spcPts val="10560"/>
                </a:lnSpc>
              </a:pPr>
              <a:r>
                <a:rPr lang="en-US" sz="8800" b="true">
                  <a:solidFill>
                    <a:srgbClr val="0D9488"/>
                  </a:solidFill>
                  <a:latin typeface="Montserrat Bold"/>
                  <a:ea typeface="Montserrat Bold"/>
                  <a:cs typeface="Montserrat Bold"/>
                  <a:sym typeface="Montserrat Bold"/>
                </a:rPr>
                <a:t>Analytics Capstone</a:t>
              </a:r>
            </a:p>
          </p:txBody>
        </p:sp>
      </p:grpSp>
      <p:grpSp>
        <p:nvGrpSpPr>
          <p:cNvPr name="Group 17" id="17"/>
          <p:cNvGrpSpPr/>
          <p:nvPr/>
        </p:nvGrpSpPr>
        <p:grpSpPr>
          <a:xfrm rot="0">
            <a:off x="822960" y="5266944"/>
            <a:ext cx="12801600" cy="914400"/>
            <a:chOff x="0" y="0"/>
            <a:chExt cx="17068800" cy="1219200"/>
          </a:xfrm>
        </p:grpSpPr>
        <p:sp>
          <p:nvSpPr>
            <p:cNvPr name="Freeform 18" id="18"/>
            <p:cNvSpPr/>
            <p:nvPr/>
          </p:nvSpPr>
          <p:spPr>
            <a:xfrm flipH="false" flipV="false" rot="0">
              <a:off x="0" y="0"/>
              <a:ext cx="17068800" cy="1219200"/>
            </a:xfrm>
            <a:custGeom>
              <a:avLst/>
              <a:gdLst/>
              <a:ahLst/>
              <a:cxnLst/>
              <a:rect r="r" b="b" t="t" l="l"/>
              <a:pathLst>
                <a:path h="1219200" w="17068800">
                  <a:moveTo>
                    <a:pt x="0" y="0"/>
                  </a:moveTo>
                  <a:lnTo>
                    <a:pt x="17068800" y="0"/>
                  </a:lnTo>
                  <a:lnTo>
                    <a:pt x="17068800" y="1219200"/>
                  </a:lnTo>
                  <a:lnTo>
                    <a:pt x="0" y="1219200"/>
                  </a:lnTo>
                  <a:close/>
                </a:path>
              </a:pathLst>
            </a:custGeom>
            <a:blipFill>
              <a:blip r:embed="rId3">
                <a:alphaModFix amt="0"/>
              </a:blip>
              <a:stretch>
                <a:fillRect l="0" t="-222790" r="0" b="-222790"/>
              </a:stretch>
            </a:blipFill>
          </p:spPr>
        </p:sp>
        <p:sp>
          <p:nvSpPr>
            <p:cNvPr name="TextBox 19" id="19"/>
            <p:cNvSpPr txBox="true"/>
            <p:nvPr/>
          </p:nvSpPr>
          <p:spPr>
            <a:xfrm>
              <a:off x="0" y="-9525"/>
              <a:ext cx="17068800" cy="1228725"/>
            </a:xfrm>
            <a:prstGeom prst="rect">
              <a:avLst/>
            </a:prstGeom>
          </p:spPr>
          <p:txBody>
            <a:bodyPr anchor="ctr" rtlCol="false" tIns="0" lIns="0" bIns="0" rIns="0"/>
            <a:lstStyle/>
            <a:p>
              <a:pPr algn="l">
                <a:lnSpc>
                  <a:spcPts val="3600"/>
                </a:lnSpc>
              </a:pPr>
              <a:r>
                <a:rPr lang="en-US" sz="3000">
                  <a:solidFill>
                    <a:srgbClr val="CBD5E1"/>
                  </a:solidFill>
                  <a:latin typeface="Proxima Nova"/>
                  <a:ea typeface="Proxima Nova"/>
                  <a:cs typeface="Proxima Nova"/>
                  <a:sym typeface="Proxima Nova"/>
                </a:rPr>
                <a:t>End-to-End Mutual Fund Analytics and Business Intelligence Solution</a:t>
              </a:r>
            </a:p>
          </p:txBody>
        </p:sp>
      </p:grpSp>
      <p:grpSp>
        <p:nvGrpSpPr>
          <p:cNvPr name="Group 20" id="20"/>
          <p:cNvGrpSpPr/>
          <p:nvPr/>
        </p:nvGrpSpPr>
        <p:grpSpPr>
          <a:xfrm rot="0">
            <a:off x="810263" y="6424679"/>
            <a:ext cx="8255003" cy="80267"/>
            <a:chOff x="0" y="0"/>
            <a:chExt cx="11006671" cy="107023"/>
          </a:xfrm>
        </p:grpSpPr>
        <p:sp>
          <p:nvSpPr>
            <p:cNvPr name="Freeform 21" id="21"/>
            <p:cNvSpPr/>
            <p:nvPr/>
          </p:nvSpPr>
          <p:spPr>
            <a:xfrm flipH="false" flipV="false" rot="0">
              <a:off x="0" y="0"/>
              <a:ext cx="11006709" cy="107061"/>
            </a:xfrm>
            <a:custGeom>
              <a:avLst/>
              <a:gdLst/>
              <a:ahLst/>
              <a:cxnLst/>
              <a:rect r="r" b="b" t="t" l="l"/>
              <a:pathLst>
                <a:path h="107061" w="11006709">
                  <a:moveTo>
                    <a:pt x="0" y="0"/>
                  </a:moveTo>
                  <a:lnTo>
                    <a:pt x="11006709" y="0"/>
                  </a:lnTo>
                  <a:lnTo>
                    <a:pt x="11006709" y="107061"/>
                  </a:lnTo>
                  <a:lnTo>
                    <a:pt x="0" y="107061"/>
                  </a:lnTo>
                  <a:close/>
                </a:path>
              </a:pathLst>
            </a:custGeom>
            <a:solidFill>
              <a:srgbClr val="64748B"/>
            </a:solidFill>
            <a:ln w="25400" cap="sq">
              <a:solidFill>
                <a:srgbClr val="64748B"/>
              </a:solidFill>
              <a:prstDash val="solid"/>
              <a:miter/>
            </a:ln>
          </p:spPr>
        </p:sp>
      </p:grpSp>
      <p:grpSp>
        <p:nvGrpSpPr>
          <p:cNvPr name="Group 22" id="22"/>
          <p:cNvGrpSpPr/>
          <p:nvPr/>
        </p:nvGrpSpPr>
        <p:grpSpPr>
          <a:xfrm rot="0">
            <a:off x="822960" y="6729984"/>
            <a:ext cx="2834640" cy="548640"/>
            <a:chOff x="0" y="0"/>
            <a:chExt cx="3779520" cy="731520"/>
          </a:xfrm>
        </p:grpSpPr>
        <p:sp>
          <p:nvSpPr>
            <p:cNvPr name="Freeform 23" id="23"/>
            <p:cNvSpPr/>
            <p:nvPr/>
          </p:nvSpPr>
          <p:spPr>
            <a:xfrm flipH="false" flipV="false" rot="0">
              <a:off x="0" y="0"/>
              <a:ext cx="3779520" cy="731520"/>
            </a:xfrm>
            <a:custGeom>
              <a:avLst/>
              <a:gdLst/>
              <a:ahLst/>
              <a:cxnLst/>
              <a:rect r="r" b="b" t="t" l="l"/>
              <a:pathLst>
                <a:path h="731520" w="3779520">
                  <a:moveTo>
                    <a:pt x="0" y="0"/>
                  </a:moveTo>
                  <a:lnTo>
                    <a:pt x="3779520" y="0"/>
                  </a:lnTo>
                  <a:lnTo>
                    <a:pt x="3779520" y="731520"/>
                  </a:lnTo>
                  <a:lnTo>
                    <a:pt x="0" y="731520"/>
                  </a:lnTo>
                  <a:close/>
                </a:path>
              </a:pathLst>
            </a:custGeom>
            <a:blipFill>
              <a:blip r:embed="rId3">
                <a:alphaModFix amt="0"/>
              </a:blip>
              <a:stretch>
                <a:fillRect l="0" t="-50672" r="0" b="-50672"/>
              </a:stretch>
            </a:blipFill>
          </p:spPr>
        </p:sp>
        <p:sp>
          <p:nvSpPr>
            <p:cNvPr name="TextBox 24" id="24"/>
            <p:cNvSpPr txBox="true"/>
            <p:nvPr/>
          </p:nvSpPr>
          <p:spPr>
            <a:xfrm>
              <a:off x="0" y="-9525"/>
              <a:ext cx="3779520" cy="741045"/>
            </a:xfrm>
            <a:prstGeom prst="rect">
              <a:avLst/>
            </a:prstGeom>
          </p:spPr>
          <p:txBody>
            <a:bodyPr anchor="ctr" rtlCol="false" tIns="0" lIns="0" bIns="0" rIns="0"/>
            <a:lstStyle/>
            <a:p>
              <a:pPr algn="l">
                <a:lnSpc>
                  <a:spcPts val="2400"/>
                </a:lnSpc>
              </a:pPr>
              <a:r>
                <a:rPr lang="en-US" sz="2000" b="true">
                  <a:solidFill>
                    <a:srgbClr val="0D9488"/>
                  </a:solidFill>
                  <a:latin typeface="Proxima Nova Bold"/>
                  <a:ea typeface="Proxima Nova Bold"/>
                  <a:cs typeface="Proxima Nova Bold"/>
                  <a:sym typeface="Proxima Nova Bold"/>
                </a:rPr>
                <a:t>Prepared By:</a:t>
              </a:r>
            </a:p>
          </p:txBody>
        </p:sp>
      </p:grpSp>
      <p:grpSp>
        <p:nvGrpSpPr>
          <p:cNvPr name="Group 25" id="25"/>
          <p:cNvGrpSpPr/>
          <p:nvPr/>
        </p:nvGrpSpPr>
        <p:grpSpPr>
          <a:xfrm rot="0">
            <a:off x="3657600" y="6729984"/>
            <a:ext cx="12801600" cy="548640"/>
            <a:chOff x="0" y="0"/>
            <a:chExt cx="17068800" cy="731520"/>
          </a:xfrm>
        </p:grpSpPr>
        <p:sp>
          <p:nvSpPr>
            <p:cNvPr name="Freeform 26" id="26"/>
            <p:cNvSpPr/>
            <p:nvPr/>
          </p:nvSpPr>
          <p:spPr>
            <a:xfrm flipH="false" flipV="false" rot="0">
              <a:off x="0" y="0"/>
              <a:ext cx="17068800" cy="731520"/>
            </a:xfrm>
            <a:custGeom>
              <a:avLst/>
              <a:gdLst/>
              <a:ahLst/>
              <a:cxnLst/>
              <a:rect r="r" b="b" t="t" l="l"/>
              <a:pathLst>
                <a:path h="731520" w="17068800">
                  <a:moveTo>
                    <a:pt x="0" y="0"/>
                  </a:moveTo>
                  <a:lnTo>
                    <a:pt x="17068800" y="0"/>
                  </a:lnTo>
                  <a:lnTo>
                    <a:pt x="17068800" y="731520"/>
                  </a:lnTo>
                  <a:lnTo>
                    <a:pt x="0" y="731520"/>
                  </a:lnTo>
                  <a:close/>
                </a:path>
              </a:pathLst>
            </a:custGeom>
            <a:blipFill>
              <a:blip r:embed="rId3">
                <a:alphaModFix amt="0"/>
              </a:blip>
              <a:stretch>
                <a:fillRect l="0" t="-404650" r="0" b="-404650"/>
              </a:stretch>
            </a:blipFill>
          </p:spPr>
        </p:sp>
        <p:sp>
          <p:nvSpPr>
            <p:cNvPr name="TextBox 27" id="27"/>
            <p:cNvSpPr txBox="true"/>
            <p:nvPr/>
          </p:nvSpPr>
          <p:spPr>
            <a:xfrm>
              <a:off x="0" y="-9525"/>
              <a:ext cx="17068800" cy="741045"/>
            </a:xfrm>
            <a:prstGeom prst="rect">
              <a:avLst/>
            </a:prstGeom>
          </p:spPr>
          <p:txBody>
            <a:bodyPr anchor="ctr" rtlCol="false" tIns="0" lIns="0" bIns="0" rIns="0"/>
            <a:lstStyle/>
            <a:p>
              <a:pPr algn="l">
                <a:lnSpc>
                  <a:spcPts val="2400"/>
                </a:lnSpc>
              </a:pPr>
              <a:r>
                <a:rPr lang="en-US" sz="2000">
                  <a:solidFill>
                    <a:srgbClr val="CBD5E1"/>
                  </a:solidFill>
                  <a:latin typeface="Proxima Nova"/>
                  <a:ea typeface="Proxima Nova"/>
                  <a:cs typeface="Proxima Nova"/>
                  <a:sym typeface="Proxima Nova"/>
                </a:rPr>
                <a:t>Hemant Singh Rajput</a:t>
              </a:r>
            </a:p>
          </p:txBody>
        </p:sp>
      </p:grpSp>
      <p:grpSp>
        <p:nvGrpSpPr>
          <p:cNvPr name="Group 28" id="28"/>
          <p:cNvGrpSpPr/>
          <p:nvPr/>
        </p:nvGrpSpPr>
        <p:grpSpPr>
          <a:xfrm rot="0">
            <a:off x="822960" y="7388352"/>
            <a:ext cx="2834640" cy="548640"/>
            <a:chOff x="0" y="0"/>
            <a:chExt cx="3779520" cy="731520"/>
          </a:xfrm>
        </p:grpSpPr>
        <p:sp>
          <p:nvSpPr>
            <p:cNvPr name="Freeform 29" id="29"/>
            <p:cNvSpPr/>
            <p:nvPr/>
          </p:nvSpPr>
          <p:spPr>
            <a:xfrm flipH="false" flipV="false" rot="0">
              <a:off x="0" y="0"/>
              <a:ext cx="3779520" cy="731520"/>
            </a:xfrm>
            <a:custGeom>
              <a:avLst/>
              <a:gdLst/>
              <a:ahLst/>
              <a:cxnLst/>
              <a:rect r="r" b="b" t="t" l="l"/>
              <a:pathLst>
                <a:path h="731520" w="3779520">
                  <a:moveTo>
                    <a:pt x="0" y="0"/>
                  </a:moveTo>
                  <a:lnTo>
                    <a:pt x="3779520" y="0"/>
                  </a:lnTo>
                  <a:lnTo>
                    <a:pt x="3779520" y="731520"/>
                  </a:lnTo>
                  <a:lnTo>
                    <a:pt x="0" y="731520"/>
                  </a:lnTo>
                  <a:close/>
                </a:path>
              </a:pathLst>
            </a:custGeom>
            <a:blipFill>
              <a:blip r:embed="rId3">
                <a:alphaModFix amt="0"/>
              </a:blip>
              <a:stretch>
                <a:fillRect l="0" t="-50672" r="0" b="-50672"/>
              </a:stretch>
            </a:blipFill>
          </p:spPr>
        </p:sp>
        <p:sp>
          <p:nvSpPr>
            <p:cNvPr name="TextBox 30" id="30"/>
            <p:cNvSpPr txBox="true"/>
            <p:nvPr/>
          </p:nvSpPr>
          <p:spPr>
            <a:xfrm>
              <a:off x="0" y="-9525"/>
              <a:ext cx="3779520" cy="741045"/>
            </a:xfrm>
            <a:prstGeom prst="rect">
              <a:avLst/>
            </a:prstGeom>
          </p:spPr>
          <p:txBody>
            <a:bodyPr anchor="ctr" rtlCol="false" tIns="0" lIns="0" bIns="0" rIns="0"/>
            <a:lstStyle/>
            <a:p>
              <a:pPr algn="l">
                <a:lnSpc>
                  <a:spcPts val="2400"/>
                </a:lnSpc>
              </a:pPr>
              <a:r>
                <a:rPr lang="en-US" sz="2000" b="true">
                  <a:solidFill>
                    <a:srgbClr val="0D9488"/>
                  </a:solidFill>
                  <a:latin typeface="Proxima Nova Bold"/>
                  <a:ea typeface="Proxima Nova Bold"/>
                  <a:cs typeface="Proxima Nova Bold"/>
                  <a:sym typeface="Proxima Nova Bold"/>
                </a:rPr>
                <a:t>Technologies:</a:t>
              </a:r>
            </a:p>
          </p:txBody>
        </p:sp>
      </p:grpSp>
      <p:grpSp>
        <p:nvGrpSpPr>
          <p:cNvPr name="Group 31" id="31"/>
          <p:cNvGrpSpPr/>
          <p:nvPr/>
        </p:nvGrpSpPr>
        <p:grpSpPr>
          <a:xfrm rot="0">
            <a:off x="3657600" y="7388352"/>
            <a:ext cx="12801600" cy="548640"/>
            <a:chOff x="0" y="0"/>
            <a:chExt cx="17068800" cy="731520"/>
          </a:xfrm>
        </p:grpSpPr>
        <p:sp>
          <p:nvSpPr>
            <p:cNvPr name="Freeform 32" id="32"/>
            <p:cNvSpPr/>
            <p:nvPr/>
          </p:nvSpPr>
          <p:spPr>
            <a:xfrm flipH="false" flipV="false" rot="0">
              <a:off x="0" y="0"/>
              <a:ext cx="17068800" cy="731520"/>
            </a:xfrm>
            <a:custGeom>
              <a:avLst/>
              <a:gdLst/>
              <a:ahLst/>
              <a:cxnLst/>
              <a:rect r="r" b="b" t="t" l="l"/>
              <a:pathLst>
                <a:path h="731520" w="17068800">
                  <a:moveTo>
                    <a:pt x="0" y="0"/>
                  </a:moveTo>
                  <a:lnTo>
                    <a:pt x="17068800" y="0"/>
                  </a:lnTo>
                  <a:lnTo>
                    <a:pt x="17068800" y="731520"/>
                  </a:lnTo>
                  <a:lnTo>
                    <a:pt x="0" y="731520"/>
                  </a:lnTo>
                  <a:close/>
                </a:path>
              </a:pathLst>
            </a:custGeom>
            <a:blipFill>
              <a:blip r:embed="rId3">
                <a:alphaModFix amt="0"/>
              </a:blip>
              <a:stretch>
                <a:fillRect l="0" t="-404650" r="0" b="-404650"/>
              </a:stretch>
            </a:blipFill>
          </p:spPr>
        </p:sp>
        <p:sp>
          <p:nvSpPr>
            <p:cNvPr name="TextBox 33" id="33"/>
            <p:cNvSpPr txBox="true"/>
            <p:nvPr/>
          </p:nvSpPr>
          <p:spPr>
            <a:xfrm>
              <a:off x="0" y="-9525"/>
              <a:ext cx="17068800" cy="741045"/>
            </a:xfrm>
            <a:prstGeom prst="rect">
              <a:avLst/>
            </a:prstGeom>
          </p:spPr>
          <p:txBody>
            <a:bodyPr anchor="ctr" rtlCol="false" tIns="0" lIns="0" bIns="0" rIns="0"/>
            <a:lstStyle/>
            <a:p>
              <a:pPr algn="l">
                <a:lnSpc>
                  <a:spcPts val="2400"/>
                </a:lnSpc>
              </a:pPr>
              <a:r>
                <a:rPr lang="en-US" sz="2000">
                  <a:solidFill>
                    <a:srgbClr val="CBD5E1"/>
                  </a:solidFill>
                  <a:latin typeface="Proxima Nova"/>
                  <a:ea typeface="Proxima Nova"/>
                  <a:cs typeface="Proxima Nova"/>
                  <a:sym typeface="Proxima Nova"/>
                </a:rPr>
                <a:t>Python · Pandas · SQLite · SQL · Power BI · Plotly</a:t>
              </a:r>
            </a:p>
          </p:txBody>
        </p:sp>
      </p:grpSp>
      <p:grpSp>
        <p:nvGrpSpPr>
          <p:cNvPr name="Group 34" id="34"/>
          <p:cNvGrpSpPr/>
          <p:nvPr/>
        </p:nvGrpSpPr>
        <p:grpSpPr>
          <a:xfrm rot="0">
            <a:off x="822960" y="8046720"/>
            <a:ext cx="2834640" cy="548640"/>
            <a:chOff x="0" y="0"/>
            <a:chExt cx="3779520" cy="731520"/>
          </a:xfrm>
        </p:grpSpPr>
        <p:sp>
          <p:nvSpPr>
            <p:cNvPr name="Freeform 35" id="35"/>
            <p:cNvSpPr/>
            <p:nvPr/>
          </p:nvSpPr>
          <p:spPr>
            <a:xfrm flipH="false" flipV="false" rot="0">
              <a:off x="0" y="0"/>
              <a:ext cx="3779520" cy="731520"/>
            </a:xfrm>
            <a:custGeom>
              <a:avLst/>
              <a:gdLst/>
              <a:ahLst/>
              <a:cxnLst/>
              <a:rect r="r" b="b" t="t" l="l"/>
              <a:pathLst>
                <a:path h="731520" w="3779520">
                  <a:moveTo>
                    <a:pt x="0" y="0"/>
                  </a:moveTo>
                  <a:lnTo>
                    <a:pt x="3779520" y="0"/>
                  </a:lnTo>
                  <a:lnTo>
                    <a:pt x="3779520" y="731520"/>
                  </a:lnTo>
                  <a:lnTo>
                    <a:pt x="0" y="731520"/>
                  </a:lnTo>
                  <a:close/>
                </a:path>
              </a:pathLst>
            </a:custGeom>
            <a:blipFill>
              <a:blip r:embed="rId3">
                <a:alphaModFix amt="0"/>
              </a:blip>
              <a:stretch>
                <a:fillRect l="0" t="-50672" r="0" b="-50672"/>
              </a:stretch>
            </a:blipFill>
          </p:spPr>
        </p:sp>
        <p:sp>
          <p:nvSpPr>
            <p:cNvPr name="TextBox 36" id="36"/>
            <p:cNvSpPr txBox="true"/>
            <p:nvPr/>
          </p:nvSpPr>
          <p:spPr>
            <a:xfrm>
              <a:off x="0" y="-9525"/>
              <a:ext cx="3779520" cy="741045"/>
            </a:xfrm>
            <a:prstGeom prst="rect">
              <a:avLst/>
            </a:prstGeom>
          </p:spPr>
          <p:txBody>
            <a:bodyPr anchor="ctr" rtlCol="false" tIns="0" lIns="0" bIns="0" rIns="0"/>
            <a:lstStyle/>
            <a:p>
              <a:pPr algn="l">
                <a:lnSpc>
                  <a:spcPts val="2400"/>
                </a:lnSpc>
              </a:pPr>
              <a:r>
                <a:rPr lang="en-US" sz="2000" b="true">
                  <a:solidFill>
                    <a:srgbClr val="0D9488"/>
                  </a:solidFill>
                  <a:latin typeface="Proxima Nova Bold"/>
                  <a:ea typeface="Proxima Nova Bold"/>
                  <a:cs typeface="Proxima Nova Bold"/>
                  <a:sym typeface="Proxima Nova Bold"/>
                </a:rPr>
                <a:t>Date:</a:t>
              </a:r>
            </a:p>
          </p:txBody>
        </p:sp>
      </p:grpSp>
      <p:grpSp>
        <p:nvGrpSpPr>
          <p:cNvPr name="Group 37" id="37"/>
          <p:cNvGrpSpPr/>
          <p:nvPr/>
        </p:nvGrpSpPr>
        <p:grpSpPr>
          <a:xfrm rot="0">
            <a:off x="3657600" y="8046720"/>
            <a:ext cx="12801600" cy="548640"/>
            <a:chOff x="0" y="0"/>
            <a:chExt cx="17068800" cy="731520"/>
          </a:xfrm>
        </p:grpSpPr>
        <p:sp>
          <p:nvSpPr>
            <p:cNvPr name="Freeform 38" id="38"/>
            <p:cNvSpPr/>
            <p:nvPr/>
          </p:nvSpPr>
          <p:spPr>
            <a:xfrm flipH="false" flipV="false" rot="0">
              <a:off x="0" y="0"/>
              <a:ext cx="17068800" cy="731520"/>
            </a:xfrm>
            <a:custGeom>
              <a:avLst/>
              <a:gdLst/>
              <a:ahLst/>
              <a:cxnLst/>
              <a:rect r="r" b="b" t="t" l="l"/>
              <a:pathLst>
                <a:path h="731520" w="17068800">
                  <a:moveTo>
                    <a:pt x="0" y="0"/>
                  </a:moveTo>
                  <a:lnTo>
                    <a:pt x="17068800" y="0"/>
                  </a:lnTo>
                  <a:lnTo>
                    <a:pt x="17068800" y="731520"/>
                  </a:lnTo>
                  <a:lnTo>
                    <a:pt x="0" y="731520"/>
                  </a:lnTo>
                  <a:close/>
                </a:path>
              </a:pathLst>
            </a:custGeom>
            <a:blipFill>
              <a:blip r:embed="rId3">
                <a:alphaModFix amt="0"/>
              </a:blip>
              <a:stretch>
                <a:fillRect l="0" t="-404650" r="0" b="-404650"/>
              </a:stretch>
            </a:blipFill>
          </p:spPr>
        </p:sp>
        <p:sp>
          <p:nvSpPr>
            <p:cNvPr name="TextBox 39" id="39"/>
            <p:cNvSpPr txBox="true"/>
            <p:nvPr/>
          </p:nvSpPr>
          <p:spPr>
            <a:xfrm>
              <a:off x="0" y="-9525"/>
              <a:ext cx="17068800" cy="741045"/>
            </a:xfrm>
            <a:prstGeom prst="rect">
              <a:avLst/>
            </a:prstGeom>
          </p:spPr>
          <p:txBody>
            <a:bodyPr anchor="ctr" rtlCol="false" tIns="0" lIns="0" bIns="0" rIns="0"/>
            <a:lstStyle/>
            <a:p>
              <a:pPr algn="l">
                <a:lnSpc>
                  <a:spcPts val="2400"/>
                </a:lnSpc>
              </a:pPr>
              <a:r>
                <a:rPr lang="en-US" sz="2000">
                  <a:solidFill>
                    <a:srgbClr val="CBD5E1"/>
                  </a:solidFill>
                  <a:latin typeface="Proxima Nova"/>
                  <a:ea typeface="Proxima Nova"/>
                  <a:cs typeface="Proxima Nova"/>
                  <a:sym typeface="Proxima Nova"/>
                </a:rPr>
                <a:t>12 June 2026</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945643"/>
            <a:chOff x="0" y="0"/>
            <a:chExt cx="24417871" cy="2594191"/>
          </a:xfrm>
        </p:grpSpPr>
        <p:sp>
          <p:nvSpPr>
            <p:cNvPr name="Freeform 3" id="3"/>
            <p:cNvSpPr/>
            <p:nvPr/>
          </p:nvSpPr>
          <p:spPr>
            <a:xfrm flipH="false" flipV="false" rot="0">
              <a:off x="0" y="0"/>
              <a:ext cx="24417910" cy="2594229"/>
            </a:xfrm>
            <a:custGeom>
              <a:avLst/>
              <a:gdLst/>
              <a:ahLst/>
              <a:cxnLst/>
              <a:rect r="r" b="b" t="t" l="l"/>
              <a:pathLst>
                <a:path h="2594229" w="24417910">
                  <a:moveTo>
                    <a:pt x="0" y="0"/>
                  </a:moveTo>
                  <a:lnTo>
                    <a:pt x="24417910" y="0"/>
                  </a:lnTo>
                  <a:lnTo>
                    <a:pt x="24417910" y="2594229"/>
                  </a:lnTo>
                  <a:lnTo>
                    <a:pt x="0" y="2594229"/>
                  </a:lnTo>
                  <a:close/>
                </a:path>
              </a:pathLst>
            </a:custGeom>
            <a:solidFill>
              <a:srgbClr val="0D1B2A"/>
            </a:solidFill>
            <a:ln w="25400" cap="sq">
              <a:solidFill>
                <a:srgbClr val="0D1B2A"/>
              </a:solidFill>
              <a:prstDash val="solid"/>
              <a:miter/>
            </a:ln>
          </p:spPr>
        </p:sp>
      </p:grpSp>
      <p:grpSp>
        <p:nvGrpSpPr>
          <p:cNvPr name="Group 4" id="4"/>
          <p:cNvGrpSpPr/>
          <p:nvPr/>
        </p:nvGrpSpPr>
        <p:grpSpPr>
          <a:xfrm rot="0">
            <a:off x="-12697" y="1907543"/>
            <a:ext cx="18313403" cy="153419"/>
            <a:chOff x="0" y="0"/>
            <a:chExt cx="24417871" cy="204559"/>
          </a:xfrm>
        </p:grpSpPr>
        <p:sp>
          <p:nvSpPr>
            <p:cNvPr name="Freeform 5" id="5"/>
            <p:cNvSpPr/>
            <p:nvPr/>
          </p:nvSpPr>
          <p:spPr>
            <a:xfrm flipH="false" flipV="false" rot="0">
              <a:off x="0" y="0"/>
              <a:ext cx="24417910" cy="204597"/>
            </a:xfrm>
            <a:custGeom>
              <a:avLst/>
              <a:gdLst/>
              <a:ahLst/>
              <a:cxnLst/>
              <a:rect r="r" b="b" t="t" l="l"/>
              <a:pathLst>
                <a:path h="204597" w="24417910">
                  <a:moveTo>
                    <a:pt x="0" y="0"/>
                  </a:moveTo>
                  <a:lnTo>
                    <a:pt x="24417910" y="0"/>
                  </a:lnTo>
                  <a:lnTo>
                    <a:pt x="24417910" y="204597"/>
                  </a:lnTo>
                  <a:lnTo>
                    <a:pt x="0" y="204597"/>
                  </a:lnTo>
                  <a:close/>
                </a:path>
              </a:pathLst>
            </a:custGeom>
            <a:solidFill>
              <a:srgbClr val="0D9488"/>
            </a:solidFill>
            <a:ln w="25400" cap="sq">
              <a:solidFill>
                <a:srgbClr val="0D9488"/>
              </a:solidFill>
              <a:prstDash val="solid"/>
              <a:miter/>
            </a:ln>
          </p:spPr>
        </p:sp>
      </p:grpSp>
      <p:grpSp>
        <p:nvGrpSpPr>
          <p:cNvPr name="Group 6" id="6"/>
          <p:cNvGrpSpPr/>
          <p:nvPr/>
        </p:nvGrpSpPr>
        <p:grpSpPr>
          <a:xfrm rot="0">
            <a:off x="822960" y="-935216"/>
            <a:ext cx="16642080" cy="3815581"/>
            <a:chOff x="0" y="0"/>
            <a:chExt cx="22189440" cy="5087441"/>
          </a:xfrm>
        </p:grpSpPr>
        <p:sp>
          <p:nvSpPr>
            <p:cNvPr name="Freeform 7" id="7"/>
            <p:cNvSpPr/>
            <p:nvPr/>
          </p:nvSpPr>
          <p:spPr>
            <a:xfrm flipH="false" flipV="false" rot="0">
              <a:off x="0" y="0"/>
              <a:ext cx="22189439" cy="5087441"/>
            </a:xfrm>
            <a:custGeom>
              <a:avLst/>
              <a:gdLst/>
              <a:ahLst/>
              <a:cxnLst/>
              <a:rect r="r" b="b" t="t" l="l"/>
              <a:pathLst>
                <a:path h="5087441" w="22189439">
                  <a:moveTo>
                    <a:pt x="0" y="0"/>
                  </a:moveTo>
                  <a:lnTo>
                    <a:pt x="22189439" y="0"/>
                  </a:lnTo>
                  <a:lnTo>
                    <a:pt x="22189439" y="5087441"/>
                  </a:lnTo>
                  <a:lnTo>
                    <a:pt x="0" y="5087441"/>
                  </a:lnTo>
                  <a:close/>
                </a:path>
              </a:pathLst>
            </a:custGeom>
            <a:blipFill>
              <a:blip r:embed="rId3">
                <a:alphaModFix amt="0"/>
              </a:blip>
              <a:stretch>
                <a:fillRect l="0" t="-70607" r="0" b="634"/>
              </a:stretch>
            </a:blipFill>
          </p:spPr>
        </p:sp>
        <p:sp>
          <p:nvSpPr>
            <p:cNvPr name="TextBox 8" id="8"/>
            <p:cNvSpPr txBox="true"/>
            <p:nvPr/>
          </p:nvSpPr>
          <p:spPr>
            <a:xfrm>
              <a:off x="0" y="9525"/>
              <a:ext cx="22189440" cy="5077916"/>
            </a:xfrm>
            <a:prstGeom prst="rect">
              <a:avLst/>
            </a:prstGeom>
          </p:spPr>
          <p:txBody>
            <a:bodyPr anchor="ctr" rtlCol="false" tIns="0" lIns="0" bIns="0" rIns="0"/>
            <a:lstStyle/>
            <a:p>
              <a:pPr algn="ctr">
                <a:lnSpc>
                  <a:spcPts val="6240"/>
                </a:lnSpc>
              </a:pPr>
              <a:r>
                <a:rPr lang="en-US" b="true" sz="5200">
                  <a:solidFill>
                    <a:srgbClr val="FFFFFF"/>
                  </a:solidFill>
                  <a:latin typeface="Montserrat Bold"/>
                  <a:ea typeface="Montserrat Bold"/>
                  <a:cs typeface="Montserrat Bold"/>
                  <a:sym typeface="Montserrat Bold"/>
                </a:rPr>
                <a:t>PROBLEM STATEMENT &amp; OBJECTIVES</a:t>
              </a:r>
            </a:p>
          </p:txBody>
        </p:sp>
      </p:grpSp>
      <p:grpSp>
        <p:nvGrpSpPr>
          <p:cNvPr name="Group 9" id="9"/>
          <p:cNvGrpSpPr/>
          <p:nvPr/>
        </p:nvGrpSpPr>
        <p:grpSpPr>
          <a:xfrm rot="0">
            <a:off x="627383" y="2364743"/>
            <a:ext cx="7889243" cy="7157723"/>
            <a:chOff x="0" y="0"/>
            <a:chExt cx="10518991" cy="9543631"/>
          </a:xfrm>
        </p:grpSpPr>
        <p:sp>
          <p:nvSpPr>
            <p:cNvPr name="Freeform 10" id="10"/>
            <p:cNvSpPr/>
            <p:nvPr/>
          </p:nvSpPr>
          <p:spPr>
            <a:xfrm flipH="false" flipV="false" rot="0">
              <a:off x="0" y="0"/>
              <a:ext cx="10518902" cy="9543542"/>
            </a:xfrm>
            <a:custGeom>
              <a:avLst/>
              <a:gdLst/>
              <a:ahLst/>
              <a:cxnLst/>
              <a:rect r="r" b="b" t="t" l="l"/>
              <a:pathLst>
                <a:path h="9543542" w="10518902">
                  <a:moveTo>
                    <a:pt x="0" y="293624"/>
                  </a:moveTo>
                  <a:cubicBezTo>
                    <a:pt x="0" y="131445"/>
                    <a:pt x="131445" y="0"/>
                    <a:pt x="293624" y="0"/>
                  </a:cubicBezTo>
                  <a:lnTo>
                    <a:pt x="10225278" y="0"/>
                  </a:lnTo>
                  <a:cubicBezTo>
                    <a:pt x="10387457" y="0"/>
                    <a:pt x="10518902" y="131445"/>
                    <a:pt x="10518902" y="293624"/>
                  </a:cubicBezTo>
                  <a:lnTo>
                    <a:pt x="10518902" y="9249918"/>
                  </a:lnTo>
                  <a:cubicBezTo>
                    <a:pt x="10518902" y="9412098"/>
                    <a:pt x="10387457" y="9543542"/>
                    <a:pt x="10225278" y="9543542"/>
                  </a:cubicBezTo>
                  <a:lnTo>
                    <a:pt x="293624" y="9543542"/>
                  </a:lnTo>
                  <a:cubicBezTo>
                    <a:pt x="131445" y="9543669"/>
                    <a:pt x="0" y="9412097"/>
                    <a:pt x="0" y="9249918"/>
                  </a:cubicBezTo>
                  <a:lnTo>
                    <a:pt x="0" y="293624"/>
                  </a:lnTo>
                  <a:close/>
                </a:path>
              </a:pathLst>
            </a:custGeom>
            <a:solidFill>
              <a:srgbClr val="FFFFFF"/>
            </a:solidFill>
            <a:ln w="25400" cap="rnd">
              <a:solidFill>
                <a:srgbClr val="CBD5E1"/>
              </a:solidFill>
              <a:prstDash val="solid"/>
              <a:round/>
            </a:ln>
          </p:spPr>
        </p:sp>
      </p:grpSp>
      <p:grpSp>
        <p:nvGrpSpPr>
          <p:cNvPr name="Group 11" id="11"/>
          <p:cNvGrpSpPr/>
          <p:nvPr/>
        </p:nvGrpSpPr>
        <p:grpSpPr>
          <a:xfrm rot="0">
            <a:off x="627383" y="2364743"/>
            <a:ext cx="7889243" cy="1031243"/>
            <a:chOff x="0" y="0"/>
            <a:chExt cx="10518991" cy="1374991"/>
          </a:xfrm>
        </p:grpSpPr>
        <p:sp>
          <p:nvSpPr>
            <p:cNvPr name="Freeform 12" id="12"/>
            <p:cNvSpPr/>
            <p:nvPr/>
          </p:nvSpPr>
          <p:spPr>
            <a:xfrm flipH="false" flipV="false" rot="0">
              <a:off x="0" y="0"/>
              <a:ext cx="10519029" cy="1375029"/>
            </a:xfrm>
            <a:custGeom>
              <a:avLst/>
              <a:gdLst/>
              <a:ahLst/>
              <a:cxnLst/>
              <a:rect r="r" b="b" t="t" l="l"/>
              <a:pathLst>
                <a:path h="1375029" w="10519029">
                  <a:moveTo>
                    <a:pt x="0" y="0"/>
                  </a:moveTo>
                  <a:lnTo>
                    <a:pt x="10519029" y="0"/>
                  </a:lnTo>
                  <a:lnTo>
                    <a:pt x="10519029" y="1375029"/>
                  </a:lnTo>
                  <a:lnTo>
                    <a:pt x="0" y="1375029"/>
                  </a:lnTo>
                  <a:close/>
                </a:path>
              </a:pathLst>
            </a:custGeom>
            <a:solidFill>
              <a:srgbClr val="0D9488"/>
            </a:solidFill>
            <a:ln w="25400" cap="sq">
              <a:solidFill>
                <a:srgbClr val="0D9488"/>
              </a:solidFill>
              <a:prstDash val="solid"/>
              <a:miter/>
            </a:ln>
          </p:spPr>
        </p:sp>
      </p:grpSp>
      <p:grpSp>
        <p:nvGrpSpPr>
          <p:cNvPr name="Group 13" id="13"/>
          <p:cNvGrpSpPr/>
          <p:nvPr/>
        </p:nvGrpSpPr>
        <p:grpSpPr>
          <a:xfrm rot="0">
            <a:off x="914400" y="2468880"/>
            <a:ext cx="7315200" cy="822960"/>
            <a:chOff x="0" y="0"/>
            <a:chExt cx="9753600" cy="1097280"/>
          </a:xfrm>
        </p:grpSpPr>
        <p:sp>
          <p:nvSpPr>
            <p:cNvPr name="Freeform 14" id="14"/>
            <p:cNvSpPr/>
            <p:nvPr/>
          </p:nvSpPr>
          <p:spPr>
            <a:xfrm flipH="false" flipV="false" rot="0">
              <a:off x="0" y="0"/>
              <a:ext cx="9753600" cy="1097280"/>
            </a:xfrm>
            <a:custGeom>
              <a:avLst/>
              <a:gdLst/>
              <a:ahLst/>
              <a:cxnLst/>
              <a:rect r="r" b="b" t="t" l="l"/>
              <a:pathLst>
                <a:path h="1097280" w="9753600">
                  <a:moveTo>
                    <a:pt x="0" y="0"/>
                  </a:moveTo>
                  <a:lnTo>
                    <a:pt x="9753600" y="0"/>
                  </a:lnTo>
                  <a:lnTo>
                    <a:pt x="9753600" y="1097280"/>
                  </a:lnTo>
                  <a:lnTo>
                    <a:pt x="0" y="1097280"/>
                  </a:lnTo>
                  <a:close/>
                </a:path>
              </a:pathLst>
            </a:custGeom>
            <a:blipFill>
              <a:blip r:embed="rId3">
                <a:alphaModFix amt="0"/>
              </a:blip>
              <a:stretch>
                <a:fillRect l="0" t="-123200" r="0" b="-123200"/>
              </a:stretch>
            </a:blipFill>
          </p:spPr>
        </p:sp>
        <p:sp>
          <p:nvSpPr>
            <p:cNvPr name="TextBox 15" id="15"/>
            <p:cNvSpPr txBox="true"/>
            <p:nvPr/>
          </p:nvSpPr>
          <p:spPr>
            <a:xfrm>
              <a:off x="0" y="-9525"/>
              <a:ext cx="9753600" cy="1106805"/>
            </a:xfrm>
            <a:prstGeom prst="rect">
              <a:avLst/>
            </a:prstGeom>
          </p:spPr>
          <p:txBody>
            <a:bodyPr anchor="ctr" rtlCol="false" tIns="0" lIns="0" bIns="0" rIns="0"/>
            <a:lstStyle/>
            <a:p>
              <a:pPr algn="ctr">
                <a:lnSpc>
                  <a:spcPts val="3600"/>
                </a:lnSpc>
              </a:pPr>
              <a:r>
                <a:rPr lang="en-US" b="true" sz="3000">
                  <a:solidFill>
                    <a:srgbClr val="FFFFFF"/>
                  </a:solidFill>
                  <a:latin typeface="Proxima Nova Bold"/>
                  <a:ea typeface="Proxima Nova Bold"/>
                  <a:cs typeface="Proxima Nova Bold"/>
                  <a:sym typeface="Proxima Nova Bold"/>
                </a:rPr>
                <a:t>PROBLEM STATEMENT</a:t>
              </a:r>
            </a:p>
          </p:txBody>
        </p:sp>
      </p:grpSp>
      <p:sp>
        <p:nvSpPr>
          <p:cNvPr name="TextBox 16" id="16"/>
          <p:cNvSpPr txBox="true"/>
          <p:nvPr/>
        </p:nvSpPr>
        <p:spPr>
          <a:xfrm rot="0">
            <a:off x="914400" y="3805561"/>
            <a:ext cx="7315200" cy="3260725"/>
          </a:xfrm>
          <a:prstGeom prst="rect">
            <a:avLst/>
          </a:prstGeom>
        </p:spPr>
        <p:txBody>
          <a:bodyPr anchor="t" rtlCol="false" tIns="0" lIns="0" bIns="0" rIns="0">
            <a:spAutoFit/>
          </a:bodyPr>
          <a:lstStyle/>
          <a:p>
            <a:pPr algn="l">
              <a:lnSpc>
                <a:spcPts val="4399"/>
              </a:lnSpc>
            </a:pPr>
            <a:r>
              <a:rPr lang="en-US" sz="2499">
                <a:solidFill>
                  <a:srgbClr val="1E293B"/>
                </a:solidFill>
                <a:latin typeface="Proxima Nova"/>
                <a:ea typeface="Proxima Nova"/>
                <a:cs typeface="Proxima Nova"/>
                <a:sym typeface="Proxima Nova"/>
              </a:rPr>
              <a:t>The mutual fund industry generates large volumes of data related to fund performance, investor transactions, SIP trends, portfolio allocations, and market benchmarks. Extracting meaningful insights from this data requires an integrated analytics solution.</a:t>
            </a:r>
          </a:p>
        </p:txBody>
      </p:sp>
      <p:grpSp>
        <p:nvGrpSpPr>
          <p:cNvPr name="Group 17" id="17"/>
          <p:cNvGrpSpPr/>
          <p:nvPr/>
        </p:nvGrpSpPr>
        <p:grpSpPr>
          <a:xfrm rot="0">
            <a:off x="9497063" y="2364743"/>
            <a:ext cx="8163563" cy="7157723"/>
            <a:chOff x="0" y="0"/>
            <a:chExt cx="10884751" cy="9543631"/>
          </a:xfrm>
        </p:grpSpPr>
        <p:sp>
          <p:nvSpPr>
            <p:cNvPr name="Freeform 18" id="18"/>
            <p:cNvSpPr/>
            <p:nvPr/>
          </p:nvSpPr>
          <p:spPr>
            <a:xfrm flipH="false" flipV="false" rot="0">
              <a:off x="0" y="0"/>
              <a:ext cx="10884662" cy="9543542"/>
            </a:xfrm>
            <a:custGeom>
              <a:avLst/>
              <a:gdLst/>
              <a:ahLst/>
              <a:cxnLst/>
              <a:rect r="r" b="b" t="t" l="l"/>
              <a:pathLst>
                <a:path h="9543542" w="10884662">
                  <a:moveTo>
                    <a:pt x="0" y="293624"/>
                  </a:moveTo>
                  <a:cubicBezTo>
                    <a:pt x="0" y="131445"/>
                    <a:pt x="131445" y="0"/>
                    <a:pt x="293624" y="0"/>
                  </a:cubicBezTo>
                  <a:lnTo>
                    <a:pt x="10591038" y="0"/>
                  </a:lnTo>
                  <a:cubicBezTo>
                    <a:pt x="10753217" y="0"/>
                    <a:pt x="10884662" y="131445"/>
                    <a:pt x="10884662" y="293624"/>
                  </a:cubicBezTo>
                  <a:lnTo>
                    <a:pt x="10884662" y="9249918"/>
                  </a:lnTo>
                  <a:cubicBezTo>
                    <a:pt x="10884662" y="9412098"/>
                    <a:pt x="10753217" y="9543542"/>
                    <a:pt x="10591038" y="9543542"/>
                  </a:cubicBezTo>
                  <a:lnTo>
                    <a:pt x="293624" y="9543542"/>
                  </a:lnTo>
                  <a:cubicBezTo>
                    <a:pt x="131445" y="9543669"/>
                    <a:pt x="0" y="9412097"/>
                    <a:pt x="0" y="9249918"/>
                  </a:cubicBezTo>
                  <a:close/>
                </a:path>
              </a:pathLst>
            </a:custGeom>
            <a:solidFill>
              <a:srgbClr val="FFFFFF"/>
            </a:solidFill>
            <a:ln w="25400" cap="sq">
              <a:solidFill>
                <a:srgbClr val="CBD5E1"/>
              </a:solidFill>
              <a:prstDash val="solid"/>
              <a:miter/>
            </a:ln>
          </p:spPr>
        </p:sp>
      </p:grpSp>
      <p:grpSp>
        <p:nvGrpSpPr>
          <p:cNvPr name="Group 19" id="19"/>
          <p:cNvGrpSpPr/>
          <p:nvPr/>
        </p:nvGrpSpPr>
        <p:grpSpPr>
          <a:xfrm rot="0">
            <a:off x="9497063" y="2364743"/>
            <a:ext cx="8163563" cy="1031243"/>
            <a:chOff x="0" y="0"/>
            <a:chExt cx="10884751" cy="1374991"/>
          </a:xfrm>
        </p:grpSpPr>
        <p:sp>
          <p:nvSpPr>
            <p:cNvPr name="Freeform 20" id="20"/>
            <p:cNvSpPr/>
            <p:nvPr/>
          </p:nvSpPr>
          <p:spPr>
            <a:xfrm flipH="false" flipV="false" rot="0">
              <a:off x="0" y="0"/>
              <a:ext cx="10884789" cy="1375029"/>
            </a:xfrm>
            <a:custGeom>
              <a:avLst/>
              <a:gdLst/>
              <a:ahLst/>
              <a:cxnLst/>
              <a:rect r="r" b="b" t="t" l="l"/>
              <a:pathLst>
                <a:path h="1375029" w="10884789">
                  <a:moveTo>
                    <a:pt x="0" y="0"/>
                  </a:moveTo>
                  <a:lnTo>
                    <a:pt x="10884789" y="0"/>
                  </a:lnTo>
                  <a:lnTo>
                    <a:pt x="10884789" y="1375029"/>
                  </a:lnTo>
                  <a:lnTo>
                    <a:pt x="0" y="1375029"/>
                  </a:lnTo>
                  <a:close/>
                </a:path>
              </a:pathLst>
            </a:custGeom>
            <a:solidFill>
              <a:srgbClr val="0D1B2A"/>
            </a:solidFill>
            <a:ln w="25400" cap="sq">
              <a:solidFill>
                <a:srgbClr val="0D1B2A"/>
              </a:solidFill>
              <a:prstDash val="solid"/>
              <a:miter/>
            </a:ln>
          </p:spPr>
        </p:sp>
      </p:grpSp>
      <p:grpSp>
        <p:nvGrpSpPr>
          <p:cNvPr name="Group 21" id="21"/>
          <p:cNvGrpSpPr/>
          <p:nvPr/>
        </p:nvGrpSpPr>
        <p:grpSpPr>
          <a:xfrm rot="0">
            <a:off x="9784080" y="2468880"/>
            <a:ext cx="7589520" cy="822960"/>
            <a:chOff x="0" y="0"/>
            <a:chExt cx="10119360" cy="1097280"/>
          </a:xfrm>
        </p:grpSpPr>
        <p:sp>
          <p:nvSpPr>
            <p:cNvPr name="Freeform 22" id="22"/>
            <p:cNvSpPr/>
            <p:nvPr/>
          </p:nvSpPr>
          <p:spPr>
            <a:xfrm flipH="false" flipV="false" rot="0">
              <a:off x="0" y="0"/>
              <a:ext cx="10119360" cy="1097280"/>
            </a:xfrm>
            <a:custGeom>
              <a:avLst/>
              <a:gdLst/>
              <a:ahLst/>
              <a:cxnLst/>
              <a:rect r="r" b="b" t="t" l="l"/>
              <a:pathLst>
                <a:path h="1097280" w="10119360">
                  <a:moveTo>
                    <a:pt x="0" y="0"/>
                  </a:moveTo>
                  <a:lnTo>
                    <a:pt x="10119360" y="0"/>
                  </a:lnTo>
                  <a:lnTo>
                    <a:pt x="10119360" y="1097280"/>
                  </a:lnTo>
                  <a:lnTo>
                    <a:pt x="0" y="1097280"/>
                  </a:lnTo>
                  <a:close/>
                </a:path>
              </a:pathLst>
            </a:custGeom>
            <a:blipFill>
              <a:blip r:embed="rId3">
                <a:alphaModFix amt="0"/>
              </a:blip>
              <a:stretch>
                <a:fillRect l="0" t="-129695" r="0" b="-129695"/>
              </a:stretch>
            </a:blipFill>
          </p:spPr>
        </p:sp>
        <p:sp>
          <p:nvSpPr>
            <p:cNvPr name="TextBox 23" id="23"/>
            <p:cNvSpPr txBox="true"/>
            <p:nvPr/>
          </p:nvSpPr>
          <p:spPr>
            <a:xfrm>
              <a:off x="0" y="-9525"/>
              <a:ext cx="10119360" cy="1106805"/>
            </a:xfrm>
            <a:prstGeom prst="rect">
              <a:avLst/>
            </a:prstGeom>
          </p:spPr>
          <p:txBody>
            <a:bodyPr anchor="ctr" rtlCol="false" tIns="0" lIns="0" bIns="0" rIns="0"/>
            <a:lstStyle/>
            <a:p>
              <a:pPr algn="ctr">
                <a:lnSpc>
                  <a:spcPts val="3600"/>
                </a:lnSpc>
              </a:pPr>
              <a:r>
                <a:rPr lang="en-US" b="true" sz="3000">
                  <a:solidFill>
                    <a:srgbClr val="FFFFFF"/>
                  </a:solidFill>
                  <a:latin typeface="Proxima Nova Bold"/>
                  <a:ea typeface="Proxima Nova Bold"/>
                  <a:cs typeface="Proxima Nova Bold"/>
                  <a:sym typeface="Proxima Nova Bold"/>
                </a:rPr>
                <a:t>PROJECT OBJECTIVES</a:t>
              </a:r>
            </a:p>
          </p:txBody>
        </p:sp>
      </p:grpSp>
      <p:sp>
        <p:nvSpPr>
          <p:cNvPr name="TextBox 24" id="24"/>
          <p:cNvSpPr txBox="true"/>
          <p:nvPr/>
        </p:nvSpPr>
        <p:spPr>
          <a:xfrm rot="0">
            <a:off x="9829800" y="3634111"/>
            <a:ext cx="7498080" cy="5233035"/>
          </a:xfrm>
          <a:prstGeom prst="rect">
            <a:avLst/>
          </a:prstGeom>
        </p:spPr>
        <p:txBody>
          <a:bodyPr anchor="t" rtlCol="false" tIns="0" lIns="0" bIns="0" rIns="0">
            <a:spAutoFit/>
          </a:bodyPr>
          <a:lstStyle/>
          <a:p>
            <a:pPr algn="l" marL="579120" indent="-289560" lvl="1">
              <a:lnSpc>
                <a:spcPts val="6000"/>
              </a:lnSpc>
              <a:buFont typeface="Arial"/>
              <a:buChar char="•"/>
            </a:pPr>
            <a:r>
              <a:rPr lang="en-US" sz="2400">
                <a:solidFill>
                  <a:srgbClr val="1E293B"/>
                </a:solidFill>
                <a:latin typeface="Proxima Nova"/>
                <a:ea typeface="Proxima Nova"/>
                <a:cs typeface="Proxima Nova"/>
                <a:sym typeface="Proxima Nova"/>
              </a:rPr>
              <a:t>Clean and validate mutual fund datasets</a:t>
            </a:r>
          </a:p>
          <a:p>
            <a:pPr algn="l" marL="579120" indent="-289560" lvl="1">
              <a:lnSpc>
                <a:spcPts val="6000"/>
              </a:lnSpc>
              <a:buFont typeface="Arial"/>
              <a:buChar char="•"/>
            </a:pPr>
            <a:r>
              <a:rPr lang="en-US" sz="2400">
                <a:solidFill>
                  <a:srgbClr val="1E293B"/>
                </a:solidFill>
                <a:latin typeface="Proxima Nova"/>
                <a:ea typeface="Proxima Nova"/>
                <a:cs typeface="Proxima Nova"/>
                <a:sym typeface="Proxima Nova"/>
              </a:rPr>
              <a:t>Build a centralized analytical database</a:t>
            </a:r>
          </a:p>
          <a:p>
            <a:pPr algn="l" marL="579120" indent="-289560" lvl="1">
              <a:lnSpc>
                <a:spcPts val="6000"/>
              </a:lnSpc>
              <a:buFont typeface="Arial"/>
              <a:buChar char="•"/>
            </a:pPr>
            <a:r>
              <a:rPr lang="en-US" sz="2400">
                <a:solidFill>
                  <a:srgbClr val="1E293B"/>
                </a:solidFill>
                <a:latin typeface="Proxima Nova"/>
                <a:ea typeface="Proxima Nova"/>
                <a:cs typeface="Proxima Nova"/>
                <a:sym typeface="Proxima Nova"/>
              </a:rPr>
              <a:t>Perform exploratory data analysis</a:t>
            </a:r>
          </a:p>
          <a:p>
            <a:pPr algn="l" marL="579120" indent="-289560" lvl="1">
              <a:lnSpc>
                <a:spcPts val="6000"/>
              </a:lnSpc>
              <a:buFont typeface="Arial"/>
              <a:buChar char="•"/>
            </a:pPr>
            <a:r>
              <a:rPr lang="en-US" sz="2400">
                <a:solidFill>
                  <a:srgbClr val="1E293B"/>
                </a:solidFill>
                <a:latin typeface="Proxima Nova"/>
                <a:ea typeface="Proxima Nova"/>
                <a:cs typeface="Proxima Nova"/>
                <a:sym typeface="Proxima Nova"/>
              </a:rPr>
              <a:t>Evaluate fund performance using financial metrics</a:t>
            </a:r>
          </a:p>
          <a:p>
            <a:pPr algn="l" marL="579120" indent="-289560" lvl="1">
              <a:lnSpc>
                <a:spcPts val="6000"/>
              </a:lnSpc>
              <a:buFont typeface="Arial"/>
              <a:buChar char="•"/>
            </a:pPr>
            <a:r>
              <a:rPr lang="en-US" sz="2400">
                <a:solidFill>
                  <a:srgbClr val="1E293B"/>
                </a:solidFill>
                <a:latin typeface="Proxima Nova"/>
                <a:ea typeface="Proxima Nova"/>
                <a:cs typeface="Proxima Nova"/>
                <a:sym typeface="Proxima Nova"/>
              </a:rPr>
              <a:t>Analyze investor behavior and SIP trends</a:t>
            </a:r>
          </a:p>
          <a:p>
            <a:pPr algn="l" marL="579120" indent="-289560" lvl="1">
              <a:lnSpc>
                <a:spcPts val="6000"/>
              </a:lnSpc>
              <a:buFont typeface="Arial"/>
              <a:buChar char="•"/>
            </a:pPr>
            <a:r>
              <a:rPr lang="en-US" sz="2400">
                <a:solidFill>
                  <a:srgbClr val="1E293B"/>
                </a:solidFill>
                <a:latin typeface="Proxima Nova"/>
                <a:ea typeface="Proxima Nova"/>
                <a:cs typeface="Proxima Nova"/>
                <a:sym typeface="Proxima Nova"/>
              </a:rPr>
              <a:t>Create an interactive Power BI dashboard</a:t>
            </a:r>
          </a:p>
          <a:p>
            <a:pPr algn="l" marL="579120" indent="-289560" lvl="1">
              <a:lnSpc>
                <a:spcPts val="6000"/>
              </a:lnSpc>
              <a:buFont typeface="Arial"/>
              <a:buChar char="•"/>
            </a:pPr>
            <a:r>
              <a:rPr lang="en-US" sz="2400">
                <a:solidFill>
                  <a:srgbClr val="1E293B"/>
                </a:solidFill>
                <a:latin typeface="Proxima Nova"/>
                <a:ea typeface="Proxima Nova"/>
                <a:cs typeface="Proxima Nova"/>
                <a:sym typeface="Proxima Nova"/>
              </a:rPr>
              <a:t>Generate actionable investment insights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945643"/>
            <a:chOff x="0" y="0"/>
            <a:chExt cx="24417871" cy="2594191"/>
          </a:xfrm>
        </p:grpSpPr>
        <p:sp>
          <p:nvSpPr>
            <p:cNvPr name="Freeform 3" id="3"/>
            <p:cNvSpPr/>
            <p:nvPr/>
          </p:nvSpPr>
          <p:spPr>
            <a:xfrm flipH="false" flipV="false" rot="0">
              <a:off x="0" y="0"/>
              <a:ext cx="24417910" cy="2594229"/>
            </a:xfrm>
            <a:custGeom>
              <a:avLst/>
              <a:gdLst/>
              <a:ahLst/>
              <a:cxnLst/>
              <a:rect r="r" b="b" t="t" l="l"/>
              <a:pathLst>
                <a:path h="2594229" w="24417910">
                  <a:moveTo>
                    <a:pt x="0" y="0"/>
                  </a:moveTo>
                  <a:lnTo>
                    <a:pt x="24417910" y="0"/>
                  </a:lnTo>
                  <a:lnTo>
                    <a:pt x="24417910" y="2594229"/>
                  </a:lnTo>
                  <a:lnTo>
                    <a:pt x="0" y="2594229"/>
                  </a:lnTo>
                  <a:close/>
                </a:path>
              </a:pathLst>
            </a:custGeom>
            <a:solidFill>
              <a:srgbClr val="0D1B2A"/>
            </a:solidFill>
            <a:ln w="25400" cap="sq">
              <a:solidFill>
                <a:srgbClr val="0D1B2A"/>
              </a:solidFill>
              <a:prstDash val="solid"/>
              <a:miter/>
            </a:ln>
          </p:spPr>
        </p:sp>
      </p:grpSp>
      <p:grpSp>
        <p:nvGrpSpPr>
          <p:cNvPr name="Group 4" id="4"/>
          <p:cNvGrpSpPr/>
          <p:nvPr/>
        </p:nvGrpSpPr>
        <p:grpSpPr>
          <a:xfrm rot="0">
            <a:off x="-12697" y="1907543"/>
            <a:ext cx="18313403" cy="153419"/>
            <a:chOff x="0" y="0"/>
            <a:chExt cx="24417871" cy="204559"/>
          </a:xfrm>
        </p:grpSpPr>
        <p:sp>
          <p:nvSpPr>
            <p:cNvPr name="Freeform 5" id="5"/>
            <p:cNvSpPr/>
            <p:nvPr/>
          </p:nvSpPr>
          <p:spPr>
            <a:xfrm flipH="false" flipV="false" rot="0">
              <a:off x="0" y="0"/>
              <a:ext cx="24417910" cy="204597"/>
            </a:xfrm>
            <a:custGeom>
              <a:avLst/>
              <a:gdLst/>
              <a:ahLst/>
              <a:cxnLst/>
              <a:rect r="r" b="b" t="t" l="l"/>
              <a:pathLst>
                <a:path h="204597" w="24417910">
                  <a:moveTo>
                    <a:pt x="0" y="0"/>
                  </a:moveTo>
                  <a:lnTo>
                    <a:pt x="24417910" y="0"/>
                  </a:lnTo>
                  <a:lnTo>
                    <a:pt x="24417910" y="204597"/>
                  </a:lnTo>
                  <a:lnTo>
                    <a:pt x="0" y="204597"/>
                  </a:lnTo>
                  <a:close/>
                </a:path>
              </a:pathLst>
            </a:custGeom>
            <a:solidFill>
              <a:srgbClr val="0D9488"/>
            </a:solidFill>
            <a:ln w="25400" cap="sq">
              <a:solidFill>
                <a:srgbClr val="0D9488"/>
              </a:solidFill>
              <a:prstDash val="solid"/>
              <a:miter/>
            </a:ln>
          </p:spPr>
        </p:sp>
      </p:grpSp>
      <p:grpSp>
        <p:nvGrpSpPr>
          <p:cNvPr name="Group 6" id="6"/>
          <p:cNvGrpSpPr/>
          <p:nvPr/>
        </p:nvGrpSpPr>
        <p:grpSpPr>
          <a:xfrm rot="0">
            <a:off x="822960" y="402336"/>
            <a:ext cx="16642080" cy="1097280"/>
            <a:chOff x="0" y="0"/>
            <a:chExt cx="22189440" cy="1463040"/>
          </a:xfrm>
        </p:grpSpPr>
        <p:sp>
          <p:nvSpPr>
            <p:cNvPr name="Freeform 7" id="7"/>
            <p:cNvSpPr/>
            <p:nvPr/>
          </p:nvSpPr>
          <p:spPr>
            <a:xfrm flipH="false" flipV="false" rot="0">
              <a:off x="0" y="0"/>
              <a:ext cx="22189439" cy="1463040"/>
            </a:xfrm>
            <a:custGeom>
              <a:avLst/>
              <a:gdLst/>
              <a:ahLst/>
              <a:cxnLst/>
              <a:rect r="r" b="b" t="t" l="l"/>
              <a:pathLst>
                <a:path h="1463040" w="22189439">
                  <a:moveTo>
                    <a:pt x="0" y="0"/>
                  </a:moveTo>
                  <a:lnTo>
                    <a:pt x="22189439" y="0"/>
                  </a:lnTo>
                  <a:lnTo>
                    <a:pt x="22189439" y="1463040"/>
                  </a:lnTo>
                  <a:lnTo>
                    <a:pt x="0" y="1463040"/>
                  </a:lnTo>
                  <a:close/>
                </a:path>
              </a:pathLst>
            </a:custGeom>
            <a:blipFill>
              <a:blip r:embed="rId3">
                <a:alphaModFix amt="0"/>
              </a:blip>
              <a:stretch>
                <a:fillRect l="0" t="-245523" r="0" b="-245523"/>
              </a:stretch>
            </a:blipFill>
          </p:spPr>
        </p:sp>
        <p:sp>
          <p:nvSpPr>
            <p:cNvPr name="TextBox 8" id="8"/>
            <p:cNvSpPr txBox="true"/>
            <p:nvPr/>
          </p:nvSpPr>
          <p:spPr>
            <a:xfrm>
              <a:off x="0" y="9525"/>
              <a:ext cx="22189440" cy="1453515"/>
            </a:xfrm>
            <a:prstGeom prst="rect">
              <a:avLst/>
            </a:prstGeom>
          </p:spPr>
          <p:txBody>
            <a:bodyPr anchor="ctr" rtlCol="false" tIns="0" lIns="0" bIns="0" rIns="0"/>
            <a:lstStyle/>
            <a:p>
              <a:pPr algn="l">
                <a:lnSpc>
                  <a:spcPts val="6240"/>
                </a:lnSpc>
              </a:pPr>
              <a:r>
                <a:rPr lang="en-US" b="true" sz="5200">
                  <a:solidFill>
                    <a:srgbClr val="FFFFFF"/>
                  </a:solidFill>
                  <a:latin typeface="Montserrat Bold"/>
                  <a:ea typeface="Montserrat Bold"/>
                  <a:cs typeface="Montserrat Bold"/>
                  <a:sym typeface="Montserrat Bold"/>
                </a:rPr>
                <a:t>DATA SOURCES</a:t>
              </a:r>
            </a:p>
          </p:txBody>
        </p:sp>
      </p:grpSp>
      <p:grpSp>
        <p:nvGrpSpPr>
          <p:cNvPr name="Group 9" id="9"/>
          <p:cNvGrpSpPr/>
          <p:nvPr/>
        </p:nvGrpSpPr>
        <p:grpSpPr>
          <a:xfrm rot="0">
            <a:off x="627383" y="2364743"/>
            <a:ext cx="7980683" cy="1031243"/>
            <a:chOff x="0" y="0"/>
            <a:chExt cx="10640911" cy="1374991"/>
          </a:xfrm>
        </p:grpSpPr>
        <p:sp>
          <p:nvSpPr>
            <p:cNvPr name="Freeform 10" id="10"/>
            <p:cNvSpPr/>
            <p:nvPr/>
          </p:nvSpPr>
          <p:spPr>
            <a:xfrm flipH="false" flipV="false" rot="0">
              <a:off x="0" y="0"/>
              <a:ext cx="10640949" cy="1375029"/>
            </a:xfrm>
            <a:custGeom>
              <a:avLst/>
              <a:gdLst/>
              <a:ahLst/>
              <a:cxnLst/>
              <a:rect r="r" b="b" t="t" l="l"/>
              <a:pathLst>
                <a:path h="1375029" w="10640949">
                  <a:moveTo>
                    <a:pt x="0" y="200025"/>
                  </a:moveTo>
                  <a:cubicBezTo>
                    <a:pt x="0" y="89535"/>
                    <a:pt x="89535" y="0"/>
                    <a:pt x="200025" y="0"/>
                  </a:cubicBezTo>
                  <a:lnTo>
                    <a:pt x="10440924" y="0"/>
                  </a:lnTo>
                  <a:cubicBezTo>
                    <a:pt x="10551414" y="0"/>
                    <a:pt x="10640949" y="89535"/>
                    <a:pt x="10640949" y="200025"/>
                  </a:cubicBezTo>
                  <a:lnTo>
                    <a:pt x="10640949" y="1175004"/>
                  </a:lnTo>
                  <a:cubicBezTo>
                    <a:pt x="10640949" y="1285494"/>
                    <a:pt x="10551414" y="1375029"/>
                    <a:pt x="10440924" y="1375029"/>
                  </a:cubicBezTo>
                  <a:lnTo>
                    <a:pt x="200025" y="1375029"/>
                  </a:lnTo>
                  <a:cubicBezTo>
                    <a:pt x="89535" y="1375029"/>
                    <a:pt x="0" y="1285494"/>
                    <a:pt x="0" y="1175004"/>
                  </a:cubicBezTo>
                  <a:close/>
                </a:path>
              </a:pathLst>
            </a:custGeom>
            <a:solidFill>
              <a:srgbClr val="FFFFFF"/>
            </a:solidFill>
            <a:ln w="25400" cap="sq">
              <a:solidFill>
                <a:srgbClr val="CBD5E1"/>
              </a:solidFill>
              <a:prstDash val="solid"/>
              <a:miter/>
            </a:ln>
          </p:spPr>
        </p:sp>
      </p:grpSp>
      <p:grpSp>
        <p:nvGrpSpPr>
          <p:cNvPr name="Group 11" id="11"/>
          <p:cNvGrpSpPr/>
          <p:nvPr/>
        </p:nvGrpSpPr>
        <p:grpSpPr>
          <a:xfrm rot="0">
            <a:off x="627383" y="2364743"/>
            <a:ext cx="848363" cy="1031243"/>
            <a:chOff x="0" y="0"/>
            <a:chExt cx="1131151" cy="1374991"/>
          </a:xfrm>
        </p:grpSpPr>
        <p:sp>
          <p:nvSpPr>
            <p:cNvPr name="Freeform 12" id="12"/>
            <p:cNvSpPr/>
            <p:nvPr/>
          </p:nvSpPr>
          <p:spPr>
            <a:xfrm flipH="false" flipV="false" rot="0">
              <a:off x="0" y="0"/>
              <a:ext cx="1131062" cy="1374902"/>
            </a:xfrm>
            <a:custGeom>
              <a:avLst/>
              <a:gdLst/>
              <a:ahLst/>
              <a:cxnLst/>
              <a:rect r="r" b="b" t="t" l="l"/>
              <a:pathLst>
                <a:path h="1374902" w="1131062">
                  <a:moveTo>
                    <a:pt x="0" y="201041"/>
                  </a:moveTo>
                  <a:cubicBezTo>
                    <a:pt x="0" y="90043"/>
                    <a:pt x="90043" y="0"/>
                    <a:pt x="201041" y="0"/>
                  </a:cubicBezTo>
                  <a:lnTo>
                    <a:pt x="930021" y="0"/>
                  </a:lnTo>
                  <a:cubicBezTo>
                    <a:pt x="1041146" y="0"/>
                    <a:pt x="1131062" y="90043"/>
                    <a:pt x="1131062" y="201041"/>
                  </a:cubicBezTo>
                  <a:lnTo>
                    <a:pt x="1131062" y="1173861"/>
                  </a:lnTo>
                  <a:cubicBezTo>
                    <a:pt x="1131062" y="1284986"/>
                    <a:pt x="1041019" y="1374902"/>
                    <a:pt x="930021" y="1374902"/>
                  </a:cubicBezTo>
                  <a:lnTo>
                    <a:pt x="201041" y="1374902"/>
                  </a:lnTo>
                  <a:cubicBezTo>
                    <a:pt x="90043" y="1375029"/>
                    <a:pt x="0" y="1284986"/>
                    <a:pt x="0" y="1173861"/>
                  </a:cubicBezTo>
                  <a:close/>
                </a:path>
              </a:pathLst>
            </a:custGeom>
            <a:solidFill>
              <a:srgbClr val="0D9488"/>
            </a:solidFill>
            <a:ln w="25400" cap="sq">
              <a:solidFill>
                <a:srgbClr val="0D9488"/>
              </a:solidFill>
              <a:prstDash val="solid"/>
              <a:miter/>
            </a:ln>
          </p:spPr>
        </p:sp>
      </p:grpSp>
      <p:grpSp>
        <p:nvGrpSpPr>
          <p:cNvPr name="Group 13" id="13"/>
          <p:cNvGrpSpPr/>
          <p:nvPr/>
        </p:nvGrpSpPr>
        <p:grpSpPr>
          <a:xfrm rot="0">
            <a:off x="640080" y="2377440"/>
            <a:ext cx="822960" cy="1005840"/>
            <a:chOff x="0" y="0"/>
            <a:chExt cx="1097280" cy="1341120"/>
          </a:xfrm>
        </p:grpSpPr>
        <p:sp>
          <p:nvSpPr>
            <p:cNvPr name="Freeform 14" id="14"/>
            <p:cNvSpPr/>
            <p:nvPr/>
          </p:nvSpPr>
          <p:spPr>
            <a:xfrm flipH="false" flipV="false" rot="0">
              <a:off x="0" y="0"/>
              <a:ext cx="1097280" cy="1341120"/>
            </a:xfrm>
            <a:custGeom>
              <a:avLst/>
              <a:gdLst/>
              <a:ahLst/>
              <a:cxnLst/>
              <a:rect r="r" b="b" t="t" l="l"/>
              <a:pathLst>
                <a:path h="1341120" w="1097280">
                  <a:moveTo>
                    <a:pt x="0" y="0"/>
                  </a:moveTo>
                  <a:lnTo>
                    <a:pt x="1097280" y="0"/>
                  </a:lnTo>
                  <a:lnTo>
                    <a:pt x="1097280" y="1341120"/>
                  </a:lnTo>
                  <a:lnTo>
                    <a:pt x="0" y="1341120"/>
                  </a:lnTo>
                  <a:close/>
                </a:path>
              </a:pathLst>
            </a:custGeom>
            <a:blipFill>
              <a:blip r:embed="rId3">
                <a:alphaModFix amt="0"/>
              </a:blip>
              <a:stretch>
                <a:fillRect l="-106815" t="0" r="-106815" b="0"/>
              </a:stretch>
            </a:blipFill>
          </p:spPr>
        </p:sp>
        <p:sp>
          <p:nvSpPr>
            <p:cNvPr name="TextBox 15" id="15"/>
            <p:cNvSpPr txBox="true"/>
            <p:nvPr/>
          </p:nvSpPr>
          <p:spPr>
            <a:xfrm>
              <a:off x="0" y="9525"/>
              <a:ext cx="1097280" cy="1331595"/>
            </a:xfrm>
            <a:prstGeom prst="rect">
              <a:avLst/>
            </a:prstGeom>
          </p:spPr>
          <p:txBody>
            <a:bodyPr anchor="ctr" rtlCol="false" tIns="0" lIns="0" bIns="0" rIns="0"/>
            <a:lstStyle/>
            <a:p>
              <a:pPr algn="ctr">
                <a:lnSpc>
                  <a:spcPts val="2879"/>
                </a:lnSpc>
              </a:pPr>
              <a:r>
                <a:rPr lang="en-US" sz="2400" b="true">
                  <a:solidFill>
                    <a:srgbClr val="FFFFFF"/>
                  </a:solidFill>
                  <a:latin typeface="Proxima Nova Bold"/>
                  <a:ea typeface="Proxima Nova Bold"/>
                  <a:cs typeface="Proxima Nova Bold"/>
                  <a:sym typeface="Proxima Nova Bold"/>
                </a:rPr>
                <a:t>1</a:t>
              </a:r>
            </a:p>
          </p:txBody>
        </p:sp>
      </p:grpSp>
      <p:grpSp>
        <p:nvGrpSpPr>
          <p:cNvPr name="Group 16" id="16"/>
          <p:cNvGrpSpPr/>
          <p:nvPr/>
        </p:nvGrpSpPr>
        <p:grpSpPr>
          <a:xfrm rot="0">
            <a:off x="1645920" y="2377440"/>
            <a:ext cx="6858000" cy="1005840"/>
            <a:chOff x="0" y="0"/>
            <a:chExt cx="9144000" cy="1341120"/>
          </a:xfrm>
        </p:grpSpPr>
        <p:sp>
          <p:nvSpPr>
            <p:cNvPr name="Freeform 17" id="17"/>
            <p:cNvSpPr/>
            <p:nvPr/>
          </p:nvSpPr>
          <p:spPr>
            <a:xfrm flipH="false" flipV="false" rot="0">
              <a:off x="0" y="0"/>
              <a:ext cx="9144000" cy="1341120"/>
            </a:xfrm>
            <a:custGeom>
              <a:avLst/>
              <a:gdLst/>
              <a:ahLst/>
              <a:cxnLst/>
              <a:rect r="r" b="b" t="t" l="l"/>
              <a:pathLst>
                <a:path h="1341120" w="9144000">
                  <a:moveTo>
                    <a:pt x="0" y="0"/>
                  </a:moveTo>
                  <a:lnTo>
                    <a:pt x="9144000" y="0"/>
                  </a:lnTo>
                  <a:lnTo>
                    <a:pt x="9144000" y="1341120"/>
                  </a:lnTo>
                  <a:lnTo>
                    <a:pt x="0" y="1341120"/>
                  </a:lnTo>
                  <a:close/>
                </a:path>
              </a:pathLst>
            </a:custGeom>
            <a:blipFill>
              <a:blip r:embed="rId3">
                <a:alphaModFix amt="0"/>
              </a:blip>
              <a:stretch>
                <a:fillRect l="0" t="-82852" r="0" b="-82852"/>
              </a:stretch>
            </a:blipFill>
          </p:spPr>
        </p:sp>
        <p:sp>
          <p:nvSpPr>
            <p:cNvPr name="TextBox 18" id="18"/>
            <p:cNvSpPr txBox="true"/>
            <p:nvPr/>
          </p:nvSpPr>
          <p:spPr>
            <a:xfrm>
              <a:off x="0" y="0"/>
              <a:ext cx="9144000" cy="1341120"/>
            </a:xfrm>
            <a:prstGeom prst="rect">
              <a:avLst/>
            </a:prstGeom>
          </p:spPr>
          <p:txBody>
            <a:bodyPr anchor="ctr" rtlCol="false" tIns="0" lIns="0" bIns="0" rIns="0"/>
            <a:lstStyle/>
            <a:p>
              <a:pPr algn="ctr">
                <a:lnSpc>
                  <a:spcPts val="3719"/>
                </a:lnSpc>
              </a:pPr>
              <a:r>
                <a:rPr lang="en-US" sz="3099" b="true">
                  <a:solidFill>
                    <a:srgbClr val="1E293B"/>
                  </a:solidFill>
                  <a:latin typeface="Proxima Nova Bold"/>
                  <a:ea typeface="Proxima Nova Bold"/>
                  <a:cs typeface="Proxima Nova Bold"/>
                  <a:sym typeface="Proxima Nova Bold"/>
                </a:rPr>
                <a:t>Fund Master</a:t>
              </a:r>
            </a:p>
          </p:txBody>
        </p:sp>
      </p:grpSp>
      <p:grpSp>
        <p:nvGrpSpPr>
          <p:cNvPr name="Group 19" id="19"/>
          <p:cNvGrpSpPr/>
          <p:nvPr/>
        </p:nvGrpSpPr>
        <p:grpSpPr>
          <a:xfrm rot="0">
            <a:off x="9314183" y="2364743"/>
            <a:ext cx="7980683" cy="1031243"/>
            <a:chOff x="0" y="0"/>
            <a:chExt cx="10640911" cy="1374991"/>
          </a:xfrm>
        </p:grpSpPr>
        <p:sp>
          <p:nvSpPr>
            <p:cNvPr name="Freeform 20" id="20"/>
            <p:cNvSpPr/>
            <p:nvPr/>
          </p:nvSpPr>
          <p:spPr>
            <a:xfrm flipH="false" flipV="false" rot="0">
              <a:off x="0" y="0"/>
              <a:ext cx="10640949" cy="1375029"/>
            </a:xfrm>
            <a:custGeom>
              <a:avLst/>
              <a:gdLst/>
              <a:ahLst/>
              <a:cxnLst/>
              <a:rect r="r" b="b" t="t" l="l"/>
              <a:pathLst>
                <a:path h="1375029" w="10640949">
                  <a:moveTo>
                    <a:pt x="0" y="200025"/>
                  </a:moveTo>
                  <a:cubicBezTo>
                    <a:pt x="0" y="89535"/>
                    <a:pt x="89535" y="0"/>
                    <a:pt x="200025" y="0"/>
                  </a:cubicBezTo>
                  <a:lnTo>
                    <a:pt x="10440924" y="0"/>
                  </a:lnTo>
                  <a:cubicBezTo>
                    <a:pt x="10551414" y="0"/>
                    <a:pt x="10640949" y="89535"/>
                    <a:pt x="10640949" y="200025"/>
                  </a:cubicBezTo>
                  <a:lnTo>
                    <a:pt x="10640949" y="1175004"/>
                  </a:lnTo>
                  <a:cubicBezTo>
                    <a:pt x="10640949" y="1285494"/>
                    <a:pt x="10551414" y="1375029"/>
                    <a:pt x="10440924" y="1375029"/>
                  </a:cubicBezTo>
                  <a:lnTo>
                    <a:pt x="200025" y="1375029"/>
                  </a:lnTo>
                  <a:cubicBezTo>
                    <a:pt x="89535" y="1375029"/>
                    <a:pt x="0" y="1285494"/>
                    <a:pt x="0" y="1175004"/>
                  </a:cubicBezTo>
                  <a:close/>
                </a:path>
              </a:pathLst>
            </a:custGeom>
            <a:solidFill>
              <a:srgbClr val="FFFFFF"/>
            </a:solidFill>
            <a:ln w="25400" cap="sq">
              <a:solidFill>
                <a:srgbClr val="CBD5E1"/>
              </a:solidFill>
              <a:prstDash val="solid"/>
              <a:miter/>
            </a:ln>
          </p:spPr>
        </p:sp>
      </p:grpSp>
      <p:grpSp>
        <p:nvGrpSpPr>
          <p:cNvPr name="Group 21" id="21"/>
          <p:cNvGrpSpPr/>
          <p:nvPr/>
        </p:nvGrpSpPr>
        <p:grpSpPr>
          <a:xfrm rot="0">
            <a:off x="9314183" y="2364743"/>
            <a:ext cx="848363" cy="1031243"/>
            <a:chOff x="0" y="0"/>
            <a:chExt cx="1131151" cy="1374991"/>
          </a:xfrm>
        </p:grpSpPr>
        <p:sp>
          <p:nvSpPr>
            <p:cNvPr name="Freeform 22" id="22"/>
            <p:cNvSpPr/>
            <p:nvPr/>
          </p:nvSpPr>
          <p:spPr>
            <a:xfrm flipH="false" flipV="false" rot="0">
              <a:off x="0" y="0"/>
              <a:ext cx="1131062" cy="1374902"/>
            </a:xfrm>
            <a:custGeom>
              <a:avLst/>
              <a:gdLst/>
              <a:ahLst/>
              <a:cxnLst/>
              <a:rect r="r" b="b" t="t" l="l"/>
              <a:pathLst>
                <a:path h="1374902" w="1131062">
                  <a:moveTo>
                    <a:pt x="0" y="201041"/>
                  </a:moveTo>
                  <a:cubicBezTo>
                    <a:pt x="0" y="90043"/>
                    <a:pt x="90043" y="0"/>
                    <a:pt x="201041" y="0"/>
                  </a:cubicBezTo>
                  <a:lnTo>
                    <a:pt x="930021" y="0"/>
                  </a:lnTo>
                  <a:cubicBezTo>
                    <a:pt x="1041146" y="0"/>
                    <a:pt x="1131062" y="90043"/>
                    <a:pt x="1131062" y="201041"/>
                  </a:cubicBezTo>
                  <a:lnTo>
                    <a:pt x="1131062" y="1173861"/>
                  </a:lnTo>
                  <a:cubicBezTo>
                    <a:pt x="1131062" y="1284986"/>
                    <a:pt x="1041019" y="1374902"/>
                    <a:pt x="930021" y="1374902"/>
                  </a:cubicBezTo>
                  <a:lnTo>
                    <a:pt x="201041" y="1374902"/>
                  </a:lnTo>
                  <a:cubicBezTo>
                    <a:pt x="90043" y="1375029"/>
                    <a:pt x="0" y="1284986"/>
                    <a:pt x="0" y="1173861"/>
                  </a:cubicBezTo>
                  <a:close/>
                </a:path>
              </a:pathLst>
            </a:custGeom>
            <a:solidFill>
              <a:srgbClr val="0D9488"/>
            </a:solidFill>
            <a:ln w="25400" cap="sq">
              <a:solidFill>
                <a:srgbClr val="0D9488"/>
              </a:solidFill>
              <a:prstDash val="solid"/>
              <a:miter/>
            </a:ln>
          </p:spPr>
        </p:sp>
      </p:grpSp>
      <p:grpSp>
        <p:nvGrpSpPr>
          <p:cNvPr name="Group 23" id="23"/>
          <p:cNvGrpSpPr/>
          <p:nvPr/>
        </p:nvGrpSpPr>
        <p:grpSpPr>
          <a:xfrm rot="0">
            <a:off x="9326880" y="2377440"/>
            <a:ext cx="822960" cy="1005840"/>
            <a:chOff x="0" y="0"/>
            <a:chExt cx="1097280" cy="1341120"/>
          </a:xfrm>
        </p:grpSpPr>
        <p:sp>
          <p:nvSpPr>
            <p:cNvPr name="Freeform 24" id="24"/>
            <p:cNvSpPr/>
            <p:nvPr/>
          </p:nvSpPr>
          <p:spPr>
            <a:xfrm flipH="false" flipV="false" rot="0">
              <a:off x="0" y="0"/>
              <a:ext cx="1097280" cy="1341120"/>
            </a:xfrm>
            <a:custGeom>
              <a:avLst/>
              <a:gdLst/>
              <a:ahLst/>
              <a:cxnLst/>
              <a:rect r="r" b="b" t="t" l="l"/>
              <a:pathLst>
                <a:path h="1341120" w="1097280">
                  <a:moveTo>
                    <a:pt x="0" y="0"/>
                  </a:moveTo>
                  <a:lnTo>
                    <a:pt x="1097280" y="0"/>
                  </a:lnTo>
                  <a:lnTo>
                    <a:pt x="1097280" y="1341120"/>
                  </a:lnTo>
                  <a:lnTo>
                    <a:pt x="0" y="1341120"/>
                  </a:lnTo>
                  <a:close/>
                </a:path>
              </a:pathLst>
            </a:custGeom>
            <a:blipFill>
              <a:blip r:embed="rId3">
                <a:alphaModFix amt="0"/>
              </a:blip>
              <a:stretch>
                <a:fillRect l="-106815" t="0" r="-106815" b="0"/>
              </a:stretch>
            </a:blipFill>
          </p:spPr>
        </p:sp>
        <p:sp>
          <p:nvSpPr>
            <p:cNvPr name="TextBox 25" id="25"/>
            <p:cNvSpPr txBox="true"/>
            <p:nvPr/>
          </p:nvSpPr>
          <p:spPr>
            <a:xfrm>
              <a:off x="0" y="9525"/>
              <a:ext cx="1097280" cy="1331595"/>
            </a:xfrm>
            <a:prstGeom prst="rect">
              <a:avLst/>
            </a:prstGeom>
          </p:spPr>
          <p:txBody>
            <a:bodyPr anchor="ctr" rtlCol="false" tIns="0" lIns="0" bIns="0" rIns="0"/>
            <a:lstStyle/>
            <a:p>
              <a:pPr algn="ctr">
                <a:lnSpc>
                  <a:spcPts val="2879"/>
                </a:lnSpc>
              </a:pPr>
              <a:r>
                <a:rPr lang="en-US" sz="2400" b="true">
                  <a:solidFill>
                    <a:srgbClr val="FFFFFF"/>
                  </a:solidFill>
                  <a:latin typeface="Proxima Nova Bold"/>
                  <a:ea typeface="Proxima Nova Bold"/>
                  <a:cs typeface="Proxima Nova Bold"/>
                  <a:sym typeface="Proxima Nova Bold"/>
                </a:rPr>
                <a:t>2</a:t>
              </a:r>
            </a:p>
          </p:txBody>
        </p:sp>
      </p:grpSp>
      <p:grpSp>
        <p:nvGrpSpPr>
          <p:cNvPr name="Group 26" id="26"/>
          <p:cNvGrpSpPr/>
          <p:nvPr/>
        </p:nvGrpSpPr>
        <p:grpSpPr>
          <a:xfrm rot="0">
            <a:off x="10332720" y="2377440"/>
            <a:ext cx="6858000" cy="1005840"/>
            <a:chOff x="0" y="0"/>
            <a:chExt cx="9144000" cy="1341120"/>
          </a:xfrm>
        </p:grpSpPr>
        <p:sp>
          <p:nvSpPr>
            <p:cNvPr name="Freeform 27" id="27"/>
            <p:cNvSpPr/>
            <p:nvPr/>
          </p:nvSpPr>
          <p:spPr>
            <a:xfrm flipH="false" flipV="false" rot="0">
              <a:off x="0" y="0"/>
              <a:ext cx="9144000" cy="1341120"/>
            </a:xfrm>
            <a:custGeom>
              <a:avLst/>
              <a:gdLst/>
              <a:ahLst/>
              <a:cxnLst/>
              <a:rect r="r" b="b" t="t" l="l"/>
              <a:pathLst>
                <a:path h="1341120" w="9144000">
                  <a:moveTo>
                    <a:pt x="0" y="0"/>
                  </a:moveTo>
                  <a:lnTo>
                    <a:pt x="9144000" y="0"/>
                  </a:lnTo>
                  <a:lnTo>
                    <a:pt x="9144000" y="1341120"/>
                  </a:lnTo>
                  <a:lnTo>
                    <a:pt x="0" y="1341120"/>
                  </a:lnTo>
                  <a:close/>
                </a:path>
              </a:pathLst>
            </a:custGeom>
            <a:blipFill>
              <a:blip r:embed="rId3">
                <a:alphaModFix amt="0"/>
              </a:blip>
              <a:stretch>
                <a:fillRect l="0" t="-82852" r="0" b="-82852"/>
              </a:stretch>
            </a:blipFill>
          </p:spPr>
        </p:sp>
        <p:sp>
          <p:nvSpPr>
            <p:cNvPr name="TextBox 28" id="28"/>
            <p:cNvSpPr txBox="true"/>
            <p:nvPr/>
          </p:nvSpPr>
          <p:spPr>
            <a:xfrm>
              <a:off x="0" y="0"/>
              <a:ext cx="9144000" cy="1341120"/>
            </a:xfrm>
            <a:prstGeom prst="rect">
              <a:avLst/>
            </a:prstGeom>
          </p:spPr>
          <p:txBody>
            <a:bodyPr anchor="ctr" rtlCol="false" tIns="0" lIns="0" bIns="0" rIns="0"/>
            <a:lstStyle/>
            <a:p>
              <a:pPr algn="ctr">
                <a:lnSpc>
                  <a:spcPts val="3719"/>
                </a:lnSpc>
              </a:pPr>
              <a:r>
                <a:rPr lang="en-US" sz="3099" b="true">
                  <a:solidFill>
                    <a:srgbClr val="1E293B"/>
                  </a:solidFill>
                  <a:latin typeface="Proxima Nova Bold"/>
                  <a:ea typeface="Proxima Nova Bold"/>
                  <a:cs typeface="Proxima Nova Bold"/>
                  <a:sym typeface="Proxima Nova Bold"/>
                </a:rPr>
                <a:t>NAV History</a:t>
              </a:r>
            </a:p>
          </p:txBody>
        </p:sp>
      </p:grpSp>
      <p:grpSp>
        <p:nvGrpSpPr>
          <p:cNvPr name="Group 29" id="29"/>
          <p:cNvGrpSpPr/>
          <p:nvPr/>
        </p:nvGrpSpPr>
        <p:grpSpPr>
          <a:xfrm rot="0">
            <a:off x="627383" y="3553463"/>
            <a:ext cx="7980683" cy="1031243"/>
            <a:chOff x="0" y="0"/>
            <a:chExt cx="10640911" cy="1374991"/>
          </a:xfrm>
        </p:grpSpPr>
        <p:sp>
          <p:nvSpPr>
            <p:cNvPr name="Freeform 30" id="30"/>
            <p:cNvSpPr/>
            <p:nvPr/>
          </p:nvSpPr>
          <p:spPr>
            <a:xfrm flipH="false" flipV="false" rot="0">
              <a:off x="0" y="0"/>
              <a:ext cx="10640949" cy="1375029"/>
            </a:xfrm>
            <a:custGeom>
              <a:avLst/>
              <a:gdLst/>
              <a:ahLst/>
              <a:cxnLst/>
              <a:rect r="r" b="b" t="t" l="l"/>
              <a:pathLst>
                <a:path h="1375029" w="10640949">
                  <a:moveTo>
                    <a:pt x="0" y="200025"/>
                  </a:moveTo>
                  <a:cubicBezTo>
                    <a:pt x="0" y="89535"/>
                    <a:pt x="89535" y="0"/>
                    <a:pt x="200025" y="0"/>
                  </a:cubicBezTo>
                  <a:lnTo>
                    <a:pt x="10440924" y="0"/>
                  </a:lnTo>
                  <a:cubicBezTo>
                    <a:pt x="10551414" y="0"/>
                    <a:pt x="10640949" y="89535"/>
                    <a:pt x="10640949" y="200025"/>
                  </a:cubicBezTo>
                  <a:lnTo>
                    <a:pt x="10640949" y="1175004"/>
                  </a:lnTo>
                  <a:cubicBezTo>
                    <a:pt x="10640949" y="1285494"/>
                    <a:pt x="10551414" y="1375029"/>
                    <a:pt x="10440924" y="1375029"/>
                  </a:cubicBezTo>
                  <a:lnTo>
                    <a:pt x="200025" y="1375029"/>
                  </a:lnTo>
                  <a:cubicBezTo>
                    <a:pt x="89535" y="1375029"/>
                    <a:pt x="0" y="1285494"/>
                    <a:pt x="0" y="1175004"/>
                  </a:cubicBezTo>
                  <a:close/>
                </a:path>
              </a:pathLst>
            </a:custGeom>
            <a:solidFill>
              <a:srgbClr val="FFFFFF"/>
            </a:solidFill>
            <a:ln w="25400" cap="sq">
              <a:solidFill>
                <a:srgbClr val="CBD5E1"/>
              </a:solidFill>
              <a:prstDash val="solid"/>
              <a:miter/>
            </a:ln>
          </p:spPr>
        </p:sp>
      </p:grpSp>
      <p:grpSp>
        <p:nvGrpSpPr>
          <p:cNvPr name="Group 31" id="31"/>
          <p:cNvGrpSpPr/>
          <p:nvPr/>
        </p:nvGrpSpPr>
        <p:grpSpPr>
          <a:xfrm rot="0">
            <a:off x="627383" y="3553463"/>
            <a:ext cx="848363" cy="1031243"/>
            <a:chOff x="0" y="0"/>
            <a:chExt cx="1131151" cy="1374991"/>
          </a:xfrm>
        </p:grpSpPr>
        <p:sp>
          <p:nvSpPr>
            <p:cNvPr name="Freeform 32" id="32"/>
            <p:cNvSpPr/>
            <p:nvPr/>
          </p:nvSpPr>
          <p:spPr>
            <a:xfrm flipH="false" flipV="false" rot="0">
              <a:off x="0" y="0"/>
              <a:ext cx="1131062" cy="1374902"/>
            </a:xfrm>
            <a:custGeom>
              <a:avLst/>
              <a:gdLst/>
              <a:ahLst/>
              <a:cxnLst/>
              <a:rect r="r" b="b" t="t" l="l"/>
              <a:pathLst>
                <a:path h="1374902" w="1131062">
                  <a:moveTo>
                    <a:pt x="0" y="201041"/>
                  </a:moveTo>
                  <a:cubicBezTo>
                    <a:pt x="0" y="90043"/>
                    <a:pt x="90043" y="0"/>
                    <a:pt x="201041" y="0"/>
                  </a:cubicBezTo>
                  <a:lnTo>
                    <a:pt x="930021" y="0"/>
                  </a:lnTo>
                  <a:cubicBezTo>
                    <a:pt x="1041146" y="0"/>
                    <a:pt x="1131062" y="90043"/>
                    <a:pt x="1131062" y="201041"/>
                  </a:cubicBezTo>
                  <a:lnTo>
                    <a:pt x="1131062" y="1173861"/>
                  </a:lnTo>
                  <a:cubicBezTo>
                    <a:pt x="1131062" y="1284986"/>
                    <a:pt x="1041019" y="1374902"/>
                    <a:pt x="930021" y="1374902"/>
                  </a:cubicBezTo>
                  <a:lnTo>
                    <a:pt x="201041" y="1374902"/>
                  </a:lnTo>
                  <a:cubicBezTo>
                    <a:pt x="90043" y="1375029"/>
                    <a:pt x="0" y="1284986"/>
                    <a:pt x="0" y="1173861"/>
                  </a:cubicBezTo>
                  <a:close/>
                </a:path>
              </a:pathLst>
            </a:custGeom>
            <a:solidFill>
              <a:srgbClr val="0D9488"/>
            </a:solidFill>
            <a:ln w="25400" cap="sq">
              <a:solidFill>
                <a:srgbClr val="0D9488"/>
              </a:solidFill>
              <a:prstDash val="solid"/>
              <a:miter/>
            </a:ln>
          </p:spPr>
        </p:sp>
      </p:grpSp>
      <p:grpSp>
        <p:nvGrpSpPr>
          <p:cNvPr name="Group 33" id="33"/>
          <p:cNvGrpSpPr/>
          <p:nvPr/>
        </p:nvGrpSpPr>
        <p:grpSpPr>
          <a:xfrm rot="0">
            <a:off x="640080" y="3566160"/>
            <a:ext cx="822960" cy="1005840"/>
            <a:chOff x="0" y="0"/>
            <a:chExt cx="1097280" cy="1341120"/>
          </a:xfrm>
        </p:grpSpPr>
        <p:sp>
          <p:nvSpPr>
            <p:cNvPr name="Freeform 34" id="34"/>
            <p:cNvSpPr/>
            <p:nvPr/>
          </p:nvSpPr>
          <p:spPr>
            <a:xfrm flipH="false" flipV="false" rot="0">
              <a:off x="0" y="0"/>
              <a:ext cx="1097280" cy="1341120"/>
            </a:xfrm>
            <a:custGeom>
              <a:avLst/>
              <a:gdLst/>
              <a:ahLst/>
              <a:cxnLst/>
              <a:rect r="r" b="b" t="t" l="l"/>
              <a:pathLst>
                <a:path h="1341120" w="1097280">
                  <a:moveTo>
                    <a:pt x="0" y="0"/>
                  </a:moveTo>
                  <a:lnTo>
                    <a:pt x="1097280" y="0"/>
                  </a:lnTo>
                  <a:lnTo>
                    <a:pt x="1097280" y="1341120"/>
                  </a:lnTo>
                  <a:lnTo>
                    <a:pt x="0" y="1341120"/>
                  </a:lnTo>
                  <a:close/>
                </a:path>
              </a:pathLst>
            </a:custGeom>
            <a:blipFill>
              <a:blip r:embed="rId3">
                <a:alphaModFix amt="0"/>
              </a:blip>
              <a:stretch>
                <a:fillRect l="-106815" t="0" r="-106815" b="0"/>
              </a:stretch>
            </a:blipFill>
          </p:spPr>
        </p:sp>
        <p:sp>
          <p:nvSpPr>
            <p:cNvPr name="TextBox 35" id="35"/>
            <p:cNvSpPr txBox="true"/>
            <p:nvPr/>
          </p:nvSpPr>
          <p:spPr>
            <a:xfrm>
              <a:off x="0" y="9525"/>
              <a:ext cx="1097280" cy="1331595"/>
            </a:xfrm>
            <a:prstGeom prst="rect">
              <a:avLst/>
            </a:prstGeom>
          </p:spPr>
          <p:txBody>
            <a:bodyPr anchor="ctr" rtlCol="false" tIns="0" lIns="0" bIns="0" rIns="0"/>
            <a:lstStyle/>
            <a:p>
              <a:pPr algn="ctr">
                <a:lnSpc>
                  <a:spcPts val="2879"/>
                </a:lnSpc>
              </a:pPr>
              <a:r>
                <a:rPr lang="en-US" sz="2400" b="true">
                  <a:solidFill>
                    <a:srgbClr val="FFFFFF"/>
                  </a:solidFill>
                  <a:latin typeface="Proxima Nova Bold"/>
                  <a:ea typeface="Proxima Nova Bold"/>
                  <a:cs typeface="Proxima Nova Bold"/>
                  <a:sym typeface="Proxima Nova Bold"/>
                </a:rPr>
                <a:t>3</a:t>
              </a:r>
            </a:p>
          </p:txBody>
        </p:sp>
      </p:grpSp>
      <p:grpSp>
        <p:nvGrpSpPr>
          <p:cNvPr name="Group 36" id="36"/>
          <p:cNvGrpSpPr/>
          <p:nvPr/>
        </p:nvGrpSpPr>
        <p:grpSpPr>
          <a:xfrm rot="0">
            <a:off x="1645920" y="3566160"/>
            <a:ext cx="6858000" cy="1005840"/>
            <a:chOff x="0" y="0"/>
            <a:chExt cx="9144000" cy="1341120"/>
          </a:xfrm>
        </p:grpSpPr>
        <p:sp>
          <p:nvSpPr>
            <p:cNvPr name="Freeform 37" id="37"/>
            <p:cNvSpPr/>
            <p:nvPr/>
          </p:nvSpPr>
          <p:spPr>
            <a:xfrm flipH="false" flipV="false" rot="0">
              <a:off x="0" y="0"/>
              <a:ext cx="9144000" cy="1341120"/>
            </a:xfrm>
            <a:custGeom>
              <a:avLst/>
              <a:gdLst/>
              <a:ahLst/>
              <a:cxnLst/>
              <a:rect r="r" b="b" t="t" l="l"/>
              <a:pathLst>
                <a:path h="1341120" w="9144000">
                  <a:moveTo>
                    <a:pt x="0" y="0"/>
                  </a:moveTo>
                  <a:lnTo>
                    <a:pt x="9144000" y="0"/>
                  </a:lnTo>
                  <a:lnTo>
                    <a:pt x="9144000" y="1341120"/>
                  </a:lnTo>
                  <a:lnTo>
                    <a:pt x="0" y="1341120"/>
                  </a:lnTo>
                  <a:close/>
                </a:path>
              </a:pathLst>
            </a:custGeom>
            <a:blipFill>
              <a:blip r:embed="rId3">
                <a:alphaModFix amt="0"/>
              </a:blip>
              <a:stretch>
                <a:fillRect l="0" t="-82852" r="0" b="-82852"/>
              </a:stretch>
            </a:blipFill>
          </p:spPr>
        </p:sp>
        <p:sp>
          <p:nvSpPr>
            <p:cNvPr name="TextBox 38" id="38"/>
            <p:cNvSpPr txBox="true"/>
            <p:nvPr/>
          </p:nvSpPr>
          <p:spPr>
            <a:xfrm>
              <a:off x="0" y="0"/>
              <a:ext cx="9144000" cy="1341120"/>
            </a:xfrm>
            <a:prstGeom prst="rect">
              <a:avLst/>
            </a:prstGeom>
          </p:spPr>
          <p:txBody>
            <a:bodyPr anchor="ctr" rtlCol="false" tIns="0" lIns="0" bIns="0" rIns="0"/>
            <a:lstStyle/>
            <a:p>
              <a:pPr algn="ctr">
                <a:lnSpc>
                  <a:spcPts val="3719"/>
                </a:lnSpc>
              </a:pPr>
              <a:r>
                <a:rPr lang="en-US" sz="3099" b="true">
                  <a:solidFill>
                    <a:srgbClr val="1E293B"/>
                  </a:solidFill>
                  <a:latin typeface="Proxima Nova Bold"/>
                  <a:ea typeface="Proxima Nova Bold"/>
                  <a:cs typeface="Proxima Nova Bold"/>
                  <a:sym typeface="Proxima Nova Bold"/>
                </a:rPr>
                <a:t>AUM by Fund House</a:t>
              </a:r>
            </a:p>
          </p:txBody>
        </p:sp>
      </p:grpSp>
      <p:grpSp>
        <p:nvGrpSpPr>
          <p:cNvPr name="Group 39" id="39"/>
          <p:cNvGrpSpPr/>
          <p:nvPr/>
        </p:nvGrpSpPr>
        <p:grpSpPr>
          <a:xfrm rot="0">
            <a:off x="9314183" y="3553463"/>
            <a:ext cx="7980683" cy="1031243"/>
            <a:chOff x="0" y="0"/>
            <a:chExt cx="10640911" cy="1374991"/>
          </a:xfrm>
        </p:grpSpPr>
        <p:sp>
          <p:nvSpPr>
            <p:cNvPr name="Freeform 40" id="40"/>
            <p:cNvSpPr/>
            <p:nvPr/>
          </p:nvSpPr>
          <p:spPr>
            <a:xfrm flipH="false" flipV="false" rot="0">
              <a:off x="0" y="0"/>
              <a:ext cx="10640949" cy="1375029"/>
            </a:xfrm>
            <a:custGeom>
              <a:avLst/>
              <a:gdLst/>
              <a:ahLst/>
              <a:cxnLst/>
              <a:rect r="r" b="b" t="t" l="l"/>
              <a:pathLst>
                <a:path h="1375029" w="10640949">
                  <a:moveTo>
                    <a:pt x="0" y="200025"/>
                  </a:moveTo>
                  <a:cubicBezTo>
                    <a:pt x="0" y="89535"/>
                    <a:pt x="89535" y="0"/>
                    <a:pt x="200025" y="0"/>
                  </a:cubicBezTo>
                  <a:lnTo>
                    <a:pt x="10440924" y="0"/>
                  </a:lnTo>
                  <a:cubicBezTo>
                    <a:pt x="10551414" y="0"/>
                    <a:pt x="10640949" y="89535"/>
                    <a:pt x="10640949" y="200025"/>
                  </a:cubicBezTo>
                  <a:lnTo>
                    <a:pt x="10640949" y="1175004"/>
                  </a:lnTo>
                  <a:cubicBezTo>
                    <a:pt x="10640949" y="1285494"/>
                    <a:pt x="10551414" y="1375029"/>
                    <a:pt x="10440924" y="1375029"/>
                  </a:cubicBezTo>
                  <a:lnTo>
                    <a:pt x="200025" y="1375029"/>
                  </a:lnTo>
                  <a:cubicBezTo>
                    <a:pt x="89535" y="1375029"/>
                    <a:pt x="0" y="1285494"/>
                    <a:pt x="0" y="1175004"/>
                  </a:cubicBezTo>
                  <a:close/>
                </a:path>
              </a:pathLst>
            </a:custGeom>
            <a:solidFill>
              <a:srgbClr val="FFFFFF"/>
            </a:solidFill>
            <a:ln w="25400" cap="sq">
              <a:solidFill>
                <a:srgbClr val="CBD5E1"/>
              </a:solidFill>
              <a:prstDash val="solid"/>
              <a:miter/>
            </a:ln>
          </p:spPr>
        </p:sp>
      </p:grpSp>
      <p:grpSp>
        <p:nvGrpSpPr>
          <p:cNvPr name="Group 41" id="41"/>
          <p:cNvGrpSpPr/>
          <p:nvPr/>
        </p:nvGrpSpPr>
        <p:grpSpPr>
          <a:xfrm rot="0">
            <a:off x="9314183" y="3553463"/>
            <a:ext cx="848363" cy="1031243"/>
            <a:chOff x="0" y="0"/>
            <a:chExt cx="1131151" cy="1374991"/>
          </a:xfrm>
        </p:grpSpPr>
        <p:sp>
          <p:nvSpPr>
            <p:cNvPr name="Freeform 42" id="42"/>
            <p:cNvSpPr/>
            <p:nvPr/>
          </p:nvSpPr>
          <p:spPr>
            <a:xfrm flipH="false" flipV="false" rot="0">
              <a:off x="0" y="0"/>
              <a:ext cx="1131062" cy="1374902"/>
            </a:xfrm>
            <a:custGeom>
              <a:avLst/>
              <a:gdLst/>
              <a:ahLst/>
              <a:cxnLst/>
              <a:rect r="r" b="b" t="t" l="l"/>
              <a:pathLst>
                <a:path h="1374902" w="1131062">
                  <a:moveTo>
                    <a:pt x="0" y="201041"/>
                  </a:moveTo>
                  <a:cubicBezTo>
                    <a:pt x="0" y="90043"/>
                    <a:pt x="90043" y="0"/>
                    <a:pt x="201041" y="0"/>
                  </a:cubicBezTo>
                  <a:lnTo>
                    <a:pt x="930021" y="0"/>
                  </a:lnTo>
                  <a:cubicBezTo>
                    <a:pt x="1041146" y="0"/>
                    <a:pt x="1131062" y="90043"/>
                    <a:pt x="1131062" y="201041"/>
                  </a:cubicBezTo>
                  <a:lnTo>
                    <a:pt x="1131062" y="1173861"/>
                  </a:lnTo>
                  <a:cubicBezTo>
                    <a:pt x="1131062" y="1284986"/>
                    <a:pt x="1041019" y="1374902"/>
                    <a:pt x="930021" y="1374902"/>
                  </a:cubicBezTo>
                  <a:lnTo>
                    <a:pt x="201041" y="1374902"/>
                  </a:lnTo>
                  <a:cubicBezTo>
                    <a:pt x="90043" y="1375029"/>
                    <a:pt x="0" y="1284986"/>
                    <a:pt x="0" y="1173861"/>
                  </a:cubicBezTo>
                  <a:close/>
                </a:path>
              </a:pathLst>
            </a:custGeom>
            <a:solidFill>
              <a:srgbClr val="0D9488"/>
            </a:solidFill>
            <a:ln w="25400" cap="sq">
              <a:solidFill>
                <a:srgbClr val="0D9488"/>
              </a:solidFill>
              <a:prstDash val="solid"/>
              <a:miter/>
            </a:ln>
          </p:spPr>
        </p:sp>
      </p:grpSp>
      <p:grpSp>
        <p:nvGrpSpPr>
          <p:cNvPr name="Group 43" id="43"/>
          <p:cNvGrpSpPr/>
          <p:nvPr/>
        </p:nvGrpSpPr>
        <p:grpSpPr>
          <a:xfrm rot="0">
            <a:off x="9326880" y="3566160"/>
            <a:ext cx="822960" cy="1005840"/>
            <a:chOff x="0" y="0"/>
            <a:chExt cx="1097280" cy="1341120"/>
          </a:xfrm>
        </p:grpSpPr>
        <p:sp>
          <p:nvSpPr>
            <p:cNvPr name="Freeform 44" id="44"/>
            <p:cNvSpPr/>
            <p:nvPr/>
          </p:nvSpPr>
          <p:spPr>
            <a:xfrm flipH="false" flipV="false" rot="0">
              <a:off x="0" y="0"/>
              <a:ext cx="1097280" cy="1341120"/>
            </a:xfrm>
            <a:custGeom>
              <a:avLst/>
              <a:gdLst/>
              <a:ahLst/>
              <a:cxnLst/>
              <a:rect r="r" b="b" t="t" l="l"/>
              <a:pathLst>
                <a:path h="1341120" w="1097280">
                  <a:moveTo>
                    <a:pt x="0" y="0"/>
                  </a:moveTo>
                  <a:lnTo>
                    <a:pt x="1097280" y="0"/>
                  </a:lnTo>
                  <a:lnTo>
                    <a:pt x="1097280" y="1341120"/>
                  </a:lnTo>
                  <a:lnTo>
                    <a:pt x="0" y="1341120"/>
                  </a:lnTo>
                  <a:close/>
                </a:path>
              </a:pathLst>
            </a:custGeom>
            <a:blipFill>
              <a:blip r:embed="rId3">
                <a:alphaModFix amt="0"/>
              </a:blip>
              <a:stretch>
                <a:fillRect l="-106815" t="0" r="-106815" b="0"/>
              </a:stretch>
            </a:blipFill>
          </p:spPr>
        </p:sp>
        <p:sp>
          <p:nvSpPr>
            <p:cNvPr name="TextBox 45" id="45"/>
            <p:cNvSpPr txBox="true"/>
            <p:nvPr/>
          </p:nvSpPr>
          <p:spPr>
            <a:xfrm>
              <a:off x="0" y="9525"/>
              <a:ext cx="1097280" cy="1331595"/>
            </a:xfrm>
            <a:prstGeom prst="rect">
              <a:avLst/>
            </a:prstGeom>
          </p:spPr>
          <p:txBody>
            <a:bodyPr anchor="ctr" rtlCol="false" tIns="0" lIns="0" bIns="0" rIns="0"/>
            <a:lstStyle/>
            <a:p>
              <a:pPr algn="ctr">
                <a:lnSpc>
                  <a:spcPts val="2879"/>
                </a:lnSpc>
              </a:pPr>
              <a:r>
                <a:rPr lang="en-US" sz="2400" b="true">
                  <a:solidFill>
                    <a:srgbClr val="FFFFFF"/>
                  </a:solidFill>
                  <a:latin typeface="Proxima Nova Bold"/>
                  <a:ea typeface="Proxima Nova Bold"/>
                  <a:cs typeface="Proxima Nova Bold"/>
                  <a:sym typeface="Proxima Nova Bold"/>
                </a:rPr>
                <a:t>4</a:t>
              </a:r>
            </a:p>
          </p:txBody>
        </p:sp>
      </p:grpSp>
      <p:grpSp>
        <p:nvGrpSpPr>
          <p:cNvPr name="Group 46" id="46"/>
          <p:cNvGrpSpPr/>
          <p:nvPr/>
        </p:nvGrpSpPr>
        <p:grpSpPr>
          <a:xfrm rot="0">
            <a:off x="10332720" y="3566160"/>
            <a:ext cx="6858000" cy="1005840"/>
            <a:chOff x="0" y="0"/>
            <a:chExt cx="9144000" cy="1341120"/>
          </a:xfrm>
        </p:grpSpPr>
        <p:sp>
          <p:nvSpPr>
            <p:cNvPr name="Freeform 47" id="47"/>
            <p:cNvSpPr/>
            <p:nvPr/>
          </p:nvSpPr>
          <p:spPr>
            <a:xfrm flipH="false" flipV="false" rot="0">
              <a:off x="0" y="0"/>
              <a:ext cx="9144000" cy="1341120"/>
            </a:xfrm>
            <a:custGeom>
              <a:avLst/>
              <a:gdLst/>
              <a:ahLst/>
              <a:cxnLst/>
              <a:rect r="r" b="b" t="t" l="l"/>
              <a:pathLst>
                <a:path h="1341120" w="9144000">
                  <a:moveTo>
                    <a:pt x="0" y="0"/>
                  </a:moveTo>
                  <a:lnTo>
                    <a:pt x="9144000" y="0"/>
                  </a:lnTo>
                  <a:lnTo>
                    <a:pt x="9144000" y="1341120"/>
                  </a:lnTo>
                  <a:lnTo>
                    <a:pt x="0" y="1341120"/>
                  </a:lnTo>
                  <a:close/>
                </a:path>
              </a:pathLst>
            </a:custGeom>
            <a:blipFill>
              <a:blip r:embed="rId3">
                <a:alphaModFix amt="0"/>
              </a:blip>
              <a:stretch>
                <a:fillRect l="0" t="-82852" r="0" b="-82852"/>
              </a:stretch>
            </a:blipFill>
          </p:spPr>
        </p:sp>
        <p:sp>
          <p:nvSpPr>
            <p:cNvPr name="TextBox 48" id="48"/>
            <p:cNvSpPr txBox="true"/>
            <p:nvPr/>
          </p:nvSpPr>
          <p:spPr>
            <a:xfrm>
              <a:off x="0" y="0"/>
              <a:ext cx="9144000" cy="1341120"/>
            </a:xfrm>
            <a:prstGeom prst="rect">
              <a:avLst/>
            </a:prstGeom>
          </p:spPr>
          <p:txBody>
            <a:bodyPr anchor="ctr" rtlCol="false" tIns="0" lIns="0" bIns="0" rIns="0"/>
            <a:lstStyle/>
            <a:p>
              <a:pPr algn="ctr">
                <a:lnSpc>
                  <a:spcPts val="3719"/>
                </a:lnSpc>
              </a:pPr>
              <a:r>
                <a:rPr lang="en-US" sz="3099" b="true">
                  <a:solidFill>
                    <a:srgbClr val="1E293B"/>
                  </a:solidFill>
                  <a:latin typeface="Proxima Nova Bold"/>
                  <a:ea typeface="Proxima Nova Bold"/>
                  <a:cs typeface="Proxima Nova Bold"/>
                  <a:sym typeface="Proxima Nova Bold"/>
                </a:rPr>
                <a:t>Monthly SIP Inflows</a:t>
              </a:r>
            </a:p>
          </p:txBody>
        </p:sp>
      </p:grpSp>
      <p:grpSp>
        <p:nvGrpSpPr>
          <p:cNvPr name="Group 49" id="49"/>
          <p:cNvGrpSpPr/>
          <p:nvPr/>
        </p:nvGrpSpPr>
        <p:grpSpPr>
          <a:xfrm rot="0">
            <a:off x="627383" y="4742183"/>
            <a:ext cx="7980683" cy="1031243"/>
            <a:chOff x="0" y="0"/>
            <a:chExt cx="10640911" cy="1374991"/>
          </a:xfrm>
        </p:grpSpPr>
        <p:sp>
          <p:nvSpPr>
            <p:cNvPr name="Freeform 50" id="50"/>
            <p:cNvSpPr/>
            <p:nvPr/>
          </p:nvSpPr>
          <p:spPr>
            <a:xfrm flipH="false" flipV="false" rot="0">
              <a:off x="0" y="0"/>
              <a:ext cx="10640949" cy="1375029"/>
            </a:xfrm>
            <a:custGeom>
              <a:avLst/>
              <a:gdLst/>
              <a:ahLst/>
              <a:cxnLst/>
              <a:rect r="r" b="b" t="t" l="l"/>
              <a:pathLst>
                <a:path h="1375029" w="10640949">
                  <a:moveTo>
                    <a:pt x="0" y="200025"/>
                  </a:moveTo>
                  <a:cubicBezTo>
                    <a:pt x="0" y="89535"/>
                    <a:pt x="89535" y="0"/>
                    <a:pt x="200025" y="0"/>
                  </a:cubicBezTo>
                  <a:lnTo>
                    <a:pt x="10440924" y="0"/>
                  </a:lnTo>
                  <a:cubicBezTo>
                    <a:pt x="10551414" y="0"/>
                    <a:pt x="10640949" y="89535"/>
                    <a:pt x="10640949" y="200025"/>
                  </a:cubicBezTo>
                  <a:lnTo>
                    <a:pt x="10640949" y="1175004"/>
                  </a:lnTo>
                  <a:cubicBezTo>
                    <a:pt x="10640949" y="1285494"/>
                    <a:pt x="10551414" y="1375029"/>
                    <a:pt x="10440924" y="1375029"/>
                  </a:cubicBezTo>
                  <a:lnTo>
                    <a:pt x="200025" y="1375029"/>
                  </a:lnTo>
                  <a:cubicBezTo>
                    <a:pt x="89535" y="1375029"/>
                    <a:pt x="0" y="1285494"/>
                    <a:pt x="0" y="1175004"/>
                  </a:cubicBezTo>
                  <a:close/>
                </a:path>
              </a:pathLst>
            </a:custGeom>
            <a:solidFill>
              <a:srgbClr val="FFFFFF"/>
            </a:solidFill>
            <a:ln w="25400" cap="sq">
              <a:solidFill>
                <a:srgbClr val="CBD5E1"/>
              </a:solidFill>
              <a:prstDash val="solid"/>
              <a:miter/>
            </a:ln>
          </p:spPr>
        </p:sp>
      </p:grpSp>
      <p:grpSp>
        <p:nvGrpSpPr>
          <p:cNvPr name="Group 51" id="51"/>
          <p:cNvGrpSpPr/>
          <p:nvPr/>
        </p:nvGrpSpPr>
        <p:grpSpPr>
          <a:xfrm rot="0">
            <a:off x="627383" y="4742183"/>
            <a:ext cx="848363" cy="1031243"/>
            <a:chOff x="0" y="0"/>
            <a:chExt cx="1131151" cy="1374991"/>
          </a:xfrm>
        </p:grpSpPr>
        <p:sp>
          <p:nvSpPr>
            <p:cNvPr name="Freeform 52" id="52"/>
            <p:cNvSpPr/>
            <p:nvPr/>
          </p:nvSpPr>
          <p:spPr>
            <a:xfrm flipH="false" flipV="false" rot="0">
              <a:off x="0" y="0"/>
              <a:ext cx="1131062" cy="1374902"/>
            </a:xfrm>
            <a:custGeom>
              <a:avLst/>
              <a:gdLst/>
              <a:ahLst/>
              <a:cxnLst/>
              <a:rect r="r" b="b" t="t" l="l"/>
              <a:pathLst>
                <a:path h="1374902" w="1131062">
                  <a:moveTo>
                    <a:pt x="0" y="201041"/>
                  </a:moveTo>
                  <a:cubicBezTo>
                    <a:pt x="0" y="90043"/>
                    <a:pt x="90043" y="0"/>
                    <a:pt x="201041" y="0"/>
                  </a:cubicBezTo>
                  <a:lnTo>
                    <a:pt x="930021" y="0"/>
                  </a:lnTo>
                  <a:cubicBezTo>
                    <a:pt x="1041146" y="0"/>
                    <a:pt x="1131062" y="90043"/>
                    <a:pt x="1131062" y="201041"/>
                  </a:cubicBezTo>
                  <a:lnTo>
                    <a:pt x="1131062" y="1173861"/>
                  </a:lnTo>
                  <a:cubicBezTo>
                    <a:pt x="1131062" y="1284986"/>
                    <a:pt x="1041019" y="1374902"/>
                    <a:pt x="930021" y="1374902"/>
                  </a:cubicBezTo>
                  <a:lnTo>
                    <a:pt x="201041" y="1374902"/>
                  </a:lnTo>
                  <a:cubicBezTo>
                    <a:pt x="90043" y="1375029"/>
                    <a:pt x="0" y="1284986"/>
                    <a:pt x="0" y="1173861"/>
                  </a:cubicBezTo>
                  <a:close/>
                </a:path>
              </a:pathLst>
            </a:custGeom>
            <a:solidFill>
              <a:srgbClr val="0D9488"/>
            </a:solidFill>
            <a:ln w="25400" cap="sq">
              <a:solidFill>
                <a:srgbClr val="0D9488"/>
              </a:solidFill>
              <a:prstDash val="solid"/>
              <a:miter/>
            </a:ln>
          </p:spPr>
        </p:sp>
      </p:grpSp>
      <p:grpSp>
        <p:nvGrpSpPr>
          <p:cNvPr name="Group 53" id="53"/>
          <p:cNvGrpSpPr/>
          <p:nvPr/>
        </p:nvGrpSpPr>
        <p:grpSpPr>
          <a:xfrm rot="0">
            <a:off x="640080" y="4754880"/>
            <a:ext cx="822960" cy="1005840"/>
            <a:chOff x="0" y="0"/>
            <a:chExt cx="1097280" cy="1341120"/>
          </a:xfrm>
        </p:grpSpPr>
        <p:sp>
          <p:nvSpPr>
            <p:cNvPr name="Freeform 54" id="54"/>
            <p:cNvSpPr/>
            <p:nvPr/>
          </p:nvSpPr>
          <p:spPr>
            <a:xfrm flipH="false" flipV="false" rot="0">
              <a:off x="0" y="0"/>
              <a:ext cx="1097280" cy="1341120"/>
            </a:xfrm>
            <a:custGeom>
              <a:avLst/>
              <a:gdLst/>
              <a:ahLst/>
              <a:cxnLst/>
              <a:rect r="r" b="b" t="t" l="l"/>
              <a:pathLst>
                <a:path h="1341120" w="1097280">
                  <a:moveTo>
                    <a:pt x="0" y="0"/>
                  </a:moveTo>
                  <a:lnTo>
                    <a:pt x="1097280" y="0"/>
                  </a:lnTo>
                  <a:lnTo>
                    <a:pt x="1097280" y="1341120"/>
                  </a:lnTo>
                  <a:lnTo>
                    <a:pt x="0" y="1341120"/>
                  </a:lnTo>
                  <a:close/>
                </a:path>
              </a:pathLst>
            </a:custGeom>
            <a:blipFill>
              <a:blip r:embed="rId3">
                <a:alphaModFix amt="0"/>
              </a:blip>
              <a:stretch>
                <a:fillRect l="-106815" t="0" r="-106815" b="0"/>
              </a:stretch>
            </a:blipFill>
          </p:spPr>
        </p:sp>
        <p:sp>
          <p:nvSpPr>
            <p:cNvPr name="TextBox 55" id="55"/>
            <p:cNvSpPr txBox="true"/>
            <p:nvPr/>
          </p:nvSpPr>
          <p:spPr>
            <a:xfrm>
              <a:off x="0" y="9525"/>
              <a:ext cx="1097280" cy="1331595"/>
            </a:xfrm>
            <a:prstGeom prst="rect">
              <a:avLst/>
            </a:prstGeom>
          </p:spPr>
          <p:txBody>
            <a:bodyPr anchor="ctr" rtlCol="false" tIns="0" lIns="0" bIns="0" rIns="0"/>
            <a:lstStyle/>
            <a:p>
              <a:pPr algn="ctr">
                <a:lnSpc>
                  <a:spcPts val="2879"/>
                </a:lnSpc>
              </a:pPr>
              <a:r>
                <a:rPr lang="en-US" sz="2400" b="true">
                  <a:solidFill>
                    <a:srgbClr val="FFFFFF"/>
                  </a:solidFill>
                  <a:latin typeface="Proxima Nova Bold"/>
                  <a:ea typeface="Proxima Nova Bold"/>
                  <a:cs typeface="Proxima Nova Bold"/>
                  <a:sym typeface="Proxima Nova Bold"/>
                </a:rPr>
                <a:t>5</a:t>
              </a:r>
            </a:p>
          </p:txBody>
        </p:sp>
      </p:grpSp>
      <p:grpSp>
        <p:nvGrpSpPr>
          <p:cNvPr name="Group 56" id="56"/>
          <p:cNvGrpSpPr/>
          <p:nvPr/>
        </p:nvGrpSpPr>
        <p:grpSpPr>
          <a:xfrm rot="0">
            <a:off x="1645920" y="4754880"/>
            <a:ext cx="6858000" cy="1005840"/>
            <a:chOff x="0" y="0"/>
            <a:chExt cx="9144000" cy="1341120"/>
          </a:xfrm>
        </p:grpSpPr>
        <p:sp>
          <p:nvSpPr>
            <p:cNvPr name="Freeform 57" id="57"/>
            <p:cNvSpPr/>
            <p:nvPr/>
          </p:nvSpPr>
          <p:spPr>
            <a:xfrm flipH="false" flipV="false" rot="0">
              <a:off x="0" y="0"/>
              <a:ext cx="9144000" cy="1341120"/>
            </a:xfrm>
            <a:custGeom>
              <a:avLst/>
              <a:gdLst/>
              <a:ahLst/>
              <a:cxnLst/>
              <a:rect r="r" b="b" t="t" l="l"/>
              <a:pathLst>
                <a:path h="1341120" w="9144000">
                  <a:moveTo>
                    <a:pt x="0" y="0"/>
                  </a:moveTo>
                  <a:lnTo>
                    <a:pt x="9144000" y="0"/>
                  </a:lnTo>
                  <a:lnTo>
                    <a:pt x="9144000" y="1341120"/>
                  </a:lnTo>
                  <a:lnTo>
                    <a:pt x="0" y="1341120"/>
                  </a:lnTo>
                  <a:close/>
                </a:path>
              </a:pathLst>
            </a:custGeom>
            <a:blipFill>
              <a:blip r:embed="rId3">
                <a:alphaModFix amt="0"/>
              </a:blip>
              <a:stretch>
                <a:fillRect l="0" t="-82852" r="0" b="-82852"/>
              </a:stretch>
            </a:blipFill>
          </p:spPr>
        </p:sp>
        <p:sp>
          <p:nvSpPr>
            <p:cNvPr name="TextBox 58" id="58"/>
            <p:cNvSpPr txBox="true"/>
            <p:nvPr/>
          </p:nvSpPr>
          <p:spPr>
            <a:xfrm>
              <a:off x="0" y="0"/>
              <a:ext cx="9144000" cy="1341120"/>
            </a:xfrm>
            <a:prstGeom prst="rect">
              <a:avLst/>
            </a:prstGeom>
          </p:spPr>
          <p:txBody>
            <a:bodyPr anchor="ctr" rtlCol="false" tIns="0" lIns="0" bIns="0" rIns="0"/>
            <a:lstStyle/>
            <a:p>
              <a:pPr algn="ctr">
                <a:lnSpc>
                  <a:spcPts val="3719"/>
                </a:lnSpc>
              </a:pPr>
              <a:r>
                <a:rPr lang="en-US" sz="3099" b="true">
                  <a:solidFill>
                    <a:srgbClr val="1E293B"/>
                  </a:solidFill>
                  <a:latin typeface="Proxima Nova Bold"/>
                  <a:ea typeface="Proxima Nova Bold"/>
                  <a:cs typeface="Proxima Nova Bold"/>
                  <a:sym typeface="Proxima Nova Bold"/>
                </a:rPr>
                <a:t>Category Inflows</a:t>
              </a:r>
            </a:p>
          </p:txBody>
        </p:sp>
      </p:grpSp>
      <p:grpSp>
        <p:nvGrpSpPr>
          <p:cNvPr name="Group 59" id="59"/>
          <p:cNvGrpSpPr/>
          <p:nvPr/>
        </p:nvGrpSpPr>
        <p:grpSpPr>
          <a:xfrm rot="0">
            <a:off x="9314183" y="4742183"/>
            <a:ext cx="7980683" cy="1031243"/>
            <a:chOff x="0" y="0"/>
            <a:chExt cx="10640911" cy="1374991"/>
          </a:xfrm>
        </p:grpSpPr>
        <p:sp>
          <p:nvSpPr>
            <p:cNvPr name="Freeform 60" id="60"/>
            <p:cNvSpPr/>
            <p:nvPr/>
          </p:nvSpPr>
          <p:spPr>
            <a:xfrm flipH="false" flipV="false" rot="0">
              <a:off x="0" y="0"/>
              <a:ext cx="10640949" cy="1375029"/>
            </a:xfrm>
            <a:custGeom>
              <a:avLst/>
              <a:gdLst/>
              <a:ahLst/>
              <a:cxnLst/>
              <a:rect r="r" b="b" t="t" l="l"/>
              <a:pathLst>
                <a:path h="1375029" w="10640949">
                  <a:moveTo>
                    <a:pt x="0" y="200025"/>
                  </a:moveTo>
                  <a:cubicBezTo>
                    <a:pt x="0" y="89535"/>
                    <a:pt x="89535" y="0"/>
                    <a:pt x="200025" y="0"/>
                  </a:cubicBezTo>
                  <a:lnTo>
                    <a:pt x="10440924" y="0"/>
                  </a:lnTo>
                  <a:cubicBezTo>
                    <a:pt x="10551414" y="0"/>
                    <a:pt x="10640949" y="89535"/>
                    <a:pt x="10640949" y="200025"/>
                  </a:cubicBezTo>
                  <a:lnTo>
                    <a:pt x="10640949" y="1175004"/>
                  </a:lnTo>
                  <a:cubicBezTo>
                    <a:pt x="10640949" y="1285494"/>
                    <a:pt x="10551414" y="1375029"/>
                    <a:pt x="10440924" y="1375029"/>
                  </a:cubicBezTo>
                  <a:lnTo>
                    <a:pt x="200025" y="1375029"/>
                  </a:lnTo>
                  <a:cubicBezTo>
                    <a:pt x="89535" y="1375029"/>
                    <a:pt x="0" y="1285494"/>
                    <a:pt x="0" y="1175004"/>
                  </a:cubicBezTo>
                  <a:close/>
                </a:path>
              </a:pathLst>
            </a:custGeom>
            <a:solidFill>
              <a:srgbClr val="FFFFFF"/>
            </a:solidFill>
            <a:ln w="25400" cap="sq">
              <a:solidFill>
                <a:srgbClr val="CBD5E1"/>
              </a:solidFill>
              <a:prstDash val="solid"/>
              <a:miter/>
            </a:ln>
          </p:spPr>
        </p:sp>
      </p:grpSp>
      <p:grpSp>
        <p:nvGrpSpPr>
          <p:cNvPr name="Group 61" id="61"/>
          <p:cNvGrpSpPr/>
          <p:nvPr/>
        </p:nvGrpSpPr>
        <p:grpSpPr>
          <a:xfrm rot="0">
            <a:off x="9314183" y="4742183"/>
            <a:ext cx="848363" cy="1031243"/>
            <a:chOff x="0" y="0"/>
            <a:chExt cx="1131151" cy="1374991"/>
          </a:xfrm>
        </p:grpSpPr>
        <p:sp>
          <p:nvSpPr>
            <p:cNvPr name="Freeform 62" id="62"/>
            <p:cNvSpPr/>
            <p:nvPr/>
          </p:nvSpPr>
          <p:spPr>
            <a:xfrm flipH="false" flipV="false" rot="0">
              <a:off x="0" y="0"/>
              <a:ext cx="1131062" cy="1374902"/>
            </a:xfrm>
            <a:custGeom>
              <a:avLst/>
              <a:gdLst/>
              <a:ahLst/>
              <a:cxnLst/>
              <a:rect r="r" b="b" t="t" l="l"/>
              <a:pathLst>
                <a:path h="1374902" w="1131062">
                  <a:moveTo>
                    <a:pt x="0" y="201041"/>
                  </a:moveTo>
                  <a:cubicBezTo>
                    <a:pt x="0" y="90043"/>
                    <a:pt x="90043" y="0"/>
                    <a:pt x="201041" y="0"/>
                  </a:cubicBezTo>
                  <a:lnTo>
                    <a:pt x="930021" y="0"/>
                  </a:lnTo>
                  <a:cubicBezTo>
                    <a:pt x="1041146" y="0"/>
                    <a:pt x="1131062" y="90043"/>
                    <a:pt x="1131062" y="201041"/>
                  </a:cubicBezTo>
                  <a:lnTo>
                    <a:pt x="1131062" y="1173861"/>
                  </a:lnTo>
                  <a:cubicBezTo>
                    <a:pt x="1131062" y="1284986"/>
                    <a:pt x="1041019" y="1374902"/>
                    <a:pt x="930021" y="1374902"/>
                  </a:cubicBezTo>
                  <a:lnTo>
                    <a:pt x="201041" y="1374902"/>
                  </a:lnTo>
                  <a:cubicBezTo>
                    <a:pt x="90043" y="1375029"/>
                    <a:pt x="0" y="1284986"/>
                    <a:pt x="0" y="1173861"/>
                  </a:cubicBezTo>
                  <a:close/>
                </a:path>
              </a:pathLst>
            </a:custGeom>
            <a:solidFill>
              <a:srgbClr val="0D9488"/>
            </a:solidFill>
            <a:ln w="25400" cap="sq">
              <a:solidFill>
                <a:srgbClr val="0D9488"/>
              </a:solidFill>
              <a:prstDash val="solid"/>
              <a:miter/>
            </a:ln>
          </p:spPr>
        </p:sp>
      </p:grpSp>
      <p:grpSp>
        <p:nvGrpSpPr>
          <p:cNvPr name="Group 63" id="63"/>
          <p:cNvGrpSpPr/>
          <p:nvPr/>
        </p:nvGrpSpPr>
        <p:grpSpPr>
          <a:xfrm rot="0">
            <a:off x="9326880" y="4754880"/>
            <a:ext cx="822960" cy="1005840"/>
            <a:chOff x="0" y="0"/>
            <a:chExt cx="1097280" cy="1341120"/>
          </a:xfrm>
        </p:grpSpPr>
        <p:sp>
          <p:nvSpPr>
            <p:cNvPr name="Freeform 64" id="64"/>
            <p:cNvSpPr/>
            <p:nvPr/>
          </p:nvSpPr>
          <p:spPr>
            <a:xfrm flipH="false" flipV="false" rot="0">
              <a:off x="0" y="0"/>
              <a:ext cx="1097280" cy="1341120"/>
            </a:xfrm>
            <a:custGeom>
              <a:avLst/>
              <a:gdLst/>
              <a:ahLst/>
              <a:cxnLst/>
              <a:rect r="r" b="b" t="t" l="l"/>
              <a:pathLst>
                <a:path h="1341120" w="1097280">
                  <a:moveTo>
                    <a:pt x="0" y="0"/>
                  </a:moveTo>
                  <a:lnTo>
                    <a:pt x="1097280" y="0"/>
                  </a:lnTo>
                  <a:lnTo>
                    <a:pt x="1097280" y="1341120"/>
                  </a:lnTo>
                  <a:lnTo>
                    <a:pt x="0" y="1341120"/>
                  </a:lnTo>
                  <a:close/>
                </a:path>
              </a:pathLst>
            </a:custGeom>
            <a:blipFill>
              <a:blip r:embed="rId3">
                <a:alphaModFix amt="0"/>
              </a:blip>
              <a:stretch>
                <a:fillRect l="-106815" t="0" r="-106815" b="0"/>
              </a:stretch>
            </a:blipFill>
          </p:spPr>
        </p:sp>
        <p:sp>
          <p:nvSpPr>
            <p:cNvPr name="TextBox 65" id="65"/>
            <p:cNvSpPr txBox="true"/>
            <p:nvPr/>
          </p:nvSpPr>
          <p:spPr>
            <a:xfrm>
              <a:off x="0" y="9525"/>
              <a:ext cx="1097280" cy="1331595"/>
            </a:xfrm>
            <a:prstGeom prst="rect">
              <a:avLst/>
            </a:prstGeom>
          </p:spPr>
          <p:txBody>
            <a:bodyPr anchor="ctr" rtlCol="false" tIns="0" lIns="0" bIns="0" rIns="0"/>
            <a:lstStyle/>
            <a:p>
              <a:pPr algn="ctr">
                <a:lnSpc>
                  <a:spcPts val="2879"/>
                </a:lnSpc>
              </a:pPr>
              <a:r>
                <a:rPr lang="en-US" sz="2400" b="true">
                  <a:solidFill>
                    <a:srgbClr val="FFFFFF"/>
                  </a:solidFill>
                  <a:latin typeface="Proxima Nova Bold"/>
                  <a:ea typeface="Proxima Nova Bold"/>
                  <a:cs typeface="Proxima Nova Bold"/>
                  <a:sym typeface="Proxima Nova Bold"/>
                </a:rPr>
                <a:t>6</a:t>
              </a:r>
            </a:p>
          </p:txBody>
        </p:sp>
      </p:grpSp>
      <p:grpSp>
        <p:nvGrpSpPr>
          <p:cNvPr name="Group 66" id="66"/>
          <p:cNvGrpSpPr/>
          <p:nvPr/>
        </p:nvGrpSpPr>
        <p:grpSpPr>
          <a:xfrm rot="0">
            <a:off x="10332720" y="4754880"/>
            <a:ext cx="6858000" cy="1005840"/>
            <a:chOff x="0" y="0"/>
            <a:chExt cx="9144000" cy="1341120"/>
          </a:xfrm>
        </p:grpSpPr>
        <p:sp>
          <p:nvSpPr>
            <p:cNvPr name="Freeform 67" id="67"/>
            <p:cNvSpPr/>
            <p:nvPr/>
          </p:nvSpPr>
          <p:spPr>
            <a:xfrm flipH="false" flipV="false" rot="0">
              <a:off x="0" y="0"/>
              <a:ext cx="9144000" cy="1341120"/>
            </a:xfrm>
            <a:custGeom>
              <a:avLst/>
              <a:gdLst/>
              <a:ahLst/>
              <a:cxnLst/>
              <a:rect r="r" b="b" t="t" l="l"/>
              <a:pathLst>
                <a:path h="1341120" w="9144000">
                  <a:moveTo>
                    <a:pt x="0" y="0"/>
                  </a:moveTo>
                  <a:lnTo>
                    <a:pt x="9144000" y="0"/>
                  </a:lnTo>
                  <a:lnTo>
                    <a:pt x="9144000" y="1341120"/>
                  </a:lnTo>
                  <a:lnTo>
                    <a:pt x="0" y="1341120"/>
                  </a:lnTo>
                  <a:close/>
                </a:path>
              </a:pathLst>
            </a:custGeom>
            <a:blipFill>
              <a:blip r:embed="rId3">
                <a:alphaModFix amt="0"/>
              </a:blip>
              <a:stretch>
                <a:fillRect l="0" t="-82852" r="0" b="-82852"/>
              </a:stretch>
            </a:blipFill>
          </p:spPr>
        </p:sp>
        <p:sp>
          <p:nvSpPr>
            <p:cNvPr name="TextBox 68" id="68"/>
            <p:cNvSpPr txBox="true"/>
            <p:nvPr/>
          </p:nvSpPr>
          <p:spPr>
            <a:xfrm>
              <a:off x="0" y="0"/>
              <a:ext cx="9144000" cy="1341120"/>
            </a:xfrm>
            <a:prstGeom prst="rect">
              <a:avLst/>
            </a:prstGeom>
          </p:spPr>
          <p:txBody>
            <a:bodyPr anchor="ctr" rtlCol="false" tIns="0" lIns="0" bIns="0" rIns="0"/>
            <a:lstStyle/>
            <a:p>
              <a:pPr algn="ctr">
                <a:lnSpc>
                  <a:spcPts val="3719"/>
                </a:lnSpc>
              </a:pPr>
              <a:r>
                <a:rPr lang="en-US" sz="3099" b="true">
                  <a:solidFill>
                    <a:srgbClr val="1E293B"/>
                  </a:solidFill>
                  <a:latin typeface="Proxima Nova Bold"/>
                  <a:ea typeface="Proxima Nova Bold"/>
                  <a:cs typeface="Proxima Nova Bold"/>
                  <a:sym typeface="Proxima Nova Bold"/>
                </a:rPr>
                <a:t>Industry Folio Count</a:t>
              </a:r>
            </a:p>
          </p:txBody>
        </p:sp>
      </p:grpSp>
      <p:grpSp>
        <p:nvGrpSpPr>
          <p:cNvPr name="Group 69" id="69"/>
          <p:cNvGrpSpPr/>
          <p:nvPr/>
        </p:nvGrpSpPr>
        <p:grpSpPr>
          <a:xfrm rot="0">
            <a:off x="627383" y="5930903"/>
            <a:ext cx="7980683" cy="1031243"/>
            <a:chOff x="0" y="0"/>
            <a:chExt cx="10640911" cy="1374991"/>
          </a:xfrm>
        </p:grpSpPr>
        <p:sp>
          <p:nvSpPr>
            <p:cNvPr name="Freeform 70" id="70"/>
            <p:cNvSpPr/>
            <p:nvPr/>
          </p:nvSpPr>
          <p:spPr>
            <a:xfrm flipH="false" flipV="false" rot="0">
              <a:off x="0" y="0"/>
              <a:ext cx="10640949" cy="1375029"/>
            </a:xfrm>
            <a:custGeom>
              <a:avLst/>
              <a:gdLst/>
              <a:ahLst/>
              <a:cxnLst/>
              <a:rect r="r" b="b" t="t" l="l"/>
              <a:pathLst>
                <a:path h="1375029" w="10640949">
                  <a:moveTo>
                    <a:pt x="0" y="200025"/>
                  </a:moveTo>
                  <a:cubicBezTo>
                    <a:pt x="0" y="89535"/>
                    <a:pt x="89535" y="0"/>
                    <a:pt x="200025" y="0"/>
                  </a:cubicBezTo>
                  <a:lnTo>
                    <a:pt x="10440924" y="0"/>
                  </a:lnTo>
                  <a:cubicBezTo>
                    <a:pt x="10551414" y="0"/>
                    <a:pt x="10640949" y="89535"/>
                    <a:pt x="10640949" y="200025"/>
                  </a:cubicBezTo>
                  <a:lnTo>
                    <a:pt x="10640949" y="1175004"/>
                  </a:lnTo>
                  <a:cubicBezTo>
                    <a:pt x="10640949" y="1285494"/>
                    <a:pt x="10551414" y="1375029"/>
                    <a:pt x="10440924" y="1375029"/>
                  </a:cubicBezTo>
                  <a:lnTo>
                    <a:pt x="200025" y="1375029"/>
                  </a:lnTo>
                  <a:cubicBezTo>
                    <a:pt x="89535" y="1375029"/>
                    <a:pt x="0" y="1285494"/>
                    <a:pt x="0" y="1175004"/>
                  </a:cubicBezTo>
                  <a:close/>
                </a:path>
              </a:pathLst>
            </a:custGeom>
            <a:solidFill>
              <a:srgbClr val="FFFFFF"/>
            </a:solidFill>
            <a:ln w="25400" cap="sq">
              <a:solidFill>
                <a:srgbClr val="CBD5E1"/>
              </a:solidFill>
              <a:prstDash val="solid"/>
              <a:miter/>
            </a:ln>
          </p:spPr>
        </p:sp>
      </p:grpSp>
      <p:grpSp>
        <p:nvGrpSpPr>
          <p:cNvPr name="Group 71" id="71"/>
          <p:cNvGrpSpPr/>
          <p:nvPr/>
        </p:nvGrpSpPr>
        <p:grpSpPr>
          <a:xfrm rot="0">
            <a:off x="627383" y="5930903"/>
            <a:ext cx="848363" cy="1031243"/>
            <a:chOff x="0" y="0"/>
            <a:chExt cx="1131151" cy="1374991"/>
          </a:xfrm>
        </p:grpSpPr>
        <p:sp>
          <p:nvSpPr>
            <p:cNvPr name="Freeform 72" id="72"/>
            <p:cNvSpPr/>
            <p:nvPr/>
          </p:nvSpPr>
          <p:spPr>
            <a:xfrm flipH="false" flipV="false" rot="0">
              <a:off x="0" y="0"/>
              <a:ext cx="1131062" cy="1374902"/>
            </a:xfrm>
            <a:custGeom>
              <a:avLst/>
              <a:gdLst/>
              <a:ahLst/>
              <a:cxnLst/>
              <a:rect r="r" b="b" t="t" l="l"/>
              <a:pathLst>
                <a:path h="1374902" w="1131062">
                  <a:moveTo>
                    <a:pt x="0" y="201041"/>
                  </a:moveTo>
                  <a:cubicBezTo>
                    <a:pt x="0" y="90043"/>
                    <a:pt x="90043" y="0"/>
                    <a:pt x="201041" y="0"/>
                  </a:cubicBezTo>
                  <a:lnTo>
                    <a:pt x="930021" y="0"/>
                  </a:lnTo>
                  <a:cubicBezTo>
                    <a:pt x="1041146" y="0"/>
                    <a:pt x="1131062" y="90043"/>
                    <a:pt x="1131062" y="201041"/>
                  </a:cubicBezTo>
                  <a:lnTo>
                    <a:pt x="1131062" y="1173861"/>
                  </a:lnTo>
                  <a:cubicBezTo>
                    <a:pt x="1131062" y="1284986"/>
                    <a:pt x="1041019" y="1374902"/>
                    <a:pt x="930021" y="1374902"/>
                  </a:cubicBezTo>
                  <a:lnTo>
                    <a:pt x="201041" y="1374902"/>
                  </a:lnTo>
                  <a:cubicBezTo>
                    <a:pt x="90043" y="1375029"/>
                    <a:pt x="0" y="1284986"/>
                    <a:pt x="0" y="1173861"/>
                  </a:cubicBezTo>
                  <a:close/>
                </a:path>
              </a:pathLst>
            </a:custGeom>
            <a:solidFill>
              <a:srgbClr val="0D9488"/>
            </a:solidFill>
            <a:ln w="25400" cap="sq">
              <a:solidFill>
                <a:srgbClr val="0D9488"/>
              </a:solidFill>
              <a:prstDash val="solid"/>
              <a:miter/>
            </a:ln>
          </p:spPr>
        </p:sp>
      </p:grpSp>
      <p:grpSp>
        <p:nvGrpSpPr>
          <p:cNvPr name="Group 73" id="73"/>
          <p:cNvGrpSpPr/>
          <p:nvPr/>
        </p:nvGrpSpPr>
        <p:grpSpPr>
          <a:xfrm rot="0">
            <a:off x="640080" y="5943600"/>
            <a:ext cx="822960" cy="1005840"/>
            <a:chOff x="0" y="0"/>
            <a:chExt cx="1097280" cy="1341120"/>
          </a:xfrm>
        </p:grpSpPr>
        <p:sp>
          <p:nvSpPr>
            <p:cNvPr name="Freeform 74" id="74"/>
            <p:cNvSpPr/>
            <p:nvPr/>
          </p:nvSpPr>
          <p:spPr>
            <a:xfrm flipH="false" flipV="false" rot="0">
              <a:off x="0" y="0"/>
              <a:ext cx="1097280" cy="1341120"/>
            </a:xfrm>
            <a:custGeom>
              <a:avLst/>
              <a:gdLst/>
              <a:ahLst/>
              <a:cxnLst/>
              <a:rect r="r" b="b" t="t" l="l"/>
              <a:pathLst>
                <a:path h="1341120" w="1097280">
                  <a:moveTo>
                    <a:pt x="0" y="0"/>
                  </a:moveTo>
                  <a:lnTo>
                    <a:pt x="1097280" y="0"/>
                  </a:lnTo>
                  <a:lnTo>
                    <a:pt x="1097280" y="1341120"/>
                  </a:lnTo>
                  <a:lnTo>
                    <a:pt x="0" y="1341120"/>
                  </a:lnTo>
                  <a:close/>
                </a:path>
              </a:pathLst>
            </a:custGeom>
            <a:blipFill>
              <a:blip r:embed="rId3">
                <a:alphaModFix amt="0"/>
              </a:blip>
              <a:stretch>
                <a:fillRect l="-106815" t="0" r="-106815" b="0"/>
              </a:stretch>
            </a:blipFill>
          </p:spPr>
        </p:sp>
        <p:sp>
          <p:nvSpPr>
            <p:cNvPr name="TextBox 75" id="75"/>
            <p:cNvSpPr txBox="true"/>
            <p:nvPr/>
          </p:nvSpPr>
          <p:spPr>
            <a:xfrm>
              <a:off x="0" y="9525"/>
              <a:ext cx="1097280" cy="1331595"/>
            </a:xfrm>
            <a:prstGeom prst="rect">
              <a:avLst/>
            </a:prstGeom>
          </p:spPr>
          <p:txBody>
            <a:bodyPr anchor="ctr" rtlCol="false" tIns="0" lIns="0" bIns="0" rIns="0"/>
            <a:lstStyle/>
            <a:p>
              <a:pPr algn="ctr">
                <a:lnSpc>
                  <a:spcPts val="2879"/>
                </a:lnSpc>
              </a:pPr>
              <a:r>
                <a:rPr lang="en-US" sz="2400" b="true">
                  <a:solidFill>
                    <a:srgbClr val="FFFFFF"/>
                  </a:solidFill>
                  <a:latin typeface="Proxima Nova Bold"/>
                  <a:ea typeface="Proxima Nova Bold"/>
                  <a:cs typeface="Proxima Nova Bold"/>
                  <a:sym typeface="Proxima Nova Bold"/>
                </a:rPr>
                <a:t>7</a:t>
              </a:r>
            </a:p>
          </p:txBody>
        </p:sp>
      </p:grpSp>
      <p:grpSp>
        <p:nvGrpSpPr>
          <p:cNvPr name="Group 76" id="76"/>
          <p:cNvGrpSpPr/>
          <p:nvPr/>
        </p:nvGrpSpPr>
        <p:grpSpPr>
          <a:xfrm rot="0">
            <a:off x="1645920" y="5943600"/>
            <a:ext cx="6858000" cy="1005840"/>
            <a:chOff x="0" y="0"/>
            <a:chExt cx="9144000" cy="1341120"/>
          </a:xfrm>
        </p:grpSpPr>
        <p:sp>
          <p:nvSpPr>
            <p:cNvPr name="Freeform 77" id="77"/>
            <p:cNvSpPr/>
            <p:nvPr/>
          </p:nvSpPr>
          <p:spPr>
            <a:xfrm flipH="false" flipV="false" rot="0">
              <a:off x="0" y="0"/>
              <a:ext cx="9144000" cy="1341120"/>
            </a:xfrm>
            <a:custGeom>
              <a:avLst/>
              <a:gdLst/>
              <a:ahLst/>
              <a:cxnLst/>
              <a:rect r="r" b="b" t="t" l="l"/>
              <a:pathLst>
                <a:path h="1341120" w="9144000">
                  <a:moveTo>
                    <a:pt x="0" y="0"/>
                  </a:moveTo>
                  <a:lnTo>
                    <a:pt x="9144000" y="0"/>
                  </a:lnTo>
                  <a:lnTo>
                    <a:pt x="9144000" y="1341120"/>
                  </a:lnTo>
                  <a:lnTo>
                    <a:pt x="0" y="1341120"/>
                  </a:lnTo>
                  <a:close/>
                </a:path>
              </a:pathLst>
            </a:custGeom>
            <a:blipFill>
              <a:blip r:embed="rId3">
                <a:alphaModFix amt="0"/>
              </a:blip>
              <a:stretch>
                <a:fillRect l="0" t="-82852" r="0" b="-82852"/>
              </a:stretch>
            </a:blipFill>
          </p:spPr>
        </p:sp>
        <p:sp>
          <p:nvSpPr>
            <p:cNvPr name="TextBox 78" id="78"/>
            <p:cNvSpPr txBox="true"/>
            <p:nvPr/>
          </p:nvSpPr>
          <p:spPr>
            <a:xfrm>
              <a:off x="0" y="0"/>
              <a:ext cx="9144000" cy="1341120"/>
            </a:xfrm>
            <a:prstGeom prst="rect">
              <a:avLst/>
            </a:prstGeom>
          </p:spPr>
          <p:txBody>
            <a:bodyPr anchor="ctr" rtlCol="false" tIns="0" lIns="0" bIns="0" rIns="0"/>
            <a:lstStyle/>
            <a:p>
              <a:pPr algn="ctr">
                <a:lnSpc>
                  <a:spcPts val="3719"/>
                </a:lnSpc>
              </a:pPr>
              <a:r>
                <a:rPr lang="en-US" sz="3099" b="true">
                  <a:solidFill>
                    <a:srgbClr val="1E293B"/>
                  </a:solidFill>
                  <a:latin typeface="Proxima Nova Bold"/>
                  <a:ea typeface="Proxima Nova Bold"/>
                  <a:cs typeface="Proxima Nova Bold"/>
                  <a:sym typeface="Proxima Nova Bold"/>
                </a:rPr>
                <a:t>Scheme Performance</a:t>
              </a:r>
            </a:p>
          </p:txBody>
        </p:sp>
      </p:grpSp>
      <p:grpSp>
        <p:nvGrpSpPr>
          <p:cNvPr name="Group 79" id="79"/>
          <p:cNvGrpSpPr/>
          <p:nvPr/>
        </p:nvGrpSpPr>
        <p:grpSpPr>
          <a:xfrm rot="0">
            <a:off x="9314183" y="5930903"/>
            <a:ext cx="7980683" cy="1031243"/>
            <a:chOff x="0" y="0"/>
            <a:chExt cx="10640911" cy="1374991"/>
          </a:xfrm>
        </p:grpSpPr>
        <p:sp>
          <p:nvSpPr>
            <p:cNvPr name="Freeform 80" id="80"/>
            <p:cNvSpPr/>
            <p:nvPr/>
          </p:nvSpPr>
          <p:spPr>
            <a:xfrm flipH="false" flipV="false" rot="0">
              <a:off x="0" y="0"/>
              <a:ext cx="10640949" cy="1375029"/>
            </a:xfrm>
            <a:custGeom>
              <a:avLst/>
              <a:gdLst/>
              <a:ahLst/>
              <a:cxnLst/>
              <a:rect r="r" b="b" t="t" l="l"/>
              <a:pathLst>
                <a:path h="1375029" w="10640949">
                  <a:moveTo>
                    <a:pt x="0" y="200025"/>
                  </a:moveTo>
                  <a:cubicBezTo>
                    <a:pt x="0" y="89535"/>
                    <a:pt x="89535" y="0"/>
                    <a:pt x="200025" y="0"/>
                  </a:cubicBezTo>
                  <a:lnTo>
                    <a:pt x="10440924" y="0"/>
                  </a:lnTo>
                  <a:cubicBezTo>
                    <a:pt x="10551414" y="0"/>
                    <a:pt x="10640949" y="89535"/>
                    <a:pt x="10640949" y="200025"/>
                  </a:cubicBezTo>
                  <a:lnTo>
                    <a:pt x="10640949" y="1175004"/>
                  </a:lnTo>
                  <a:cubicBezTo>
                    <a:pt x="10640949" y="1285494"/>
                    <a:pt x="10551414" y="1375029"/>
                    <a:pt x="10440924" y="1375029"/>
                  </a:cubicBezTo>
                  <a:lnTo>
                    <a:pt x="200025" y="1375029"/>
                  </a:lnTo>
                  <a:cubicBezTo>
                    <a:pt x="89535" y="1375029"/>
                    <a:pt x="0" y="1285494"/>
                    <a:pt x="0" y="1175004"/>
                  </a:cubicBezTo>
                  <a:close/>
                </a:path>
              </a:pathLst>
            </a:custGeom>
            <a:solidFill>
              <a:srgbClr val="FFFFFF"/>
            </a:solidFill>
            <a:ln w="25400" cap="sq">
              <a:solidFill>
                <a:srgbClr val="CBD5E1"/>
              </a:solidFill>
              <a:prstDash val="solid"/>
              <a:miter/>
            </a:ln>
          </p:spPr>
        </p:sp>
      </p:grpSp>
      <p:grpSp>
        <p:nvGrpSpPr>
          <p:cNvPr name="Group 81" id="81"/>
          <p:cNvGrpSpPr/>
          <p:nvPr/>
        </p:nvGrpSpPr>
        <p:grpSpPr>
          <a:xfrm rot="0">
            <a:off x="9314183" y="5930903"/>
            <a:ext cx="848363" cy="1031243"/>
            <a:chOff x="0" y="0"/>
            <a:chExt cx="1131151" cy="1374991"/>
          </a:xfrm>
        </p:grpSpPr>
        <p:sp>
          <p:nvSpPr>
            <p:cNvPr name="Freeform 82" id="82"/>
            <p:cNvSpPr/>
            <p:nvPr/>
          </p:nvSpPr>
          <p:spPr>
            <a:xfrm flipH="false" flipV="false" rot="0">
              <a:off x="0" y="0"/>
              <a:ext cx="1131062" cy="1374902"/>
            </a:xfrm>
            <a:custGeom>
              <a:avLst/>
              <a:gdLst/>
              <a:ahLst/>
              <a:cxnLst/>
              <a:rect r="r" b="b" t="t" l="l"/>
              <a:pathLst>
                <a:path h="1374902" w="1131062">
                  <a:moveTo>
                    <a:pt x="0" y="201041"/>
                  </a:moveTo>
                  <a:cubicBezTo>
                    <a:pt x="0" y="90043"/>
                    <a:pt x="90043" y="0"/>
                    <a:pt x="201041" y="0"/>
                  </a:cubicBezTo>
                  <a:lnTo>
                    <a:pt x="930021" y="0"/>
                  </a:lnTo>
                  <a:cubicBezTo>
                    <a:pt x="1041146" y="0"/>
                    <a:pt x="1131062" y="90043"/>
                    <a:pt x="1131062" y="201041"/>
                  </a:cubicBezTo>
                  <a:lnTo>
                    <a:pt x="1131062" y="1173861"/>
                  </a:lnTo>
                  <a:cubicBezTo>
                    <a:pt x="1131062" y="1284986"/>
                    <a:pt x="1041019" y="1374902"/>
                    <a:pt x="930021" y="1374902"/>
                  </a:cubicBezTo>
                  <a:lnTo>
                    <a:pt x="201041" y="1374902"/>
                  </a:lnTo>
                  <a:cubicBezTo>
                    <a:pt x="90043" y="1375029"/>
                    <a:pt x="0" y="1284986"/>
                    <a:pt x="0" y="1173861"/>
                  </a:cubicBezTo>
                  <a:close/>
                </a:path>
              </a:pathLst>
            </a:custGeom>
            <a:solidFill>
              <a:srgbClr val="0D9488"/>
            </a:solidFill>
            <a:ln w="25400" cap="sq">
              <a:solidFill>
                <a:srgbClr val="0D9488"/>
              </a:solidFill>
              <a:prstDash val="solid"/>
              <a:miter/>
            </a:ln>
          </p:spPr>
        </p:sp>
      </p:grpSp>
      <p:grpSp>
        <p:nvGrpSpPr>
          <p:cNvPr name="Group 83" id="83"/>
          <p:cNvGrpSpPr/>
          <p:nvPr/>
        </p:nvGrpSpPr>
        <p:grpSpPr>
          <a:xfrm rot="0">
            <a:off x="9326880" y="5943600"/>
            <a:ext cx="822960" cy="1005840"/>
            <a:chOff x="0" y="0"/>
            <a:chExt cx="1097280" cy="1341120"/>
          </a:xfrm>
        </p:grpSpPr>
        <p:sp>
          <p:nvSpPr>
            <p:cNvPr name="Freeform 84" id="84"/>
            <p:cNvSpPr/>
            <p:nvPr/>
          </p:nvSpPr>
          <p:spPr>
            <a:xfrm flipH="false" flipV="false" rot="0">
              <a:off x="0" y="0"/>
              <a:ext cx="1097280" cy="1341120"/>
            </a:xfrm>
            <a:custGeom>
              <a:avLst/>
              <a:gdLst/>
              <a:ahLst/>
              <a:cxnLst/>
              <a:rect r="r" b="b" t="t" l="l"/>
              <a:pathLst>
                <a:path h="1341120" w="1097280">
                  <a:moveTo>
                    <a:pt x="0" y="0"/>
                  </a:moveTo>
                  <a:lnTo>
                    <a:pt x="1097280" y="0"/>
                  </a:lnTo>
                  <a:lnTo>
                    <a:pt x="1097280" y="1341120"/>
                  </a:lnTo>
                  <a:lnTo>
                    <a:pt x="0" y="1341120"/>
                  </a:lnTo>
                  <a:close/>
                </a:path>
              </a:pathLst>
            </a:custGeom>
            <a:blipFill>
              <a:blip r:embed="rId3">
                <a:alphaModFix amt="0"/>
              </a:blip>
              <a:stretch>
                <a:fillRect l="-106815" t="0" r="-106815" b="0"/>
              </a:stretch>
            </a:blipFill>
          </p:spPr>
        </p:sp>
        <p:sp>
          <p:nvSpPr>
            <p:cNvPr name="TextBox 85" id="85"/>
            <p:cNvSpPr txBox="true"/>
            <p:nvPr/>
          </p:nvSpPr>
          <p:spPr>
            <a:xfrm>
              <a:off x="0" y="9525"/>
              <a:ext cx="1097280" cy="1331595"/>
            </a:xfrm>
            <a:prstGeom prst="rect">
              <a:avLst/>
            </a:prstGeom>
          </p:spPr>
          <p:txBody>
            <a:bodyPr anchor="ctr" rtlCol="false" tIns="0" lIns="0" bIns="0" rIns="0"/>
            <a:lstStyle/>
            <a:p>
              <a:pPr algn="ctr">
                <a:lnSpc>
                  <a:spcPts val="2879"/>
                </a:lnSpc>
              </a:pPr>
              <a:r>
                <a:rPr lang="en-US" sz="2400" b="true">
                  <a:solidFill>
                    <a:srgbClr val="FFFFFF"/>
                  </a:solidFill>
                  <a:latin typeface="Proxima Nova Bold"/>
                  <a:ea typeface="Proxima Nova Bold"/>
                  <a:cs typeface="Proxima Nova Bold"/>
                  <a:sym typeface="Proxima Nova Bold"/>
                </a:rPr>
                <a:t>8</a:t>
              </a:r>
            </a:p>
          </p:txBody>
        </p:sp>
      </p:grpSp>
      <p:grpSp>
        <p:nvGrpSpPr>
          <p:cNvPr name="Group 86" id="86"/>
          <p:cNvGrpSpPr/>
          <p:nvPr/>
        </p:nvGrpSpPr>
        <p:grpSpPr>
          <a:xfrm rot="0">
            <a:off x="10332720" y="5943600"/>
            <a:ext cx="6858000" cy="1005840"/>
            <a:chOff x="0" y="0"/>
            <a:chExt cx="9144000" cy="1341120"/>
          </a:xfrm>
        </p:grpSpPr>
        <p:sp>
          <p:nvSpPr>
            <p:cNvPr name="Freeform 87" id="87"/>
            <p:cNvSpPr/>
            <p:nvPr/>
          </p:nvSpPr>
          <p:spPr>
            <a:xfrm flipH="false" flipV="false" rot="0">
              <a:off x="0" y="0"/>
              <a:ext cx="9144000" cy="1341120"/>
            </a:xfrm>
            <a:custGeom>
              <a:avLst/>
              <a:gdLst/>
              <a:ahLst/>
              <a:cxnLst/>
              <a:rect r="r" b="b" t="t" l="l"/>
              <a:pathLst>
                <a:path h="1341120" w="9144000">
                  <a:moveTo>
                    <a:pt x="0" y="0"/>
                  </a:moveTo>
                  <a:lnTo>
                    <a:pt x="9144000" y="0"/>
                  </a:lnTo>
                  <a:lnTo>
                    <a:pt x="9144000" y="1341120"/>
                  </a:lnTo>
                  <a:lnTo>
                    <a:pt x="0" y="1341120"/>
                  </a:lnTo>
                  <a:close/>
                </a:path>
              </a:pathLst>
            </a:custGeom>
            <a:blipFill>
              <a:blip r:embed="rId3">
                <a:alphaModFix amt="0"/>
              </a:blip>
              <a:stretch>
                <a:fillRect l="0" t="-82852" r="0" b="-82852"/>
              </a:stretch>
            </a:blipFill>
          </p:spPr>
        </p:sp>
        <p:sp>
          <p:nvSpPr>
            <p:cNvPr name="TextBox 88" id="88"/>
            <p:cNvSpPr txBox="true"/>
            <p:nvPr/>
          </p:nvSpPr>
          <p:spPr>
            <a:xfrm>
              <a:off x="0" y="0"/>
              <a:ext cx="9144000" cy="1341120"/>
            </a:xfrm>
            <a:prstGeom prst="rect">
              <a:avLst/>
            </a:prstGeom>
          </p:spPr>
          <p:txBody>
            <a:bodyPr anchor="ctr" rtlCol="false" tIns="0" lIns="0" bIns="0" rIns="0"/>
            <a:lstStyle/>
            <a:p>
              <a:pPr algn="ctr">
                <a:lnSpc>
                  <a:spcPts val="3719"/>
                </a:lnSpc>
              </a:pPr>
              <a:r>
                <a:rPr lang="en-US" sz="3099" b="true">
                  <a:solidFill>
                    <a:srgbClr val="1E293B"/>
                  </a:solidFill>
                  <a:latin typeface="Proxima Nova Bold"/>
                  <a:ea typeface="Proxima Nova Bold"/>
                  <a:cs typeface="Proxima Nova Bold"/>
                  <a:sym typeface="Proxima Nova Bold"/>
                </a:rPr>
                <a:t>Investor Transactions</a:t>
              </a:r>
            </a:p>
          </p:txBody>
        </p:sp>
      </p:grpSp>
      <p:grpSp>
        <p:nvGrpSpPr>
          <p:cNvPr name="Group 89" id="89"/>
          <p:cNvGrpSpPr/>
          <p:nvPr/>
        </p:nvGrpSpPr>
        <p:grpSpPr>
          <a:xfrm rot="0">
            <a:off x="627383" y="7119623"/>
            <a:ext cx="7980683" cy="1031243"/>
            <a:chOff x="0" y="0"/>
            <a:chExt cx="10640911" cy="1374991"/>
          </a:xfrm>
        </p:grpSpPr>
        <p:sp>
          <p:nvSpPr>
            <p:cNvPr name="Freeform 90" id="90"/>
            <p:cNvSpPr/>
            <p:nvPr/>
          </p:nvSpPr>
          <p:spPr>
            <a:xfrm flipH="false" flipV="false" rot="0">
              <a:off x="0" y="0"/>
              <a:ext cx="10640949" cy="1375029"/>
            </a:xfrm>
            <a:custGeom>
              <a:avLst/>
              <a:gdLst/>
              <a:ahLst/>
              <a:cxnLst/>
              <a:rect r="r" b="b" t="t" l="l"/>
              <a:pathLst>
                <a:path h="1375029" w="10640949">
                  <a:moveTo>
                    <a:pt x="0" y="200025"/>
                  </a:moveTo>
                  <a:cubicBezTo>
                    <a:pt x="0" y="89535"/>
                    <a:pt x="89535" y="0"/>
                    <a:pt x="200025" y="0"/>
                  </a:cubicBezTo>
                  <a:lnTo>
                    <a:pt x="10440924" y="0"/>
                  </a:lnTo>
                  <a:cubicBezTo>
                    <a:pt x="10551414" y="0"/>
                    <a:pt x="10640949" y="89535"/>
                    <a:pt x="10640949" y="200025"/>
                  </a:cubicBezTo>
                  <a:lnTo>
                    <a:pt x="10640949" y="1175004"/>
                  </a:lnTo>
                  <a:cubicBezTo>
                    <a:pt x="10640949" y="1285494"/>
                    <a:pt x="10551414" y="1375029"/>
                    <a:pt x="10440924" y="1375029"/>
                  </a:cubicBezTo>
                  <a:lnTo>
                    <a:pt x="200025" y="1375029"/>
                  </a:lnTo>
                  <a:cubicBezTo>
                    <a:pt x="89535" y="1375029"/>
                    <a:pt x="0" y="1285494"/>
                    <a:pt x="0" y="1175004"/>
                  </a:cubicBezTo>
                  <a:close/>
                </a:path>
              </a:pathLst>
            </a:custGeom>
            <a:solidFill>
              <a:srgbClr val="FFFFFF"/>
            </a:solidFill>
            <a:ln w="25400" cap="sq">
              <a:solidFill>
                <a:srgbClr val="CBD5E1"/>
              </a:solidFill>
              <a:prstDash val="solid"/>
              <a:miter/>
            </a:ln>
          </p:spPr>
        </p:sp>
      </p:grpSp>
      <p:grpSp>
        <p:nvGrpSpPr>
          <p:cNvPr name="Group 91" id="91"/>
          <p:cNvGrpSpPr/>
          <p:nvPr/>
        </p:nvGrpSpPr>
        <p:grpSpPr>
          <a:xfrm rot="0">
            <a:off x="627383" y="7119623"/>
            <a:ext cx="848363" cy="1031243"/>
            <a:chOff x="0" y="0"/>
            <a:chExt cx="1131151" cy="1374991"/>
          </a:xfrm>
        </p:grpSpPr>
        <p:sp>
          <p:nvSpPr>
            <p:cNvPr name="Freeform 92" id="92"/>
            <p:cNvSpPr/>
            <p:nvPr/>
          </p:nvSpPr>
          <p:spPr>
            <a:xfrm flipH="false" flipV="false" rot="0">
              <a:off x="0" y="0"/>
              <a:ext cx="1131062" cy="1374902"/>
            </a:xfrm>
            <a:custGeom>
              <a:avLst/>
              <a:gdLst/>
              <a:ahLst/>
              <a:cxnLst/>
              <a:rect r="r" b="b" t="t" l="l"/>
              <a:pathLst>
                <a:path h="1374902" w="1131062">
                  <a:moveTo>
                    <a:pt x="0" y="201041"/>
                  </a:moveTo>
                  <a:cubicBezTo>
                    <a:pt x="0" y="90043"/>
                    <a:pt x="90043" y="0"/>
                    <a:pt x="201041" y="0"/>
                  </a:cubicBezTo>
                  <a:lnTo>
                    <a:pt x="930021" y="0"/>
                  </a:lnTo>
                  <a:cubicBezTo>
                    <a:pt x="1041146" y="0"/>
                    <a:pt x="1131062" y="90043"/>
                    <a:pt x="1131062" y="201041"/>
                  </a:cubicBezTo>
                  <a:lnTo>
                    <a:pt x="1131062" y="1173861"/>
                  </a:lnTo>
                  <a:cubicBezTo>
                    <a:pt x="1131062" y="1284986"/>
                    <a:pt x="1041019" y="1374902"/>
                    <a:pt x="930021" y="1374902"/>
                  </a:cubicBezTo>
                  <a:lnTo>
                    <a:pt x="201041" y="1374902"/>
                  </a:lnTo>
                  <a:cubicBezTo>
                    <a:pt x="90043" y="1375029"/>
                    <a:pt x="0" y="1284986"/>
                    <a:pt x="0" y="1173861"/>
                  </a:cubicBezTo>
                  <a:close/>
                </a:path>
              </a:pathLst>
            </a:custGeom>
            <a:solidFill>
              <a:srgbClr val="0D9488"/>
            </a:solidFill>
            <a:ln w="25400" cap="sq">
              <a:solidFill>
                <a:srgbClr val="0D9488"/>
              </a:solidFill>
              <a:prstDash val="solid"/>
              <a:miter/>
            </a:ln>
          </p:spPr>
        </p:sp>
      </p:grpSp>
      <p:grpSp>
        <p:nvGrpSpPr>
          <p:cNvPr name="Group 93" id="93"/>
          <p:cNvGrpSpPr/>
          <p:nvPr/>
        </p:nvGrpSpPr>
        <p:grpSpPr>
          <a:xfrm rot="0">
            <a:off x="640080" y="7132320"/>
            <a:ext cx="822960" cy="1005840"/>
            <a:chOff x="0" y="0"/>
            <a:chExt cx="1097280" cy="1341120"/>
          </a:xfrm>
        </p:grpSpPr>
        <p:sp>
          <p:nvSpPr>
            <p:cNvPr name="Freeform 94" id="94"/>
            <p:cNvSpPr/>
            <p:nvPr/>
          </p:nvSpPr>
          <p:spPr>
            <a:xfrm flipH="false" flipV="false" rot="0">
              <a:off x="0" y="0"/>
              <a:ext cx="1097280" cy="1341120"/>
            </a:xfrm>
            <a:custGeom>
              <a:avLst/>
              <a:gdLst/>
              <a:ahLst/>
              <a:cxnLst/>
              <a:rect r="r" b="b" t="t" l="l"/>
              <a:pathLst>
                <a:path h="1341120" w="1097280">
                  <a:moveTo>
                    <a:pt x="0" y="0"/>
                  </a:moveTo>
                  <a:lnTo>
                    <a:pt x="1097280" y="0"/>
                  </a:lnTo>
                  <a:lnTo>
                    <a:pt x="1097280" y="1341120"/>
                  </a:lnTo>
                  <a:lnTo>
                    <a:pt x="0" y="1341120"/>
                  </a:lnTo>
                  <a:close/>
                </a:path>
              </a:pathLst>
            </a:custGeom>
            <a:blipFill>
              <a:blip r:embed="rId3">
                <a:alphaModFix amt="0"/>
              </a:blip>
              <a:stretch>
                <a:fillRect l="-106815" t="0" r="-106815" b="0"/>
              </a:stretch>
            </a:blipFill>
          </p:spPr>
        </p:sp>
        <p:sp>
          <p:nvSpPr>
            <p:cNvPr name="TextBox 95" id="95"/>
            <p:cNvSpPr txBox="true"/>
            <p:nvPr/>
          </p:nvSpPr>
          <p:spPr>
            <a:xfrm>
              <a:off x="0" y="9525"/>
              <a:ext cx="1097280" cy="1331595"/>
            </a:xfrm>
            <a:prstGeom prst="rect">
              <a:avLst/>
            </a:prstGeom>
          </p:spPr>
          <p:txBody>
            <a:bodyPr anchor="ctr" rtlCol="false" tIns="0" lIns="0" bIns="0" rIns="0"/>
            <a:lstStyle/>
            <a:p>
              <a:pPr algn="ctr">
                <a:lnSpc>
                  <a:spcPts val="2879"/>
                </a:lnSpc>
              </a:pPr>
              <a:r>
                <a:rPr lang="en-US" sz="2400" b="true">
                  <a:solidFill>
                    <a:srgbClr val="FFFFFF"/>
                  </a:solidFill>
                  <a:latin typeface="Proxima Nova Bold"/>
                  <a:ea typeface="Proxima Nova Bold"/>
                  <a:cs typeface="Proxima Nova Bold"/>
                  <a:sym typeface="Proxima Nova Bold"/>
                </a:rPr>
                <a:t>9</a:t>
              </a:r>
            </a:p>
          </p:txBody>
        </p:sp>
      </p:grpSp>
      <p:grpSp>
        <p:nvGrpSpPr>
          <p:cNvPr name="Group 96" id="96"/>
          <p:cNvGrpSpPr/>
          <p:nvPr/>
        </p:nvGrpSpPr>
        <p:grpSpPr>
          <a:xfrm rot="0">
            <a:off x="1645920" y="7132320"/>
            <a:ext cx="6858000" cy="1005840"/>
            <a:chOff x="0" y="0"/>
            <a:chExt cx="9144000" cy="1341120"/>
          </a:xfrm>
        </p:grpSpPr>
        <p:sp>
          <p:nvSpPr>
            <p:cNvPr name="Freeform 97" id="97"/>
            <p:cNvSpPr/>
            <p:nvPr/>
          </p:nvSpPr>
          <p:spPr>
            <a:xfrm flipH="false" flipV="false" rot="0">
              <a:off x="0" y="0"/>
              <a:ext cx="9144000" cy="1341120"/>
            </a:xfrm>
            <a:custGeom>
              <a:avLst/>
              <a:gdLst/>
              <a:ahLst/>
              <a:cxnLst/>
              <a:rect r="r" b="b" t="t" l="l"/>
              <a:pathLst>
                <a:path h="1341120" w="9144000">
                  <a:moveTo>
                    <a:pt x="0" y="0"/>
                  </a:moveTo>
                  <a:lnTo>
                    <a:pt x="9144000" y="0"/>
                  </a:lnTo>
                  <a:lnTo>
                    <a:pt x="9144000" y="1341120"/>
                  </a:lnTo>
                  <a:lnTo>
                    <a:pt x="0" y="1341120"/>
                  </a:lnTo>
                  <a:close/>
                </a:path>
              </a:pathLst>
            </a:custGeom>
            <a:blipFill>
              <a:blip r:embed="rId3">
                <a:alphaModFix amt="0"/>
              </a:blip>
              <a:stretch>
                <a:fillRect l="0" t="-82852" r="0" b="-82852"/>
              </a:stretch>
            </a:blipFill>
          </p:spPr>
        </p:sp>
        <p:sp>
          <p:nvSpPr>
            <p:cNvPr name="TextBox 98" id="98"/>
            <p:cNvSpPr txBox="true"/>
            <p:nvPr/>
          </p:nvSpPr>
          <p:spPr>
            <a:xfrm>
              <a:off x="0" y="0"/>
              <a:ext cx="9144000" cy="1341120"/>
            </a:xfrm>
            <a:prstGeom prst="rect">
              <a:avLst/>
            </a:prstGeom>
          </p:spPr>
          <p:txBody>
            <a:bodyPr anchor="ctr" rtlCol="false" tIns="0" lIns="0" bIns="0" rIns="0"/>
            <a:lstStyle/>
            <a:p>
              <a:pPr algn="ctr">
                <a:lnSpc>
                  <a:spcPts val="3719"/>
                </a:lnSpc>
              </a:pPr>
              <a:r>
                <a:rPr lang="en-US" sz="3099" b="true">
                  <a:solidFill>
                    <a:srgbClr val="1E293B"/>
                  </a:solidFill>
                  <a:latin typeface="Proxima Nova Bold"/>
                  <a:ea typeface="Proxima Nova Bold"/>
                  <a:cs typeface="Proxima Nova Bold"/>
                  <a:sym typeface="Proxima Nova Bold"/>
                </a:rPr>
                <a:t>Portfolio Holdings</a:t>
              </a:r>
            </a:p>
          </p:txBody>
        </p:sp>
      </p:grpSp>
      <p:grpSp>
        <p:nvGrpSpPr>
          <p:cNvPr name="Group 99" id="99"/>
          <p:cNvGrpSpPr/>
          <p:nvPr/>
        </p:nvGrpSpPr>
        <p:grpSpPr>
          <a:xfrm rot="0">
            <a:off x="9314183" y="7119623"/>
            <a:ext cx="7980683" cy="1031243"/>
            <a:chOff x="0" y="0"/>
            <a:chExt cx="10640911" cy="1374991"/>
          </a:xfrm>
        </p:grpSpPr>
        <p:sp>
          <p:nvSpPr>
            <p:cNvPr name="Freeform 100" id="100"/>
            <p:cNvSpPr/>
            <p:nvPr/>
          </p:nvSpPr>
          <p:spPr>
            <a:xfrm flipH="false" flipV="false" rot="0">
              <a:off x="0" y="0"/>
              <a:ext cx="10640949" cy="1375029"/>
            </a:xfrm>
            <a:custGeom>
              <a:avLst/>
              <a:gdLst/>
              <a:ahLst/>
              <a:cxnLst/>
              <a:rect r="r" b="b" t="t" l="l"/>
              <a:pathLst>
                <a:path h="1375029" w="10640949">
                  <a:moveTo>
                    <a:pt x="0" y="200025"/>
                  </a:moveTo>
                  <a:cubicBezTo>
                    <a:pt x="0" y="89535"/>
                    <a:pt x="89535" y="0"/>
                    <a:pt x="200025" y="0"/>
                  </a:cubicBezTo>
                  <a:lnTo>
                    <a:pt x="10440924" y="0"/>
                  </a:lnTo>
                  <a:cubicBezTo>
                    <a:pt x="10551414" y="0"/>
                    <a:pt x="10640949" y="89535"/>
                    <a:pt x="10640949" y="200025"/>
                  </a:cubicBezTo>
                  <a:lnTo>
                    <a:pt x="10640949" y="1175004"/>
                  </a:lnTo>
                  <a:cubicBezTo>
                    <a:pt x="10640949" y="1285494"/>
                    <a:pt x="10551414" y="1375029"/>
                    <a:pt x="10440924" y="1375029"/>
                  </a:cubicBezTo>
                  <a:lnTo>
                    <a:pt x="200025" y="1375029"/>
                  </a:lnTo>
                  <a:cubicBezTo>
                    <a:pt x="89535" y="1375029"/>
                    <a:pt x="0" y="1285494"/>
                    <a:pt x="0" y="1175004"/>
                  </a:cubicBezTo>
                  <a:close/>
                </a:path>
              </a:pathLst>
            </a:custGeom>
            <a:solidFill>
              <a:srgbClr val="FFFFFF"/>
            </a:solidFill>
            <a:ln w="25400" cap="sq">
              <a:solidFill>
                <a:srgbClr val="CBD5E1"/>
              </a:solidFill>
              <a:prstDash val="solid"/>
              <a:miter/>
            </a:ln>
          </p:spPr>
        </p:sp>
      </p:grpSp>
      <p:grpSp>
        <p:nvGrpSpPr>
          <p:cNvPr name="Group 101" id="101"/>
          <p:cNvGrpSpPr/>
          <p:nvPr/>
        </p:nvGrpSpPr>
        <p:grpSpPr>
          <a:xfrm rot="0">
            <a:off x="9314183" y="7119623"/>
            <a:ext cx="848363" cy="1031243"/>
            <a:chOff x="0" y="0"/>
            <a:chExt cx="1131151" cy="1374991"/>
          </a:xfrm>
        </p:grpSpPr>
        <p:sp>
          <p:nvSpPr>
            <p:cNvPr name="Freeform 102" id="102"/>
            <p:cNvSpPr/>
            <p:nvPr/>
          </p:nvSpPr>
          <p:spPr>
            <a:xfrm flipH="false" flipV="false" rot="0">
              <a:off x="0" y="0"/>
              <a:ext cx="1131062" cy="1374902"/>
            </a:xfrm>
            <a:custGeom>
              <a:avLst/>
              <a:gdLst/>
              <a:ahLst/>
              <a:cxnLst/>
              <a:rect r="r" b="b" t="t" l="l"/>
              <a:pathLst>
                <a:path h="1374902" w="1131062">
                  <a:moveTo>
                    <a:pt x="0" y="201041"/>
                  </a:moveTo>
                  <a:cubicBezTo>
                    <a:pt x="0" y="90043"/>
                    <a:pt x="90043" y="0"/>
                    <a:pt x="201041" y="0"/>
                  </a:cubicBezTo>
                  <a:lnTo>
                    <a:pt x="930021" y="0"/>
                  </a:lnTo>
                  <a:cubicBezTo>
                    <a:pt x="1041146" y="0"/>
                    <a:pt x="1131062" y="90043"/>
                    <a:pt x="1131062" y="201041"/>
                  </a:cubicBezTo>
                  <a:lnTo>
                    <a:pt x="1131062" y="1173861"/>
                  </a:lnTo>
                  <a:cubicBezTo>
                    <a:pt x="1131062" y="1284986"/>
                    <a:pt x="1041019" y="1374902"/>
                    <a:pt x="930021" y="1374902"/>
                  </a:cubicBezTo>
                  <a:lnTo>
                    <a:pt x="201041" y="1374902"/>
                  </a:lnTo>
                  <a:cubicBezTo>
                    <a:pt x="90043" y="1375029"/>
                    <a:pt x="0" y="1284986"/>
                    <a:pt x="0" y="1173861"/>
                  </a:cubicBezTo>
                  <a:close/>
                </a:path>
              </a:pathLst>
            </a:custGeom>
            <a:solidFill>
              <a:srgbClr val="0D9488"/>
            </a:solidFill>
            <a:ln w="25400" cap="sq">
              <a:solidFill>
                <a:srgbClr val="0D9488"/>
              </a:solidFill>
              <a:prstDash val="solid"/>
              <a:miter/>
            </a:ln>
          </p:spPr>
        </p:sp>
      </p:grpSp>
      <p:grpSp>
        <p:nvGrpSpPr>
          <p:cNvPr name="Group 103" id="103"/>
          <p:cNvGrpSpPr/>
          <p:nvPr/>
        </p:nvGrpSpPr>
        <p:grpSpPr>
          <a:xfrm rot="0">
            <a:off x="9326880" y="7132320"/>
            <a:ext cx="822960" cy="1005840"/>
            <a:chOff x="0" y="0"/>
            <a:chExt cx="1097280" cy="1341120"/>
          </a:xfrm>
        </p:grpSpPr>
        <p:sp>
          <p:nvSpPr>
            <p:cNvPr name="Freeform 104" id="104"/>
            <p:cNvSpPr/>
            <p:nvPr/>
          </p:nvSpPr>
          <p:spPr>
            <a:xfrm flipH="false" flipV="false" rot="0">
              <a:off x="0" y="0"/>
              <a:ext cx="1097280" cy="1341120"/>
            </a:xfrm>
            <a:custGeom>
              <a:avLst/>
              <a:gdLst/>
              <a:ahLst/>
              <a:cxnLst/>
              <a:rect r="r" b="b" t="t" l="l"/>
              <a:pathLst>
                <a:path h="1341120" w="1097280">
                  <a:moveTo>
                    <a:pt x="0" y="0"/>
                  </a:moveTo>
                  <a:lnTo>
                    <a:pt x="1097280" y="0"/>
                  </a:lnTo>
                  <a:lnTo>
                    <a:pt x="1097280" y="1341120"/>
                  </a:lnTo>
                  <a:lnTo>
                    <a:pt x="0" y="1341120"/>
                  </a:lnTo>
                  <a:close/>
                </a:path>
              </a:pathLst>
            </a:custGeom>
            <a:blipFill>
              <a:blip r:embed="rId3">
                <a:alphaModFix amt="0"/>
              </a:blip>
              <a:stretch>
                <a:fillRect l="-106815" t="0" r="-106815" b="0"/>
              </a:stretch>
            </a:blipFill>
          </p:spPr>
        </p:sp>
        <p:sp>
          <p:nvSpPr>
            <p:cNvPr name="TextBox 105" id="105"/>
            <p:cNvSpPr txBox="true"/>
            <p:nvPr/>
          </p:nvSpPr>
          <p:spPr>
            <a:xfrm>
              <a:off x="0" y="9525"/>
              <a:ext cx="1097280" cy="1331595"/>
            </a:xfrm>
            <a:prstGeom prst="rect">
              <a:avLst/>
            </a:prstGeom>
          </p:spPr>
          <p:txBody>
            <a:bodyPr anchor="ctr" rtlCol="false" tIns="0" lIns="0" bIns="0" rIns="0"/>
            <a:lstStyle/>
            <a:p>
              <a:pPr algn="ctr">
                <a:lnSpc>
                  <a:spcPts val="2879"/>
                </a:lnSpc>
              </a:pPr>
              <a:r>
                <a:rPr lang="en-US" sz="2400" b="true">
                  <a:solidFill>
                    <a:srgbClr val="FFFFFF"/>
                  </a:solidFill>
                  <a:latin typeface="Proxima Nova Bold"/>
                  <a:ea typeface="Proxima Nova Bold"/>
                  <a:cs typeface="Proxima Nova Bold"/>
                  <a:sym typeface="Proxima Nova Bold"/>
                </a:rPr>
                <a:t>10</a:t>
              </a:r>
            </a:p>
          </p:txBody>
        </p:sp>
      </p:grpSp>
      <p:grpSp>
        <p:nvGrpSpPr>
          <p:cNvPr name="Group 106" id="106"/>
          <p:cNvGrpSpPr/>
          <p:nvPr/>
        </p:nvGrpSpPr>
        <p:grpSpPr>
          <a:xfrm rot="0">
            <a:off x="10332720" y="7132320"/>
            <a:ext cx="6858000" cy="1005840"/>
            <a:chOff x="0" y="0"/>
            <a:chExt cx="9144000" cy="1341120"/>
          </a:xfrm>
        </p:grpSpPr>
        <p:sp>
          <p:nvSpPr>
            <p:cNvPr name="Freeform 107" id="107"/>
            <p:cNvSpPr/>
            <p:nvPr/>
          </p:nvSpPr>
          <p:spPr>
            <a:xfrm flipH="false" flipV="false" rot="0">
              <a:off x="0" y="0"/>
              <a:ext cx="9144000" cy="1341120"/>
            </a:xfrm>
            <a:custGeom>
              <a:avLst/>
              <a:gdLst/>
              <a:ahLst/>
              <a:cxnLst/>
              <a:rect r="r" b="b" t="t" l="l"/>
              <a:pathLst>
                <a:path h="1341120" w="9144000">
                  <a:moveTo>
                    <a:pt x="0" y="0"/>
                  </a:moveTo>
                  <a:lnTo>
                    <a:pt x="9144000" y="0"/>
                  </a:lnTo>
                  <a:lnTo>
                    <a:pt x="9144000" y="1341120"/>
                  </a:lnTo>
                  <a:lnTo>
                    <a:pt x="0" y="1341120"/>
                  </a:lnTo>
                  <a:close/>
                </a:path>
              </a:pathLst>
            </a:custGeom>
            <a:blipFill>
              <a:blip r:embed="rId3">
                <a:alphaModFix amt="0"/>
              </a:blip>
              <a:stretch>
                <a:fillRect l="0" t="-82852" r="0" b="-82852"/>
              </a:stretch>
            </a:blipFill>
          </p:spPr>
        </p:sp>
        <p:sp>
          <p:nvSpPr>
            <p:cNvPr name="TextBox 108" id="108"/>
            <p:cNvSpPr txBox="true"/>
            <p:nvPr/>
          </p:nvSpPr>
          <p:spPr>
            <a:xfrm>
              <a:off x="0" y="0"/>
              <a:ext cx="9144000" cy="1341120"/>
            </a:xfrm>
            <a:prstGeom prst="rect">
              <a:avLst/>
            </a:prstGeom>
          </p:spPr>
          <p:txBody>
            <a:bodyPr anchor="ctr" rtlCol="false" tIns="0" lIns="0" bIns="0" rIns="0"/>
            <a:lstStyle/>
            <a:p>
              <a:pPr algn="ctr">
                <a:lnSpc>
                  <a:spcPts val="3719"/>
                </a:lnSpc>
              </a:pPr>
              <a:r>
                <a:rPr lang="en-US" sz="3099" b="true">
                  <a:solidFill>
                    <a:srgbClr val="1E293B"/>
                  </a:solidFill>
                  <a:latin typeface="Proxima Nova Bold"/>
                  <a:ea typeface="Proxima Nova Bold"/>
                  <a:cs typeface="Proxima Nova Bold"/>
                  <a:sym typeface="Proxima Nova Bold"/>
                </a:rPr>
                <a:t>Benchmark Indices</a:t>
              </a:r>
            </a:p>
          </p:txBody>
        </p:sp>
      </p:grpSp>
      <p:grpSp>
        <p:nvGrpSpPr>
          <p:cNvPr name="Group 109" id="109"/>
          <p:cNvGrpSpPr/>
          <p:nvPr/>
        </p:nvGrpSpPr>
        <p:grpSpPr>
          <a:xfrm rot="0">
            <a:off x="627383" y="8619239"/>
            <a:ext cx="17033243" cy="1214123"/>
            <a:chOff x="0" y="0"/>
            <a:chExt cx="22710991" cy="1618831"/>
          </a:xfrm>
        </p:grpSpPr>
        <p:sp>
          <p:nvSpPr>
            <p:cNvPr name="Freeform 110" id="110"/>
            <p:cNvSpPr/>
            <p:nvPr/>
          </p:nvSpPr>
          <p:spPr>
            <a:xfrm flipH="false" flipV="false" rot="0">
              <a:off x="0" y="0"/>
              <a:ext cx="22711029" cy="1618869"/>
            </a:xfrm>
            <a:custGeom>
              <a:avLst/>
              <a:gdLst/>
              <a:ahLst/>
              <a:cxnLst/>
              <a:rect r="r" b="b" t="t" l="l"/>
              <a:pathLst>
                <a:path h="1618869" w="22711029">
                  <a:moveTo>
                    <a:pt x="0" y="249047"/>
                  </a:moveTo>
                  <a:cubicBezTo>
                    <a:pt x="0" y="111506"/>
                    <a:pt x="111506" y="0"/>
                    <a:pt x="249047" y="0"/>
                  </a:cubicBezTo>
                  <a:lnTo>
                    <a:pt x="22461982" y="0"/>
                  </a:lnTo>
                  <a:cubicBezTo>
                    <a:pt x="22599523" y="0"/>
                    <a:pt x="22711029" y="111506"/>
                    <a:pt x="22711029" y="249047"/>
                  </a:cubicBezTo>
                  <a:lnTo>
                    <a:pt x="22711029" y="1369822"/>
                  </a:lnTo>
                  <a:cubicBezTo>
                    <a:pt x="22711029" y="1507363"/>
                    <a:pt x="22599523" y="1618869"/>
                    <a:pt x="22461982" y="1618869"/>
                  </a:cubicBezTo>
                  <a:lnTo>
                    <a:pt x="249047" y="1618869"/>
                  </a:lnTo>
                  <a:cubicBezTo>
                    <a:pt x="111506" y="1618869"/>
                    <a:pt x="0" y="1507363"/>
                    <a:pt x="0" y="1369822"/>
                  </a:cubicBezTo>
                  <a:close/>
                </a:path>
              </a:pathLst>
            </a:custGeom>
            <a:solidFill>
              <a:srgbClr val="0D1B2A"/>
            </a:solidFill>
            <a:ln w="25400" cap="sq">
              <a:solidFill>
                <a:srgbClr val="0D1B2A"/>
              </a:solidFill>
              <a:prstDash val="solid"/>
              <a:miter/>
            </a:ln>
          </p:spPr>
        </p:sp>
      </p:grpSp>
      <p:grpSp>
        <p:nvGrpSpPr>
          <p:cNvPr name="Group 111" id="111"/>
          <p:cNvGrpSpPr/>
          <p:nvPr/>
        </p:nvGrpSpPr>
        <p:grpSpPr>
          <a:xfrm rot="0">
            <a:off x="1005840" y="8723376"/>
            <a:ext cx="4023360" cy="950976"/>
            <a:chOff x="0" y="0"/>
            <a:chExt cx="5364480" cy="1267968"/>
          </a:xfrm>
        </p:grpSpPr>
        <p:sp>
          <p:nvSpPr>
            <p:cNvPr name="Freeform 112" id="112"/>
            <p:cNvSpPr/>
            <p:nvPr/>
          </p:nvSpPr>
          <p:spPr>
            <a:xfrm flipH="false" flipV="false" rot="0">
              <a:off x="0" y="0"/>
              <a:ext cx="5364480" cy="1267968"/>
            </a:xfrm>
            <a:custGeom>
              <a:avLst/>
              <a:gdLst/>
              <a:ahLst/>
              <a:cxnLst/>
              <a:rect r="r" b="b" t="t" l="l"/>
              <a:pathLst>
                <a:path h="1267968" w="5364480">
                  <a:moveTo>
                    <a:pt x="0" y="0"/>
                  </a:moveTo>
                  <a:lnTo>
                    <a:pt x="5364480" y="0"/>
                  </a:lnTo>
                  <a:lnTo>
                    <a:pt x="5364480" y="1267968"/>
                  </a:lnTo>
                  <a:lnTo>
                    <a:pt x="0" y="1267968"/>
                  </a:lnTo>
                  <a:close/>
                </a:path>
              </a:pathLst>
            </a:custGeom>
            <a:blipFill>
              <a:blip r:embed="rId3">
                <a:alphaModFix amt="0"/>
              </a:blip>
              <a:stretch>
                <a:fillRect l="0" t="-32436" r="0" b="-32436"/>
              </a:stretch>
            </a:blipFill>
          </p:spPr>
        </p:sp>
        <p:sp>
          <p:nvSpPr>
            <p:cNvPr name="TextBox 113" id="113"/>
            <p:cNvSpPr txBox="true"/>
            <p:nvPr/>
          </p:nvSpPr>
          <p:spPr>
            <a:xfrm>
              <a:off x="0" y="0"/>
              <a:ext cx="5364480" cy="1267968"/>
            </a:xfrm>
            <a:prstGeom prst="rect">
              <a:avLst/>
            </a:prstGeom>
          </p:spPr>
          <p:txBody>
            <a:bodyPr anchor="ctr" rtlCol="false" tIns="0" lIns="0" bIns="0" rIns="0"/>
            <a:lstStyle/>
            <a:p>
              <a:pPr algn="l">
                <a:lnSpc>
                  <a:spcPts val="2520"/>
                </a:lnSpc>
              </a:pPr>
              <a:r>
                <a:rPr lang="en-US" sz="2100" b="true">
                  <a:solidFill>
                    <a:srgbClr val="CCFBF1"/>
                  </a:solidFill>
                  <a:latin typeface="Proxima Nova Bold"/>
                  <a:ea typeface="Proxima Nova Bold"/>
                  <a:cs typeface="Proxima Nova Bold"/>
                  <a:sym typeface="Proxima Nova Bold"/>
                </a:rPr>
                <a:t>✦  40 Mutual Fund Schemes</a:t>
              </a:r>
            </a:p>
          </p:txBody>
        </p:sp>
      </p:grpSp>
      <p:grpSp>
        <p:nvGrpSpPr>
          <p:cNvPr name="Group 114" id="114"/>
          <p:cNvGrpSpPr/>
          <p:nvPr/>
        </p:nvGrpSpPr>
        <p:grpSpPr>
          <a:xfrm rot="0">
            <a:off x="5212080" y="8723376"/>
            <a:ext cx="4023360" cy="950976"/>
            <a:chOff x="0" y="0"/>
            <a:chExt cx="5364480" cy="1267968"/>
          </a:xfrm>
        </p:grpSpPr>
        <p:sp>
          <p:nvSpPr>
            <p:cNvPr name="Freeform 115" id="115"/>
            <p:cNvSpPr/>
            <p:nvPr/>
          </p:nvSpPr>
          <p:spPr>
            <a:xfrm flipH="false" flipV="false" rot="0">
              <a:off x="0" y="0"/>
              <a:ext cx="5364480" cy="1267968"/>
            </a:xfrm>
            <a:custGeom>
              <a:avLst/>
              <a:gdLst/>
              <a:ahLst/>
              <a:cxnLst/>
              <a:rect r="r" b="b" t="t" l="l"/>
              <a:pathLst>
                <a:path h="1267968" w="5364480">
                  <a:moveTo>
                    <a:pt x="0" y="0"/>
                  </a:moveTo>
                  <a:lnTo>
                    <a:pt x="5364480" y="0"/>
                  </a:lnTo>
                  <a:lnTo>
                    <a:pt x="5364480" y="1267968"/>
                  </a:lnTo>
                  <a:lnTo>
                    <a:pt x="0" y="1267968"/>
                  </a:lnTo>
                  <a:close/>
                </a:path>
              </a:pathLst>
            </a:custGeom>
            <a:blipFill>
              <a:blip r:embed="rId3">
                <a:alphaModFix amt="0"/>
              </a:blip>
              <a:stretch>
                <a:fillRect l="0" t="-32436" r="0" b="-32436"/>
              </a:stretch>
            </a:blipFill>
          </p:spPr>
        </p:sp>
        <p:sp>
          <p:nvSpPr>
            <p:cNvPr name="TextBox 116" id="116"/>
            <p:cNvSpPr txBox="true"/>
            <p:nvPr/>
          </p:nvSpPr>
          <p:spPr>
            <a:xfrm>
              <a:off x="0" y="0"/>
              <a:ext cx="5364480" cy="1267968"/>
            </a:xfrm>
            <a:prstGeom prst="rect">
              <a:avLst/>
            </a:prstGeom>
          </p:spPr>
          <p:txBody>
            <a:bodyPr anchor="ctr" rtlCol="false" tIns="0" lIns="0" bIns="0" rIns="0"/>
            <a:lstStyle/>
            <a:p>
              <a:pPr algn="l">
                <a:lnSpc>
                  <a:spcPts val="2520"/>
                </a:lnSpc>
              </a:pPr>
              <a:r>
                <a:rPr lang="en-US" sz="2100" b="true">
                  <a:solidFill>
                    <a:srgbClr val="CCFBF1"/>
                  </a:solidFill>
                  <a:latin typeface="Proxima Nova Bold"/>
                  <a:ea typeface="Proxima Nova Bold"/>
                  <a:cs typeface="Proxima Nova Bold"/>
                  <a:sym typeface="Proxima Nova Bold"/>
                </a:rPr>
                <a:t>✦  2022–2026 Historical Data</a:t>
              </a:r>
            </a:p>
          </p:txBody>
        </p:sp>
      </p:grpSp>
      <p:grpSp>
        <p:nvGrpSpPr>
          <p:cNvPr name="Group 117" id="117"/>
          <p:cNvGrpSpPr/>
          <p:nvPr/>
        </p:nvGrpSpPr>
        <p:grpSpPr>
          <a:xfrm rot="0">
            <a:off x="9418320" y="8723376"/>
            <a:ext cx="4023360" cy="950976"/>
            <a:chOff x="0" y="0"/>
            <a:chExt cx="5364480" cy="1267968"/>
          </a:xfrm>
        </p:grpSpPr>
        <p:sp>
          <p:nvSpPr>
            <p:cNvPr name="Freeform 118" id="118"/>
            <p:cNvSpPr/>
            <p:nvPr/>
          </p:nvSpPr>
          <p:spPr>
            <a:xfrm flipH="false" flipV="false" rot="0">
              <a:off x="0" y="0"/>
              <a:ext cx="5364480" cy="1267968"/>
            </a:xfrm>
            <a:custGeom>
              <a:avLst/>
              <a:gdLst/>
              <a:ahLst/>
              <a:cxnLst/>
              <a:rect r="r" b="b" t="t" l="l"/>
              <a:pathLst>
                <a:path h="1267968" w="5364480">
                  <a:moveTo>
                    <a:pt x="0" y="0"/>
                  </a:moveTo>
                  <a:lnTo>
                    <a:pt x="5364480" y="0"/>
                  </a:lnTo>
                  <a:lnTo>
                    <a:pt x="5364480" y="1267968"/>
                  </a:lnTo>
                  <a:lnTo>
                    <a:pt x="0" y="1267968"/>
                  </a:lnTo>
                  <a:close/>
                </a:path>
              </a:pathLst>
            </a:custGeom>
            <a:blipFill>
              <a:blip r:embed="rId3">
                <a:alphaModFix amt="0"/>
              </a:blip>
              <a:stretch>
                <a:fillRect l="0" t="-32436" r="0" b="-32436"/>
              </a:stretch>
            </a:blipFill>
          </p:spPr>
        </p:sp>
        <p:sp>
          <p:nvSpPr>
            <p:cNvPr name="TextBox 119" id="119"/>
            <p:cNvSpPr txBox="true"/>
            <p:nvPr/>
          </p:nvSpPr>
          <p:spPr>
            <a:xfrm>
              <a:off x="0" y="0"/>
              <a:ext cx="5364480" cy="1267968"/>
            </a:xfrm>
            <a:prstGeom prst="rect">
              <a:avLst/>
            </a:prstGeom>
          </p:spPr>
          <p:txBody>
            <a:bodyPr anchor="ctr" rtlCol="false" tIns="0" lIns="0" bIns="0" rIns="0"/>
            <a:lstStyle/>
            <a:p>
              <a:pPr algn="l">
                <a:lnSpc>
                  <a:spcPts val="2520"/>
                </a:lnSpc>
              </a:pPr>
              <a:r>
                <a:rPr lang="en-US" sz="2100" b="true">
                  <a:solidFill>
                    <a:srgbClr val="CCFBF1"/>
                  </a:solidFill>
                  <a:latin typeface="Proxima Nova Bold"/>
                  <a:ea typeface="Proxima Nova Bold"/>
                  <a:cs typeface="Proxima Nova Bold"/>
                  <a:sym typeface="Proxima Nova Bold"/>
                </a:rPr>
                <a:t>✦  Investor Demographics</a:t>
              </a:r>
            </a:p>
          </p:txBody>
        </p:sp>
      </p:grpSp>
      <p:grpSp>
        <p:nvGrpSpPr>
          <p:cNvPr name="Group 120" id="120"/>
          <p:cNvGrpSpPr/>
          <p:nvPr/>
        </p:nvGrpSpPr>
        <p:grpSpPr>
          <a:xfrm rot="0">
            <a:off x="13624560" y="8723376"/>
            <a:ext cx="4023360" cy="950976"/>
            <a:chOff x="0" y="0"/>
            <a:chExt cx="5364480" cy="1267968"/>
          </a:xfrm>
        </p:grpSpPr>
        <p:sp>
          <p:nvSpPr>
            <p:cNvPr name="Freeform 121" id="121"/>
            <p:cNvSpPr/>
            <p:nvPr/>
          </p:nvSpPr>
          <p:spPr>
            <a:xfrm flipH="false" flipV="false" rot="0">
              <a:off x="0" y="0"/>
              <a:ext cx="5364480" cy="1267968"/>
            </a:xfrm>
            <a:custGeom>
              <a:avLst/>
              <a:gdLst/>
              <a:ahLst/>
              <a:cxnLst/>
              <a:rect r="r" b="b" t="t" l="l"/>
              <a:pathLst>
                <a:path h="1267968" w="5364480">
                  <a:moveTo>
                    <a:pt x="0" y="0"/>
                  </a:moveTo>
                  <a:lnTo>
                    <a:pt x="5364480" y="0"/>
                  </a:lnTo>
                  <a:lnTo>
                    <a:pt x="5364480" y="1267968"/>
                  </a:lnTo>
                  <a:lnTo>
                    <a:pt x="0" y="1267968"/>
                  </a:lnTo>
                  <a:close/>
                </a:path>
              </a:pathLst>
            </a:custGeom>
            <a:blipFill>
              <a:blip r:embed="rId3">
                <a:alphaModFix amt="0"/>
              </a:blip>
              <a:stretch>
                <a:fillRect l="0" t="-32436" r="0" b="-32436"/>
              </a:stretch>
            </a:blipFill>
          </p:spPr>
        </p:sp>
        <p:sp>
          <p:nvSpPr>
            <p:cNvPr name="TextBox 122" id="122"/>
            <p:cNvSpPr txBox="true"/>
            <p:nvPr/>
          </p:nvSpPr>
          <p:spPr>
            <a:xfrm>
              <a:off x="0" y="0"/>
              <a:ext cx="5364480" cy="1267968"/>
            </a:xfrm>
            <a:prstGeom prst="rect">
              <a:avLst/>
            </a:prstGeom>
          </p:spPr>
          <p:txBody>
            <a:bodyPr anchor="ctr" rtlCol="false" tIns="0" lIns="0" bIns="0" rIns="0"/>
            <a:lstStyle/>
            <a:p>
              <a:pPr algn="l">
                <a:lnSpc>
                  <a:spcPts val="2520"/>
                </a:lnSpc>
              </a:pPr>
              <a:r>
                <a:rPr lang="en-US" sz="2100" b="true">
                  <a:solidFill>
                    <a:srgbClr val="CCFBF1"/>
                  </a:solidFill>
                  <a:latin typeface="Proxima Nova Bold"/>
                  <a:ea typeface="Proxima Nova Bold"/>
                  <a:cs typeface="Proxima Nova Bold"/>
                  <a:sym typeface="Proxima Nova Bold"/>
                </a:rPr>
                <a:t>✦  Benchmark Market Data</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945643"/>
            <a:chOff x="0" y="0"/>
            <a:chExt cx="24417871" cy="2594191"/>
          </a:xfrm>
        </p:grpSpPr>
        <p:sp>
          <p:nvSpPr>
            <p:cNvPr name="Freeform 3" id="3"/>
            <p:cNvSpPr/>
            <p:nvPr/>
          </p:nvSpPr>
          <p:spPr>
            <a:xfrm flipH="false" flipV="false" rot="0">
              <a:off x="0" y="0"/>
              <a:ext cx="24417910" cy="2594229"/>
            </a:xfrm>
            <a:custGeom>
              <a:avLst/>
              <a:gdLst/>
              <a:ahLst/>
              <a:cxnLst/>
              <a:rect r="r" b="b" t="t" l="l"/>
              <a:pathLst>
                <a:path h="2594229" w="24417910">
                  <a:moveTo>
                    <a:pt x="0" y="0"/>
                  </a:moveTo>
                  <a:lnTo>
                    <a:pt x="24417910" y="0"/>
                  </a:lnTo>
                  <a:lnTo>
                    <a:pt x="24417910" y="2594229"/>
                  </a:lnTo>
                  <a:lnTo>
                    <a:pt x="0" y="2594229"/>
                  </a:lnTo>
                  <a:close/>
                </a:path>
              </a:pathLst>
            </a:custGeom>
            <a:solidFill>
              <a:srgbClr val="0D1B2A"/>
            </a:solidFill>
            <a:ln w="25400" cap="sq">
              <a:solidFill>
                <a:srgbClr val="0D1B2A"/>
              </a:solidFill>
              <a:prstDash val="solid"/>
              <a:miter/>
            </a:ln>
          </p:spPr>
        </p:sp>
      </p:grpSp>
      <p:grpSp>
        <p:nvGrpSpPr>
          <p:cNvPr name="Group 4" id="4"/>
          <p:cNvGrpSpPr/>
          <p:nvPr/>
        </p:nvGrpSpPr>
        <p:grpSpPr>
          <a:xfrm rot="0">
            <a:off x="-12697" y="1907543"/>
            <a:ext cx="18313403" cy="153419"/>
            <a:chOff x="0" y="0"/>
            <a:chExt cx="24417871" cy="204559"/>
          </a:xfrm>
        </p:grpSpPr>
        <p:sp>
          <p:nvSpPr>
            <p:cNvPr name="Freeform 5" id="5"/>
            <p:cNvSpPr/>
            <p:nvPr/>
          </p:nvSpPr>
          <p:spPr>
            <a:xfrm flipH="false" flipV="false" rot="0">
              <a:off x="0" y="0"/>
              <a:ext cx="24417910" cy="204597"/>
            </a:xfrm>
            <a:custGeom>
              <a:avLst/>
              <a:gdLst/>
              <a:ahLst/>
              <a:cxnLst/>
              <a:rect r="r" b="b" t="t" l="l"/>
              <a:pathLst>
                <a:path h="204597" w="24417910">
                  <a:moveTo>
                    <a:pt x="0" y="0"/>
                  </a:moveTo>
                  <a:lnTo>
                    <a:pt x="24417910" y="0"/>
                  </a:lnTo>
                  <a:lnTo>
                    <a:pt x="24417910" y="204597"/>
                  </a:lnTo>
                  <a:lnTo>
                    <a:pt x="0" y="204597"/>
                  </a:lnTo>
                  <a:close/>
                </a:path>
              </a:pathLst>
            </a:custGeom>
            <a:solidFill>
              <a:srgbClr val="0D9488"/>
            </a:solidFill>
            <a:ln w="25400" cap="sq">
              <a:solidFill>
                <a:srgbClr val="0D9488"/>
              </a:solidFill>
              <a:prstDash val="solid"/>
              <a:miter/>
            </a:ln>
          </p:spPr>
        </p:sp>
      </p:grpSp>
      <p:grpSp>
        <p:nvGrpSpPr>
          <p:cNvPr name="Group 6" id="6"/>
          <p:cNvGrpSpPr/>
          <p:nvPr/>
        </p:nvGrpSpPr>
        <p:grpSpPr>
          <a:xfrm rot="0">
            <a:off x="822960" y="402336"/>
            <a:ext cx="16642080" cy="1097280"/>
            <a:chOff x="0" y="0"/>
            <a:chExt cx="22189440" cy="1463040"/>
          </a:xfrm>
        </p:grpSpPr>
        <p:sp>
          <p:nvSpPr>
            <p:cNvPr name="Freeform 7" id="7"/>
            <p:cNvSpPr/>
            <p:nvPr/>
          </p:nvSpPr>
          <p:spPr>
            <a:xfrm flipH="false" flipV="false" rot="0">
              <a:off x="0" y="0"/>
              <a:ext cx="22189439" cy="1463040"/>
            </a:xfrm>
            <a:custGeom>
              <a:avLst/>
              <a:gdLst/>
              <a:ahLst/>
              <a:cxnLst/>
              <a:rect r="r" b="b" t="t" l="l"/>
              <a:pathLst>
                <a:path h="1463040" w="22189439">
                  <a:moveTo>
                    <a:pt x="0" y="0"/>
                  </a:moveTo>
                  <a:lnTo>
                    <a:pt x="22189439" y="0"/>
                  </a:lnTo>
                  <a:lnTo>
                    <a:pt x="22189439" y="1463040"/>
                  </a:lnTo>
                  <a:lnTo>
                    <a:pt x="0" y="1463040"/>
                  </a:lnTo>
                  <a:close/>
                </a:path>
              </a:pathLst>
            </a:custGeom>
            <a:blipFill>
              <a:blip r:embed="rId3">
                <a:alphaModFix amt="0"/>
              </a:blip>
              <a:stretch>
                <a:fillRect l="0" t="-245523" r="0" b="-245523"/>
              </a:stretch>
            </a:blipFill>
          </p:spPr>
        </p:sp>
        <p:sp>
          <p:nvSpPr>
            <p:cNvPr name="TextBox 8" id="8"/>
            <p:cNvSpPr txBox="true"/>
            <p:nvPr/>
          </p:nvSpPr>
          <p:spPr>
            <a:xfrm>
              <a:off x="0" y="9525"/>
              <a:ext cx="22189440" cy="1453515"/>
            </a:xfrm>
            <a:prstGeom prst="rect">
              <a:avLst/>
            </a:prstGeom>
          </p:spPr>
          <p:txBody>
            <a:bodyPr anchor="ctr" rtlCol="false" tIns="0" lIns="0" bIns="0" rIns="0"/>
            <a:lstStyle/>
            <a:p>
              <a:pPr algn="l">
                <a:lnSpc>
                  <a:spcPts val="6240"/>
                </a:lnSpc>
              </a:pPr>
              <a:r>
                <a:rPr lang="en-US" b="true" sz="5200">
                  <a:solidFill>
                    <a:srgbClr val="FFFFFF"/>
                  </a:solidFill>
                  <a:latin typeface="Montserrat Bold"/>
                  <a:ea typeface="Montserrat Bold"/>
                  <a:cs typeface="Montserrat Bold"/>
                  <a:sym typeface="Montserrat Bold"/>
                </a:rPr>
                <a:t>SOLUTION ARCHITECTURE</a:t>
              </a:r>
            </a:p>
          </p:txBody>
        </p:sp>
      </p:grpSp>
      <p:grpSp>
        <p:nvGrpSpPr>
          <p:cNvPr name="Group 9" id="9"/>
          <p:cNvGrpSpPr/>
          <p:nvPr/>
        </p:nvGrpSpPr>
        <p:grpSpPr>
          <a:xfrm rot="0">
            <a:off x="413364" y="3036297"/>
            <a:ext cx="2658864" cy="1171004"/>
            <a:chOff x="0" y="0"/>
            <a:chExt cx="3398863" cy="1496911"/>
          </a:xfrm>
        </p:grpSpPr>
        <p:sp>
          <p:nvSpPr>
            <p:cNvPr name="Freeform 10" id="10"/>
            <p:cNvSpPr/>
            <p:nvPr/>
          </p:nvSpPr>
          <p:spPr>
            <a:xfrm flipH="false" flipV="false" rot="0">
              <a:off x="0" y="0"/>
              <a:ext cx="3398774" cy="1496822"/>
            </a:xfrm>
            <a:custGeom>
              <a:avLst/>
              <a:gdLst/>
              <a:ahLst/>
              <a:cxnLst/>
              <a:rect r="r" b="b" t="t" l="l"/>
              <a:pathLst>
                <a:path h="1496822" w="3398774">
                  <a:moveTo>
                    <a:pt x="0" y="249428"/>
                  </a:moveTo>
                  <a:cubicBezTo>
                    <a:pt x="0" y="111760"/>
                    <a:pt x="111760" y="0"/>
                    <a:pt x="249428" y="0"/>
                  </a:cubicBezTo>
                  <a:lnTo>
                    <a:pt x="3149346" y="0"/>
                  </a:lnTo>
                  <a:cubicBezTo>
                    <a:pt x="3287141" y="0"/>
                    <a:pt x="3398774" y="111760"/>
                    <a:pt x="3398774" y="249428"/>
                  </a:cubicBezTo>
                  <a:lnTo>
                    <a:pt x="3398774" y="1247394"/>
                  </a:lnTo>
                  <a:cubicBezTo>
                    <a:pt x="3398774" y="1385189"/>
                    <a:pt x="3287014" y="1496822"/>
                    <a:pt x="3149346" y="1496822"/>
                  </a:cubicBezTo>
                  <a:lnTo>
                    <a:pt x="249428" y="1496822"/>
                  </a:lnTo>
                  <a:cubicBezTo>
                    <a:pt x="111760" y="1496949"/>
                    <a:pt x="0" y="1385189"/>
                    <a:pt x="0" y="1247394"/>
                  </a:cubicBezTo>
                  <a:close/>
                </a:path>
              </a:pathLst>
            </a:custGeom>
            <a:solidFill>
              <a:srgbClr val="64748B"/>
            </a:solidFill>
            <a:ln w="25400" cap="sq">
              <a:solidFill>
                <a:srgbClr val="64748B"/>
              </a:solidFill>
              <a:prstDash val="solid"/>
              <a:miter/>
            </a:ln>
          </p:spPr>
        </p:sp>
      </p:grpSp>
      <p:grpSp>
        <p:nvGrpSpPr>
          <p:cNvPr name="Group 11" id="11"/>
          <p:cNvGrpSpPr/>
          <p:nvPr/>
        </p:nvGrpSpPr>
        <p:grpSpPr>
          <a:xfrm rot="0">
            <a:off x="426607" y="3049540"/>
            <a:ext cx="2632367" cy="1144508"/>
            <a:chOff x="0" y="0"/>
            <a:chExt cx="3364992" cy="1463040"/>
          </a:xfrm>
        </p:grpSpPr>
        <p:sp>
          <p:nvSpPr>
            <p:cNvPr name="Freeform 12" id="12"/>
            <p:cNvSpPr/>
            <p:nvPr/>
          </p:nvSpPr>
          <p:spPr>
            <a:xfrm flipH="false" flipV="false" rot="0">
              <a:off x="0" y="0"/>
              <a:ext cx="3364992" cy="1463040"/>
            </a:xfrm>
            <a:custGeom>
              <a:avLst/>
              <a:gdLst/>
              <a:ahLst/>
              <a:cxnLst/>
              <a:rect r="r" b="b" t="t" l="l"/>
              <a:pathLst>
                <a:path h="1463040" w="3364992">
                  <a:moveTo>
                    <a:pt x="0" y="0"/>
                  </a:moveTo>
                  <a:lnTo>
                    <a:pt x="3364992" y="0"/>
                  </a:lnTo>
                  <a:lnTo>
                    <a:pt x="3364992" y="1463040"/>
                  </a:lnTo>
                  <a:lnTo>
                    <a:pt x="0" y="1463040"/>
                  </a:lnTo>
                  <a:close/>
                </a:path>
              </a:pathLst>
            </a:custGeom>
            <a:blipFill>
              <a:blip r:embed="rId3">
                <a:alphaModFix amt="0"/>
              </a:blip>
              <a:stretch>
                <a:fillRect l="-5784" t="0" r="-5784" b="0"/>
              </a:stretch>
            </a:blipFill>
          </p:spPr>
        </p:sp>
        <p:sp>
          <p:nvSpPr>
            <p:cNvPr name="TextBox 13" id="13"/>
            <p:cNvSpPr txBox="true"/>
            <p:nvPr/>
          </p:nvSpPr>
          <p:spPr>
            <a:xfrm>
              <a:off x="0" y="-9525"/>
              <a:ext cx="3364992" cy="1472565"/>
            </a:xfrm>
            <a:prstGeom prst="rect">
              <a:avLst/>
            </a:prstGeom>
          </p:spPr>
          <p:txBody>
            <a:bodyPr anchor="ctr" rtlCol="false" tIns="0" lIns="0" bIns="0" rIns="0"/>
            <a:lstStyle/>
            <a:p>
              <a:pPr algn="ctr">
                <a:lnSpc>
                  <a:spcPts val="2400"/>
                </a:lnSpc>
              </a:pPr>
              <a:r>
                <a:rPr lang="en-US" sz="2000" b="true">
                  <a:solidFill>
                    <a:srgbClr val="FFFFFF"/>
                  </a:solidFill>
                  <a:latin typeface="Proxima Nova Bold"/>
                  <a:ea typeface="Proxima Nova Bold"/>
                  <a:cs typeface="Proxima Nova Bold"/>
                  <a:sym typeface="Proxima Nova Bold"/>
                </a:rPr>
                <a:t>Raw CSV Files</a:t>
              </a:r>
            </a:p>
          </p:txBody>
        </p:sp>
      </p:grpSp>
      <p:grpSp>
        <p:nvGrpSpPr>
          <p:cNvPr name="Group 14" id="14"/>
          <p:cNvGrpSpPr/>
          <p:nvPr/>
        </p:nvGrpSpPr>
        <p:grpSpPr>
          <a:xfrm rot="0">
            <a:off x="3045731" y="3551325"/>
            <a:ext cx="407999" cy="140947"/>
            <a:chOff x="0" y="0"/>
            <a:chExt cx="521551" cy="180175"/>
          </a:xfrm>
        </p:grpSpPr>
        <p:sp>
          <p:nvSpPr>
            <p:cNvPr name="Freeform 15" id="15"/>
            <p:cNvSpPr/>
            <p:nvPr/>
          </p:nvSpPr>
          <p:spPr>
            <a:xfrm flipH="false" flipV="false" rot="0">
              <a:off x="0" y="0"/>
              <a:ext cx="521589" cy="180213"/>
            </a:xfrm>
            <a:custGeom>
              <a:avLst/>
              <a:gdLst/>
              <a:ahLst/>
              <a:cxnLst/>
              <a:rect r="r" b="b" t="t" l="l"/>
              <a:pathLst>
                <a:path h="180213" w="521589">
                  <a:moveTo>
                    <a:pt x="0" y="0"/>
                  </a:moveTo>
                  <a:lnTo>
                    <a:pt x="521589" y="0"/>
                  </a:lnTo>
                  <a:lnTo>
                    <a:pt x="521589" y="180213"/>
                  </a:lnTo>
                  <a:lnTo>
                    <a:pt x="0" y="180213"/>
                  </a:lnTo>
                  <a:close/>
                </a:path>
              </a:pathLst>
            </a:custGeom>
            <a:solidFill>
              <a:srgbClr val="CBD5E1"/>
            </a:solidFill>
            <a:ln w="25400" cap="sq">
              <a:solidFill>
                <a:srgbClr val="CBD5E1"/>
              </a:solidFill>
              <a:prstDash val="solid"/>
              <a:miter/>
            </a:ln>
          </p:spPr>
        </p:sp>
      </p:grpSp>
      <p:grpSp>
        <p:nvGrpSpPr>
          <p:cNvPr name="Group 16" id="16"/>
          <p:cNvGrpSpPr/>
          <p:nvPr/>
        </p:nvGrpSpPr>
        <p:grpSpPr>
          <a:xfrm rot="0">
            <a:off x="3020824" y="3297517"/>
            <a:ext cx="476878" cy="667629"/>
            <a:chOff x="0" y="0"/>
            <a:chExt cx="609600" cy="853440"/>
          </a:xfrm>
        </p:grpSpPr>
        <p:sp>
          <p:nvSpPr>
            <p:cNvPr name="Freeform 17" id="17"/>
            <p:cNvSpPr/>
            <p:nvPr/>
          </p:nvSpPr>
          <p:spPr>
            <a:xfrm flipH="false" flipV="false" rot="0">
              <a:off x="0" y="0"/>
              <a:ext cx="609600" cy="853440"/>
            </a:xfrm>
            <a:custGeom>
              <a:avLst/>
              <a:gdLst/>
              <a:ahLst/>
              <a:cxnLst/>
              <a:rect r="r" b="b" t="t" l="l"/>
              <a:pathLst>
                <a:path h="853440" w="609600">
                  <a:moveTo>
                    <a:pt x="0" y="0"/>
                  </a:moveTo>
                  <a:lnTo>
                    <a:pt x="609600" y="0"/>
                  </a:lnTo>
                  <a:lnTo>
                    <a:pt x="609600" y="853440"/>
                  </a:lnTo>
                  <a:lnTo>
                    <a:pt x="0" y="853440"/>
                  </a:lnTo>
                  <a:close/>
                </a:path>
              </a:pathLst>
            </a:custGeom>
            <a:blipFill>
              <a:blip r:embed="rId3">
                <a:alphaModFix amt="0"/>
              </a:blip>
              <a:stretch>
                <a:fillRect l="-129625" t="0" r="-129625" b="0"/>
              </a:stretch>
            </a:blipFill>
          </p:spPr>
        </p:sp>
        <p:sp>
          <p:nvSpPr>
            <p:cNvPr name="TextBox 18" id="18"/>
            <p:cNvSpPr txBox="true"/>
            <p:nvPr/>
          </p:nvSpPr>
          <p:spPr>
            <a:xfrm>
              <a:off x="0" y="-9525"/>
              <a:ext cx="609600" cy="862965"/>
            </a:xfrm>
            <a:prstGeom prst="rect">
              <a:avLst/>
            </a:prstGeom>
          </p:spPr>
          <p:txBody>
            <a:bodyPr anchor="ctr" rtlCol="false" tIns="0" lIns="0" bIns="0" rIns="0"/>
            <a:lstStyle/>
            <a:p>
              <a:pPr algn="l">
                <a:lnSpc>
                  <a:spcPts val="2400"/>
                </a:lnSpc>
              </a:pPr>
              <a:r>
                <a:rPr lang="en-US" sz="2000">
                  <a:solidFill>
                    <a:srgbClr val="64748B"/>
                  </a:solidFill>
                  <a:latin typeface="Proxima Nova"/>
                  <a:ea typeface="Proxima Nova"/>
                  <a:cs typeface="Proxima Nova"/>
                  <a:sym typeface="Proxima Nova"/>
                </a:rPr>
                <a:t>▶</a:t>
              </a:r>
            </a:p>
          </p:txBody>
        </p:sp>
      </p:grpSp>
      <p:grpSp>
        <p:nvGrpSpPr>
          <p:cNvPr name="Group 19" id="19"/>
          <p:cNvGrpSpPr/>
          <p:nvPr/>
        </p:nvGrpSpPr>
        <p:grpSpPr>
          <a:xfrm rot="0">
            <a:off x="3427234" y="3036297"/>
            <a:ext cx="2658864" cy="1171004"/>
            <a:chOff x="0" y="0"/>
            <a:chExt cx="3398863" cy="1496911"/>
          </a:xfrm>
        </p:grpSpPr>
        <p:sp>
          <p:nvSpPr>
            <p:cNvPr name="Freeform 20" id="20"/>
            <p:cNvSpPr/>
            <p:nvPr/>
          </p:nvSpPr>
          <p:spPr>
            <a:xfrm flipH="false" flipV="false" rot="0">
              <a:off x="0" y="0"/>
              <a:ext cx="3398774" cy="1496822"/>
            </a:xfrm>
            <a:custGeom>
              <a:avLst/>
              <a:gdLst/>
              <a:ahLst/>
              <a:cxnLst/>
              <a:rect r="r" b="b" t="t" l="l"/>
              <a:pathLst>
                <a:path h="1496822" w="3398774">
                  <a:moveTo>
                    <a:pt x="0" y="249428"/>
                  </a:moveTo>
                  <a:cubicBezTo>
                    <a:pt x="0" y="111760"/>
                    <a:pt x="111760" y="0"/>
                    <a:pt x="249428" y="0"/>
                  </a:cubicBezTo>
                  <a:lnTo>
                    <a:pt x="3149346" y="0"/>
                  </a:lnTo>
                  <a:cubicBezTo>
                    <a:pt x="3287141" y="0"/>
                    <a:pt x="3398774" y="111760"/>
                    <a:pt x="3398774" y="249428"/>
                  </a:cubicBezTo>
                  <a:lnTo>
                    <a:pt x="3398774" y="1247394"/>
                  </a:lnTo>
                  <a:cubicBezTo>
                    <a:pt x="3398774" y="1385189"/>
                    <a:pt x="3287014" y="1496822"/>
                    <a:pt x="3149346" y="1496822"/>
                  </a:cubicBezTo>
                  <a:lnTo>
                    <a:pt x="249428" y="1496822"/>
                  </a:lnTo>
                  <a:cubicBezTo>
                    <a:pt x="111760" y="1496949"/>
                    <a:pt x="0" y="1385189"/>
                    <a:pt x="0" y="1247394"/>
                  </a:cubicBezTo>
                  <a:close/>
                </a:path>
              </a:pathLst>
            </a:custGeom>
            <a:solidFill>
              <a:srgbClr val="0F766E"/>
            </a:solidFill>
            <a:ln w="25400" cap="sq">
              <a:solidFill>
                <a:srgbClr val="0F766E"/>
              </a:solidFill>
              <a:prstDash val="solid"/>
              <a:miter/>
            </a:ln>
          </p:spPr>
        </p:sp>
      </p:grpSp>
      <p:grpSp>
        <p:nvGrpSpPr>
          <p:cNvPr name="Group 21" id="21"/>
          <p:cNvGrpSpPr/>
          <p:nvPr/>
        </p:nvGrpSpPr>
        <p:grpSpPr>
          <a:xfrm rot="0">
            <a:off x="3440477" y="3049540"/>
            <a:ext cx="2632367" cy="1144508"/>
            <a:chOff x="0" y="0"/>
            <a:chExt cx="3364992" cy="1463040"/>
          </a:xfrm>
        </p:grpSpPr>
        <p:sp>
          <p:nvSpPr>
            <p:cNvPr name="Freeform 22" id="22"/>
            <p:cNvSpPr/>
            <p:nvPr/>
          </p:nvSpPr>
          <p:spPr>
            <a:xfrm flipH="false" flipV="false" rot="0">
              <a:off x="0" y="0"/>
              <a:ext cx="3364992" cy="1463040"/>
            </a:xfrm>
            <a:custGeom>
              <a:avLst/>
              <a:gdLst/>
              <a:ahLst/>
              <a:cxnLst/>
              <a:rect r="r" b="b" t="t" l="l"/>
              <a:pathLst>
                <a:path h="1463040" w="3364992">
                  <a:moveTo>
                    <a:pt x="0" y="0"/>
                  </a:moveTo>
                  <a:lnTo>
                    <a:pt x="3364992" y="0"/>
                  </a:lnTo>
                  <a:lnTo>
                    <a:pt x="3364992" y="1463040"/>
                  </a:lnTo>
                  <a:lnTo>
                    <a:pt x="0" y="1463040"/>
                  </a:lnTo>
                  <a:close/>
                </a:path>
              </a:pathLst>
            </a:custGeom>
            <a:blipFill>
              <a:blip r:embed="rId3">
                <a:alphaModFix amt="0"/>
              </a:blip>
              <a:stretch>
                <a:fillRect l="-5784" t="0" r="-5784" b="0"/>
              </a:stretch>
            </a:blipFill>
          </p:spPr>
        </p:sp>
        <p:sp>
          <p:nvSpPr>
            <p:cNvPr name="TextBox 23" id="23"/>
            <p:cNvSpPr txBox="true"/>
            <p:nvPr/>
          </p:nvSpPr>
          <p:spPr>
            <a:xfrm>
              <a:off x="0" y="-9525"/>
              <a:ext cx="3364992" cy="1472565"/>
            </a:xfrm>
            <a:prstGeom prst="rect">
              <a:avLst/>
            </a:prstGeom>
          </p:spPr>
          <p:txBody>
            <a:bodyPr anchor="ctr" rtlCol="false" tIns="0" lIns="0" bIns="0" rIns="0"/>
            <a:lstStyle/>
            <a:p>
              <a:pPr algn="ctr">
                <a:lnSpc>
                  <a:spcPts val="2400"/>
                </a:lnSpc>
              </a:pPr>
              <a:r>
                <a:rPr lang="en-US" sz="2000" b="true">
                  <a:solidFill>
                    <a:srgbClr val="FFFFFF"/>
                  </a:solidFill>
                  <a:latin typeface="Proxima Nova Bold"/>
                  <a:ea typeface="Proxima Nova Bold"/>
                  <a:cs typeface="Proxima Nova Bold"/>
                  <a:sym typeface="Proxima Nova Bold"/>
                </a:rPr>
                <a:t>Data Cleaning &amp; Validation</a:t>
              </a:r>
            </a:p>
          </p:txBody>
        </p:sp>
      </p:grpSp>
      <p:grpSp>
        <p:nvGrpSpPr>
          <p:cNvPr name="Group 24" id="24"/>
          <p:cNvGrpSpPr/>
          <p:nvPr/>
        </p:nvGrpSpPr>
        <p:grpSpPr>
          <a:xfrm rot="0">
            <a:off x="6059601" y="3551325"/>
            <a:ext cx="407999" cy="140947"/>
            <a:chOff x="0" y="0"/>
            <a:chExt cx="521551" cy="180175"/>
          </a:xfrm>
        </p:grpSpPr>
        <p:sp>
          <p:nvSpPr>
            <p:cNvPr name="Freeform 25" id="25"/>
            <p:cNvSpPr/>
            <p:nvPr/>
          </p:nvSpPr>
          <p:spPr>
            <a:xfrm flipH="false" flipV="false" rot="0">
              <a:off x="0" y="0"/>
              <a:ext cx="521589" cy="180213"/>
            </a:xfrm>
            <a:custGeom>
              <a:avLst/>
              <a:gdLst/>
              <a:ahLst/>
              <a:cxnLst/>
              <a:rect r="r" b="b" t="t" l="l"/>
              <a:pathLst>
                <a:path h="180213" w="521589">
                  <a:moveTo>
                    <a:pt x="0" y="0"/>
                  </a:moveTo>
                  <a:lnTo>
                    <a:pt x="521589" y="0"/>
                  </a:lnTo>
                  <a:lnTo>
                    <a:pt x="521589" y="180213"/>
                  </a:lnTo>
                  <a:lnTo>
                    <a:pt x="0" y="180213"/>
                  </a:lnTo>
                  <a:close/>
                </a:path>
              </a:pathLst>
            </a:custGeom>
            <a:solidFill>
              <a:srgbClr val="CBD5E1"/>
            </a:solidFill>
            <a:ln w="25400" cap="sq">
              <a:solidFill>
                <a:srgbClr val="CBD5E1"/>
              </a:solidFill>
              <a:prstDash val="solid"/>
              <a:miter/>
            </a:ln>
          </p:spPr>
        </p:sp>
      </p:grpSp>
      <p:grpSp>
        <p:nvGrpSpPr>
          <p:cNvPr name="Group 26" id="26"/>
          <p:cNvGrpSpPr/>
          <p:nvPr/>
        </p:nvGrpSpPr>
        <p:grpSpPr>
          <a:xfrm rot="0">
            <a:off x="6034694" y="3297517"/>
            <a:ext cx="476878" cy="667629"/>
            <a:chOff x="0" y="0"/>
            <a:chExt cx="609600" cy="853440"/>
          </a:xfrm>
        </p:grpSpPr>
        <p:sp>
          <p:nvSpPr>
            <p:cNvPr name="Freeform 27" id="27"/>
            <p:cNvSpPr/>
            <p:nvPr/>
          </p:nvSpPr>
          <p:spPr>
            <a:xfrm flipH="false" flipV="false" rot="0">
              <a:off x="0" y="0"/>
              <a:ext cx="609600" cy="853440"/>
            </a:xfrm>
            <a:custGeom>
              <a:avLst/>
              <a:gdLst/>
              <a:ahLst/>
              <a:cxnLst/>
              <a:rect r="r" b="b" t="t" l="l"/>
              <a:pathLst>
                <a:path h="853440" w="609600">
                  <a:moveTo>
                    <a:pt x="0" y="0"/>
                  </a:moveTo>
                  <a:lnTo>
                    <a:pt x="609600" y="0"/>
                  </a:lnTo>
                  <a:lnTo>
                    <a:pt x="609600" y="853440"/>
                  </a:lnTo>
                  <a:lnTo>
                    <a:pt x="0" y="853440"/>
                  </a:lnTo>
                  <a:close/>
                </a:path>
              </a:pathLst>
            </a:custGeom>
            <a:blipFill>
              <a:blip r:embed="rId3">
                <a:alphaModFix amt="0"/>
              </a:blip>
              <a:stretch>
                <a:fillRect l="-129625" t="0" r="-129625" b="0"/>
              </a:stretch>
            </a:blipFill>
          </p:spPr>
        </p:sp>
        <p:sp>
          <p:nvSpPr>
            <p:cNvPr name="TextBox 28" id="28"/>
            <p:cNvSpPr txBox="true"/>
            <p:nvPr/>
          </p:nvSpPr>
          <p:spPr>
            <a:xfrm>
              <a:off x="0" y="-9525"/>
              <a:ext cx="609600" cy="862965"/>
            </a:xfrm>
            <a:prstGeom prst="rect">
              <a:avLst/>
            </a:prstGeom>
          </p:spPr>
          <p:txBody>
            <a:bodyPr anchor="ctr" rtlCol="false" tIns="0" lIns="0" bIns="0" rIns="0"/>
            <a:lstStyle/>
            <a:p>
              <a:pPr algn="l">
                <a:lnSpc>
                  <a:spcPts val="2400"/>
                </a:lnSpc>
              </a:pPr>
              <a:r>
                <a:rPr lang="en-US" sz="2000">
                  <a:solidFill>
                    <a:srgbClr val="64748B"/>
                  </a:solidFill>
                  <a:latin typeface="Proxima Nova"/>
                  <a:ea typeface="Proxima Nova"/>
                  <a:cs typeface="Proxima Nova"/>
                  <a:sym typeface="Proxima Nova"/>
                </a:rPr>
                <a:t>▶</a:t>
              </a:r>
            </a:p>
          </p:txBody>
        </p:sp>
      </p:grpSp>
      <p:grpSp>
        <p:nvGrpSpPr>
          <p:cNvPr name="Group 29" id="29"/>
          <p:cNvGrpSpPr/>
          <p:nvPr/>
        </p:nvGrpSpPr>
        <p:grpSpPr>
          <a:xfrm rot="0">
            <a:off x="6441104" y="3036297"/>
            <a:ext cx="2658864" cy="1171004"/>
            <a:chOff x="0" y="0"/>
            <a:chExt cx="3398863" cy="1496911"/>
          </a:xfrm>
        </p:grpSpPr>
        <p:sp>
          <p:nvSpPr>
            <p:cNvPr name="Freeform 30" id="30"/>
            <p:cNvSpPr/>
            <p:nvPr/>
          </p:nvSpPr>
          <p:spPr>
            <a:xfrm flipH="false" flipV="false" rot="0">
              <a:off x="0" y="0"/>
              <a:ext cx="3398774" cy="1496822"/>
            </a:xfrm>
            <a:custGeom>
              <a:avLst/>
              <a:gdLst/>
              <a:ahLst/>
              <a:cxnLst/>
              <a:rect r="r" b="b" t="t" l="l"/>
              <a:pathLst>
                <a:path h="1496822" w="3398774">
                  <a:moveTo>
                    <a:pt x="0" y="249428"/>
                  </a:moveTo>
                  <a:cubicBezTo>
                    <a:pt x="0" y="111760"/>
                    <a:pt x="111760" y="0"/>
                    <a:pt x="249428" y="0"/>
                  </a:cubicBezTo>
                  <a:lnTo>
                    <a:pt x="3149346" y="0"/>
                  </a:lnTo>
                  <a:cubicBezTo>
                    <a:pt x="3287141" y="0"/>
                    <a:pt x="3398774" y="111760"/>
                    <a:pt x="3398774" y="249428"/>
                  </a:cubicBezTo>
                  <a:lnTo>
                    <a:pt x="3398774" y="1247394"/>
                  </a:lnTo>
                  <a:cubicBezTo>
                    <a:pt x="3398774" y="1385189"/>
                    <a:pt x="3287014" y="1496822"/>
                    <a:pt x="3149346" y="1496822"/>
                  </a:cubicBezTo>
                  <a:lnTo>
                    <a:pt x="249428" y="1496822"/>
                  </a:lnTo>
                  <a:cubicBezTo>
                    <a:pt x="111760" y="1496949"/>
                    <a:pt x="0" y="1385189"/>
                    <a:pt x="0" y="1247394"/>
                  </a:cubicBezTo>
                  <a:close/>
                </a:path>
              </a:pathLst>
            </a:custGeom>
            <a:solidFill>
              <a:srgbClr val="0D9488"/>
            </a:solidFill>
            <a:ln w="25400" cap="sq">
              <a:solidFill>
                <a:srgbClr val="0D9488"/>
              </a:solidFill>
              <a:prstDash val="solid"/>
              <a:miter/>
            </a:ln>
          </p:spPr>
        </p:sp>
      </p:grpSp>
      <p:grpSp>
        <p:nvGrpSpPr>
          <p:cNvPr name="Group 31" id="31"/>
          <p:cNvGrpSpPr/>
          <p:nvPr/>
        </p:nvGrpSpPr>
        <p:grpSpPr>
          <a:xfrm rot="0">
            <a:off x="6454347" y="3049540"/>
            <a:ext cx="2632367" cy="1144508"/>
            <a:chOff x="0" y="0"/>
            <a:chExt cx="3364992" cy="1463040"/>
          </a:xfrm>
        </p:grpSpPr>
        <p:sp>
          <p:nvSpPr>
            <p:cNvPr name="Freeform 32" id="32"/>
            <p:cNvSpPr/>
            <p:nvPr/>
          </p:nvSpPr>
          <p:spPr>
            <a:xfrm flipH="false" flipV="false" rot="0">
              <a:off x="0" y="0"/>
              <a:ext cx="3364992" cy="1463040"/>
            </a:xfrm>
            <a:custGeom>
              <a:avLst/>
              <a:gdLst/>
              <a:ahLst/>
              <a:cxnLst/>
              <a:rect r="r" b="b" t="t" l="l"/>
              <a:pathLst>
                <a:path h="1463040" w="3364992">
                  <a:moveTo>
                    <a:pt x="0" y="0"/>
                  </a:moveTo>
                  <a:lnTo>
                    <a:pt x="3364992" y="0"/>
                  </a:lnTo>
                  <a:lnTo>
                    <a:pt x="3364992" y="1463040"/>
                  </a:lnTo>
                  <a:lnTo>
                    <a:pt x="0" y="1463040"/>
                  </a:lnTo>
                  <a:close/>
                </a:path>
              </a:pathLst>
            </a:custGeom>
            <a:blipFill>
              <a:blip r:embed="rId3">
                <a:alphaModFix amt="0"/>
              </a:blip>
              <a:stretch>
                <a:fillRect l="-5784" t="0" r="-5784" b="0"/>
              </a:stretch>
            </a:blipFill>
          </p:spPr>
        </p:sp>
        <p:sp>
          <p:nvSpPr>
            <p:cNvPr name="TextBox 33" id="33"/>
            <p:cNvSpPr txBox="true"/>
            <p:nvPr/>
          </p:nvSpPr>
          <p:spPr>
            <a:xfrm>
              <a:off x="0" y="-9525"/>
              <a:ext cx="3364992" cy="1472565"/>
            </a:xfrm>
            <a:prstGeom prst="rect">
              <a:avLst/>
            </a:prstGeom>
          </p:spPr>
          <p:txBody>
            <a:bodyPr anchor="ctr" rtlCol="false" tIns="0" lIns="0" bIns="0" rIns="0"/>
            <a:lstStyle/>
            <a:p>
              <a:pPr algn="ctr">
                <a:lnSpc>
                  <a:spcPts val="2400"/>
                </a:lnSpc>
              </a:pPr>
              <a:r>
                <a:rPr lang="en-US" sz="2000" b="true">
                  <a:solidFill>
                    <a:srgbClr val="FFFFFF"/>
                  </a:solidFill>
                  <a:latin typeface="Proxima Nova Bold"/>
                  <a:ea typeface="Proxima Nova Bold"/>
                  <a:cs typeface="Proxima Nova Bold"/>
                  <a:sym typeface="Proxima Nova Bold"/>
                </a:rPr>
                <a:t>SQLite Database</a:t>
              </a:r>
            </a:p>
          </p:txBody>
        </p:sp>
      </p:grpSp>
      <p:grpSp>
        <p:nvGrpSpPr>
          <p:cNvPr name="Group 34" id="34"/>
          <p:cNvGrpSpPr/>
          <p:nvPr/>
        </p:nvGrpSpPr>
        <p:grpSpPr>
          <a:xfrm rot="0">
            <a:off x="9073471" y="3551325"/>
            <a:ext cx="407999" cy="140947"/>
            <a:chOff x="0" y="0"/>
            <a:chExt cx="521551" cy="180175"/>
          </a:xfrm>
        </p:grpSpPr>
        <p:sp>
          <p:nvSpPr>
            <p:cNvPr name="Freeform 35" id="35"/>
            <p:cNvSpPr/>
            <p:nvPr/>
          </p:nvSpPr>
          <p:spPr>
            <a:xfrm flipH="false" flipV="false" rot="0">
              <a:off x="0" y="0"/>
              <a:ext cx="521589" cy="180213"/>
            </a:xfrm>
            <a:custGeom>
              <a:avLst/>
              <a:gdLst/>
              <a:ahLst/>
              <a:cxnLst/>
              <a:rect r="r" b="b" t="t" l="l"/>
              <a:pathLst>
                <a:path h="180213" w="521589">
                  <a:moveTo>
                    <a:pt x="0" y="0"/>
                  </a:moveTo>
                  <a:lnTo>
                    <a:pt x="521589" y="0"/>
                  </a:lnTo>
                  <a:lnTo>
                    <a:pt x="521589" y="180213"/>
                  </a:lnTo>
                  <a:lnTo>
                    <a:pt x="0" y="180213"/>
                  </a:lnTo>
                  <a:close/>
                </a:path>
              </a:pathLst>
            </a:custGeom>
            <a:solidFill>
              <a:srgbClr val="CBD5E1"/>
            </a:solidFill>
            <a:ln w="25400" cap="sq">
              <a:solidFill>
                <a:srgbClr val="CBD5E1"/>
              </a:solidFill>
              <a:prstDash val="solid"/>
              <a:miter/>
            </a:ln>
          </p:spPr>
        </p:sp>
      </p:grpSp>
      <p:grpSp>
        <p:nvGrpSpPr>
          <p:cNvPr name="Group 36" id="36"/>
          <p:cNvGrpSpPr/>
          <p:nvPr/>
        </p:nvGrpSpPr>
        <p:grpSpPr>
          <a:xfrm rot="0">
            <a:off x="9048564" y="3297517"/>
            <a:ext cx="476878" cy="667629"/>
            <a:chOff x="0" y="0"/>
            <a:chExt cx="609600" cy="853440"/>
          </a:xfrm>
        </p:grpSpPr>
        <p:sp>
          <p:nvSpPr>
            <p:cNvPr name="Freeform 37" id="37"/>
            <p:cNvSpPr/>
            <p:nvPr/>
          </p:nvSpPr>
          <p:spPr>
            <a:xfrm flipH="false" flipV="false" rot="0">
              <a:off x="0" y="0"/>
              <a:ext cx="609600" cy="853440"/>
            </a:xfrm>
            <a:custGeom>
              <a:avLst/>
              <a:gdLst/>
              <a:ahLst/>
              <a:cxnLst/>
              <a:rect r="r" b="b" t="t" l="l"/>
              <a:pathLst>
                <a:path h="853440" w="609600">
                  <a:moveTo>
                    <a:pt x="0" y="0"/>
                  </a:moveTo>
                  <a:lnTo>
                    <a:pt x="609600" y="0"/>
                  </a:lnTo>
                  <a:lnTo>
                    <a:pt x="609600" y="853440"/>
                  </a:lnTo>
                  <a:lnTo>
                    <a:pt x="0" y="853440"/>
                  </a:lnTo>
                  <a:close/>
                </a:path>
              </a:pathLst>
            </a:custGeom>
            <a:blipFill>
              <a:blip r:embed="rId3">
                <a:alphaModFix amt="0"/>
              </a:blip>
              <a:stretch>
                <a:fillRect l="-129625" t="0" r="-129625" b="0"/>
              </a:stretch>
            </a:blipFill>
          </p:spPr>
        </p:sp>
        <p:sp>
          <p:nvSpPr>
            <p:cNvPr name="TextBox 38" id="38"/>
            <p:cNvSpPr txBox="true"/>
            <p:nvPr/>
          </p:nvSpPr>
          <p:spPr>
            <a:xfrm>
              <a:off x="0" y="-9525"/>
              <a:ext cx="609600" cy="862965"/>
            </a:xfrm>
            <a:prstGeom prst="rect">
              <a:avLst/>
            </a:prstGeom>
          </p:spPr>
          <p:txBody>
            <a:bodyPr anchor="ctr" rtlCol="false" tIns="0" lIns="0" bIns="0" rIns="0"/>
            <a:lstStyle/>
            <a:p>
              <a:pPr algn="l">
                <a:lnSpc>
                  <a:spcPts val="2400"/>
                </a:lnSpc>
              </a:pPr>
              <a:r>
                <a:rPr lang="en-US" sz="2000">
                  <a:solidFill>
                    <a:srgbClr val="64748B"/>
                  </a:solidFill>
                  <a:latin typeface="Proxima Nova"/>
                  <a:ea typeface="Proxima Nova"/>
                  <a:cs typeface="Proxima Nova"/>
                  <a:sym typeface="Proxima Nova"/>
                </a:rPr>
                <a:t>▶</a:t>
              </a:r>
            </a:p>
          </p:txBody>
        </p:sp>
      </p:grpSp>
      <p:grpSp>
        <p:nvGrpSpPr>
          <p:cNvPr name="Group 39" id="39"/>
          <p:cNvGrpSpPr/>
          <p:nvPr/>
        </p:nvGrpSpPr>
        <p:grpSpPr>
          <a:xfrm rot="0">
            <a:off x="9454974" y="3036297"/>
            <a:ext cx="2658864" cy="1171004"/>
            <a:chOff x="0" y="0"/>
            <a:chExt cx="3398863" cy="1496911"/>
          </a:xfrm>
        </p:grpSpPr>
        <p:sp>
          <p:nvSpPr>
            <p:cNvPr name="Freeform 40" id="40"/>
            <p:cNvSpPr/>
            <p:nvPr/>
          </p:nvSpPr>
          <p:spPr>
            <a:xfrm flipH="false" flipV="false" rot="0">
              <a:off x="0" y="0"/>
              <a:ext cx="3398774" cy="1496822"/>
            </a:xfrm>
            <a:custGeom>
              <a:avLst/>
              <a:gdLst/>
              <a:ahLst/>
              <a:cxnLst/>
              <a:rect r="r" b="b" t="t" l="l"/>
              <a:pathLst>
                <a:path h="1496822" w="3398774">
                  <a:moveTo>
                    <a:pt x="0" y="249428"/>
                  </a:moveTo>
                  <a:cubicBezTo>
                    <a:pt x="0" y="111760"/>
                    <a:pt x="111760" y="0"/>
                    <a:pt x="249428" y="0"/>
                  </a:cubicBezTo>
                  <a:lnTo>
                    <a:pt x="3149346" y="0"/>
                  </a:lnTo>
                  <a:cubicBezTo>
                    <a:pt x="3287141" y="0"/>
                    <a:pt x="3398774" y="111760"/>
                    <a:pt x="3398774" y="249428"/>
                  </a:cubicBezTo>
                  <a:lnTo>
                    <a:pt x="3398774" y="1247394"/>
                  </a:lnTo>
                  <a:cubicBezTo>
                    <a:pt x="3398774" y="1385189"/>
                    <a:pt x="3287014" y="1496822"/>
                    <a:pt x="3149346" y="1496822"/>
                  </a:cubicBezTo>
                  <a:lnTo>
                    <a:pt x="249428" y="1496822"/>
                  </a:lnTo>
                  <a:cubicBezTo>
                    <a:pt x="111760" y="1496949"/>
                    <a:pt x="0" y="1385189"/>
                    <a:pt x="0" y="1247394"/>
                  </a:cubicBezTo>
                  <a:close/>
                </a:path>
              </a:pathLst>
            </a:custGeom>
            <a:solidFill>
              <a:srgbClr val="0891B2"/>
            </a:solidFill>
            <a:ln w="25400" cap="sq">
              <a:solidFill>
                <a:srgbClr val="0891B2"/>
              </a:solidFill>
              <a:prstDash val="solid"/>
              <a:miter/>
            </a:ln>
          </p:spPr>
        </p:sp>
      </p:grpSp>
      <p:grpSp>
        <p:nvGrpSpPr>
          <p:cNvPr name="Group 41" id="41"/>
          <p:cNvGrpSpPr/>
          <p:nvPr/>
        </p:nvGrpSpPr>
        <p:grpSpPr>
          <a:xfrm rot="0">
            <a:off x="9468217" y="3049540"/>
            <a:ext cx="2632367" cy="1144508"/>
            <a:chOff x="0" y="0"/>
            <a:chExt cx="3364992" cy="1463040"/>
          </a:xfrm>
        </p:grpSpPr>
        <p:sp>
          <p:nvSpPr>
            <p:cNvPr name="Freeform 42" id="42"/>
            <p:cNvSpPr/>
            <p:nvPr/>
          </p:nvSpPr>
          <p:spPr>
            <a:xfrm flipH="false" flipV="false" rot="0">
              <a:off x="0" y="0"/>
              <a:ext cx="3364992" cy="1463040"/>
            </a:xfrm>
            <a:custGeom>
              <a:avLst/>
              <a:gdLst/>
              <a:ahLst/>
              <a:cxnLst/>
              <a:rect r="r" b="b" t="t" l="l"/>
              <a:pathLst>
                <a:path h="1463040" w="3364992">
                  <a:moveTo>
                    <a:pt x="0" y="0"/>
                  </a:moveTo>
                  <a:lnTo>
                    <a:pt x="3364992" y="0"/>
                  </a:lnTo>
                  <a:lnTo>
                    <a:pt x="3364992" y="1463040"/>
                  </a:lnTo>
                  <a:lnTo>
                    <a:pt x="0" y="1463040"/>
                  </a:lnTo>
                  <a:close/>
                </a:path>
              </a:pathLst>
            </a:custGeom>
            <a:blipFill>
              <a:blip r:embed="rId3">
                <a:alphaModFix amt="0"/>
              </a:blip>
              <a:stretch>
                <a:fillRect l="-5784" t="0" r="-5784" b="0"/>
              </a:stretch>
            </a:blipFill>
          </p:spPr>
        </p:sp>
        <p:sp>
          <p:nvSpPr>
            <p:cNvPr name="TextBox 43" id="43"/>
            <p:cNvSpPr txBox="true"/>
            <p:nvPr/>
          </p:nvSpPr>
          <p:spPr>
            <a:xfrm>
              <a:off x="0" y="-9525"/>
              <a:ext cx="3364992" cy="1472565"/>
            </a:xfrm>
            <a:prstGeom prst="rect">
              <a:avLst/>
            </a:prstGeom>
          </p:spPr>
          <p:txBody>
            <a:bodyPr anchor="ctr" rtlCol="false" tIns="0" lIns="0" bIns="0" rIns="0"/>
            <a:lstStyle/>
            <a:p>
              <a:pPr algn="ctr">
                <a:lnSpc>
                  <a:spcPts val="2400"/>
                </a:lnSpc>
              </a:pPr>
              <a:r>
                <a:rPr lang="en-US" sz="2000" b="true">
                  <a:solidFill>
                    <a:srgbClr val="FFFFFF"/>
                  </a:solidFill>
                  <a:latin typeface="Proxima Nova Bold"/>
                  <a:ea typeface="Proxima Nova Bold"/>
                  <a:cs typeface="Proxima Nova Bold"/>
                  <a:sym typeface="Proxima Nova Bold"/>
                </a:rPr>
                <a:t>EDA &amp; Financial Analytics</a:t>
              </a:r>
            </a:p>
          </p:txBody>
        </p:sp>
      </p:grpSp>
      <p:grpSp>
        <p:nvGrpSpPr>
          <p:cNvPr name="Group 44" id="44"/>
          <p:cNvGrpSpPr/>
          <p:nvPr/>
        </p:nvGrpSpPr>
        <p:grpSpPr>
          <a:xfrm rot="0">
            <a:off x="12087341" y="3551325"/>
            <a:ext cx="407999" cy="140947"/>
            <a:chOff x="0" y="0"/>
            <a:chExt cx="521551" cy="180175"/>
          </a:xfrm>
        </p:grpSpPr>
        <p:sp>
          <p:nvSpPr>
            <p:cNvPr name="Freeform 45" id="45"/>
            <p:cNvSpPr/>
            <p:nvPr/>
          </p:nvSpPr>
          <p:spPr>
            <a:xfrm flipH="false" flipV="false" rot="0">
              <a:off x="0" y="0"/>
              <a:ext cx="521589" cy="180213"/>
            </a:xfrm>
            <a:custGeom>
              <a:avLst/>
              <a:gdLst/>
              <a:ahLst/>
              <a:cxnLst/>
              <a:rect r="r" b="b" t="t" l="l"/>
              <a:pathLst>
                <a:path h="180213" w="521589">
                  <a:moveTo>
                    <a:pt x="0" y="0"/>
                  </a:moveTo>
                  <a:lnTo>
                    <a:pt x="521589" y="0"/>
                  </a:lnTo>
                  <a:lnTo>
                    <a:pt x="521589" y="180213"/>
                  </a:lnTo>
                  <a:lnTo>
                    <a:pt x="0" y="180213"/>
                  </a:lnTo>
                  <a:close/>
                </a:path>
              </a:pathLst>
            </a:custGeom>
            <a:solidFill>
              <a:srgbClr val="CBD5E1"/>
            </a:solidFill>
            <a:ln w="25400" cap="sq">
              <a:solidFill>
                <a:srgbClr val="CBD5E1"/>
              </a:solidFill>
              <a:prstDash val="solid"/>
              <a:miter/>
            </a:ln>
          </p:spPr>
        </p:sp>
      </p:grpSp>
      <p:grpSp>
        <p:nvGrpSpPr>
          <p:cNvPr name="Group 46" id="46"/>
          <p:cNvGrpSpPr/>
          <p:nvPr/>
        </p:nvGrpSpPr>
        <p:grpSpPr>
          <a:xfrm rot="0">
            <a:off x="12062434" y="3297517"/>
            <a:ext cx="476878" cy="667629"/>
            <a:chOff x="0" y="0"/>
            <a:chExt cx="609600" cy="853440"/>
          </a:xfrm>
        </p:grpSpPr>
        <p:sp>
          <p:nvSpPr>
            <p:cNvPr name="Freeform 47" id="47"/>
            <p:cNvSpPr/>
            <p:nvPr/>
          </p:nvSpPr>
          <p:spPr>
            <a:xfrm flipH="false" flipV="false" rot="0">
              <a:off x="0" y="0"/>
              <a:ext cx="609600" cy="853440"/>
            </a:xfrm>
            <a:custGeom>
              <a:avLst/>
              <a:gdLst/>
              <a:ahLst/>
              <a:cxnLst/>
              <a:rect r="r" b="b" t="t" l="l"/>
              <a:pathLst>
                <a:path h="853440" w="609600">
                  <a:moveTo>
                    <a:pt x="0" y="0"/>
                  </a:moveTo>
                  <a:lnTo>
                    <a:pt x="609600" y="0"/>
                  </a:lnTo>
                  <a:lnTo>
                    <a:pt x="609600" y="853440"/>
                  </a:lnTo>
                  <a:lnTo>
                    <a:pt x="0" y="853440"/>
                  </a:lnTo>
                  <a:close/>
                </a:path>
              </a:pathLst>
            </a:custGeom>
            <a:blipFill>
              <a:blip r:embed="rId3">
                <a:alphaModFix amt="0"/>
              </a:blip>
              <a:stretch>
                <a:fillRect l="-129625" t="0" r="-129625" b="0"/>
              </a:stretch>
            </a:blipFill>
          </p:spPr>
        </p:sp>
        <p:sp>
          <p:nvSpPr>
            <p:cNvPr name="TextBox 48" id="48"/>
            <p:cNvSpPr txBox="true"/>
            <p:nvPr/>
          </p:nvSpPr>
          <p:spPr>
            <a:xfrm>
              <a:off x="0" y="-9525"/>
              <a:ext cx="609600" cy="862965"/>
            </a:xfrm>
            <a:prstGeom prst="rect">
              <a:avLst/>
            </a:prstGeom>
          </p:spPr>
          <p:txBody>
            <a:bodyPr anchor="ctr" rtlCol="false" tIns="0" lIns="0" bIns="0" rIns="0"/>
            <a:lstStyle/>
            <a:p>
              <a:pPr algn="l">
                <a:lnSpc>
                  <a:spcPts val="2400"/>
                </a:lnSpc>
              </a:pPr>
              <a:r>
                <a:rPr lang="en-US" sz="2000">
                  <a:solidFill>
                    <a:srgbClr val="64748B"/>
                  </a:solidFill>
                  <a:latin typeface="Proxima Nova"/>
                  <a:ea typeface="Proxima Nova"/>
                  <a:cs typeface="Proxima Nova"/>
                  <a:sym typeface="Proxima Nova"/>
                </a:rPr>
                <a:t>▶</a:t>
              </a:r>
            </a:p>
          </p:txBody>
        </p:sp>
      </p:grpSp>
      <p:grpSp>
        <p:nvGrpSpPr>
          <p:cNvPr name="Group 49" id="49"/>
          <p:cNvGrpSpPr/>
          <p:nvPr/>
        </p:nvGrpSpPr>
        <p:grpSpPr>
          <a:xfrm rot="0">
            <a:off x="12468844" y="3036297"/>
            <a:ext cx="2658864" cy="1171004"/>
            <a:chOff x="0" y="0"/>
            <a:chExt cx="3398863" cy="1496911"/>
          </a:xfrm>
        </p:grpSpPr>
        <p:sp>
          <p:nvSpPr>
            <p:cNvPr name="Freeform 50" id="50"/>
            <p:cNvSpPr/>
            <p:nvPr/>
          </p:nvSpPr>
          <p:spPr>
            <a:xfrm flipH="false" flipV="false" rot="0">
              <a:off x="0" y="0"/>
              <a:ext cx="3398774" cy="1496822"/>
            </a:xfrm>
            <a:custGeom>
              <a:avLst/>
              <a:gdLst/>
              <a:ahLst/>
              <a:cxnLst/>
              <a:rect r="r" b="b" t="t" l="l"/>
              <a:pathLst>
                <a:path h="1496822" w="3398774">
                  <a:moveTo>
                    <a:pt x="0" y="249428"/>
                  </a:moveTo>
                  <a:cubicBezTo>
                    <a:pt x="0" y="111760"/>
                    <a:pt x="111760" y="0"/>
                    <a:pt x="249428" y="0"/>
                  </a:cubicBezTo>
                  <a:lnTo>
                    <a:pt x="3149346" y="0"/>
                  </a:lnTo>
                  <a:cubicBezTo>
                    <a:pt x="3287141" y="0"/>
                    <a:pt x="3398774" y="111760"/>
                    <a:pt x="3398774" y="249428"/>
                  </a:cubicBezTo>
                  <a:lnTo>
                    <a:pt x="3398774" y="1247394"/>
                  </a:lnTo>
                  <a:cubicBezTo>
                    <a:pt x="3398774" y="1385189"/>
                    <a:pt x="3287014" y="1496822"/>
                    <a:pt x="3149346" y="1496822"/>
                  </a:cubicBezTo>
                  <a:lnTo>
                    <a:pt x="249428" y="1496822"/>
                  </a:lnTo>
                  <a:cubicBezTo>
                    <a:pt x="111760" y="1496949"/>
                    <a:pt x="0" y="1385189"/>
                    <a:pt x="0" y="1247394"/>
                  </a:cubicBezTo>
                  <a:close/>
                </a:path>
              </a:pathLst>
            </a:custGeom>
            <a:solidFill>
              <a:srgbClr val="1D4ED8"/>
            </a:solidFill>
            <a:ln w="25400" cap="sq">
              <a:solidFill>
                <a:srgbClr val="1D4ED8"/>
              </a:solidFill>
              <a:prstDash val="solid"/>
              <a:miter/>
            </a:ln>
          </p:spPr>
        </p:sp>
      </p:grpSp>
      <p:grpSp>
        <p:nvGrpSpPr>
          <p:cNvPr name="Group 51" id="51"/>
          <p:cNvGrpSpPr/>
          <p:nvPr/>
        </p:nvGrpSpPr>
        <p:grpSpPr>
          <a:xfrm rot="0">
            <a:off x="12482087" y="3049540"/>
            <a:ext cx="2632367" cy="1144508"/>
            <a:chOff x="0" y="0"/>
            <a:chExt cx="3364992" cy="1463040"/>
          </a:xfrm>
        </p:grpSpPr>
        <p:sp>
          <p:nvSpPr>
            <p:cNvPr name="Freeform 52" id="52"/>
            <p:cNvSpPr/>
            <p:nvPr/>
          </p:nvSpPr>
          <p:spPr>
            <a:xfrm flipH="false" flipV="false" rot="0">
              <a:off x="0" y="0"/>
              <a:ext cx="3364992" cy="1463040"/>
            </a:xfrm>
            <a:custGeom>
              <a:avLst/>
              <a:gdLst/>
              <a:ahLst/>
              <a:cxnLst/>
              <a:rect r="r" b="b" t="t" l="l"/>
              <a:pathLst>
                <a:path h="1463040" w="3364992">
                  <a:moveTo>
                    <a:pt x="0" y="0"/>
                  </a:moveTo>
                  <a:lnTo>
                    <a:pt x="3364992" y="0"/>
                  </a:lnTo>
                  <a:lnTo>
                    <a:pt x="3364992" y="1463040"/>
                  </a:lnTo>
                  <a:lnTo>
                    <a:pt x="0" y="1463040"/>
                  </a:lnTo>
                  <a:close/>
                </a:path>
              </a:pathLst>
            </a:custGeom>
            <a:blipFill>
              <a:blip r:embed="rId3">
                <a:alphaModFix amt="0"/>
              </a:blip>
              <a:stretch>
                <a:fillRect l="-5784" t="0" r="-5784" b="0"/>
              </a:stretch>
            </a:blipFill>
          </p:spPr>
        </p:sp>
        <p:sp>
          <p:nvSpPr>
            <p:cNvPr name="TextBox 53" id="53"/>
            <p:cNvSpPr txBox="true"/>
            <p:nvPr/>
          </p:nvSpPr>
          <p:spPr>
            <a:xfrm>
              <a:off x="0" y="-9525"/>
              <a:ext cx="3364992" cy="1472565"/>
            </a:xfrm>
            <a:prstGeom prst="rect">
              <a:avLst/>
            </a:prstGeom>
          </p:spPr>
          <p:txBody>
            <a:bodyPr anchor="ctr" rtlCol="false" tIns="0" lIns="0" bIns="0" rIns="0"/>
            <a:lstStyle/>
            <a:p>
              <a:pPr algn="ctr">
                <a:lnSpc>
                  <a:spcPts val="2400"/>
                </a:lnSpc>
              </a:pPr>
              <a:r>
                <a:rPr lang="en-US" sz="2000" b="true">
                  <a:solidFill>
                    <a:srgbClr val="FFFFFF"/>
                  </a:solidFill>
                  <a:latin typeface="Proxima Nova Bold"/>
                  <a:ea typeface="Proxima Nova Bold"/>
                  <a:cs typeface="Proxima Nova Bold"/>
                  <a:sym typeface="Proxima Nova Bold"/>
                </a:rPr>
                <a:t>Power BI Dashboard</a:t>
              </a:r>
            </a:p>
          </p:txBody>
        </p:sp>
      </p:grpSp>
      <p:grpSp>
        <p:nvGrpSpPr>
          <p:cNvPr name="Group 54" id="54"/>
          <p:cNvGrpSpPr/>
          <p:nvPr/>
        </p:nvGrpSpPr>
        <p:grpSpPr>
          <a:xfrm rot="0">
            <a:off x="15101211" y="3551325"/>
            <a:ext cx="407999" cy="140947"/>
            <a:chOff x="0" y="0"/>
            <a:chExt cx="521551" cy="180175"/>
          </a:xfrm>
        </p:grpSpPr>
        <p:sp>
          <p:nvSpPr>
            <p:cNvPr name="Freeform 55" id="55"/>
            <p:cNvSpPr/>
            <p:nvPr/>
          </p:nvSpPr>
          <p:spPr>
            <a:xfrm flipH="false" flipV="false" rot="0">
              <a:off x="0" y="0"/>
              <a:ext cx="521589" cy="180213"/>
            </a:xfrm>
            <a:custGeom>
              <a:avLst/>
              <a:gdLst/>
              <a:ahLst/>
              <a:cxnLst/>
              <a:rect r="r" b="b" t="t" l="l"/>
              <a:pathLst>
                <a:path h="180213" w="521589">
                  <a:moveTo>
                    <a:pt x="0" y="0"/>
                  </a:moveTo>
                  <a:lnTo>
                    <a:pt x="521589" y="0"/>
                  </a:lnTo>
                  <a:lnTo>
                    <a:pt x="521589" y="180213"/>
                  </a:lnTo>
                  <a:lnTo>
                    <a:pt x="0" y="180213"/>
                  </a:lnTo>
                  <a:close/>
                </a:path>
              </a:pathLst>
            </a:custGeom>
            <a:solidFill>
              <a:srgbClr val="CBD5E1"/>
            </a:solidFill>
            <a:ln w="25400" cap="sq">
              <a:solidFill>
                <a:srgbClr val="CBD5E1"/>
              </a:solidFill>
              <a:prstDash val="solid"/>
              <a:miter/>
            </a:ln>
          </p:spPr>
        </p:sp>
      </p:grpSp>
      <p:grpSp>
        <p:nvGrpSpPr>
          <p:cNvPr name="Group 56" id="56"/>
          <p:cNvGrpSpPr/>
          <p:nvPr/>
        </p:nvGrpSpPr>
        <p:grpSpPr>
          <a:xfrm rot="0">
            <a:off x="15076304" y="3297517"/>
            <a:ext cx="476878" cy="667629"/>
            <a:chOff x="0" y="0"/>
            <a:chExt cx="609600" cy="853440"/>
          </a:xfrm>
        </p:grpSpPr>
        <p:sp>
          <p:nvSpPr>
            <p:cNvPr name="Freeform 57" id="57"/>
            <p:cNvSpPr/>
            <p:nvPr/>
          </p:nvSpPr>
          <p:spPr>
            <a:xfrm flipH="false" flipV="false" rot="0">
              <a:off x="0" y="0"/>
              <a:ext cx="609600" cy="853440"/>
            </a:xfrm>
            <a:custGeom>
              <a:avLst/>
              <a:gdLst/>
              <a:ahLst/>
              <a:cxnLst/>
              <a:rect r="r" b="b" t="t" l="l"/>
              <a:pathLst>
                <a:path h="853440" w="609600">
                  <a:moveTo>
                    <a:pt x="0" y="0"/>
                  </a:moveTo>
                  <a:lnTo>
                    <a:pt x="609600" y="0"/>
                  </a:lnTo>
                  <a:lnTo>
                    <a:pt x="609600" y="853440"/>
                  </a:lnTo>
                  <a:lnTo>
                    <a:pt x="0" y="853440"/>
                  </a:lnTo>
                  <a:close/>
                </a:path>
              </a:pathLst>
            </a:custGeom>
            <a:blipFill>
              <a:blip r:embed="rId3">
                <a:alphaModFix amt="0"/>
              </a:blip>
              <a:stretch>
                <a:fillRect l="-129625" t="0" r="-129625" b="0"/>
              </a:stretch>
            </a:blipFill>
          </p:spPr>
        </p:sp>
        <p:sp>
          <p:nvSpPr>
            <p:cNvPr name="TextBox 58" id="58"/>
            <p:cNvSpPr txBox="true"/>
            <p:nvPr/>
          </p:nvSpPr>
          <p:spPr>
            <a:xfrm>
              <a:off x="0" y="-9525"/>
              <a:ext cx="609600" cy="862965"/>
            </a:xfrm>
            <a:prstGeom prst="rect">
              <a:avLst/>
            </a:prstGeom>
          </p:spPr>
          <p:txBody>
            <a:bodyPr anchor="ctr" rtlCol="false" tIns="0" lIns="0" bIns="0" rIns="0"/>
            <a:lstStyle/>
            <a:p>
              <a:pPr algn="l">
                <a:lnSpc>
                  <a:spcPts val="2400"/>
                </a:lnSpc>
              </a:pPr>
              <a:r>
                <a:rPr lang="en-US" sz="2000">
                  <a:solidFill>
                    <a:srgbClr val="64748B"/>
                  </a:solidFill>
                  <a:latin typeface="Proxima Nova"/>
                  <a:ea typeface="Proxima Nova"/>
                  <a:cs typeface="Proxima Nova"/>
                  <a:sym typeface="Proxima Nova"/>
                </a:rPr>
                <a:t>▶</a:t>
              </a:r>
            </a:p>
          </p:txBody>
        </p:sp>
      </p:grpSp>
      <p:grpSp>
        <p:nvGrpSpPr>
          <p:cNvPr name="Group 59" id="59"/>
          <p:cNvGrpSpPr/>
          <p:nvPr/>
        </p:nvGrpSpPr>
        <p:grpSpPr>
          <a:xfrm rot="0">
            <a:off x="15482714" y="3036297"/>
            <a:ext cx="2658864" cy="1171004"/>
            <a:chOff x="0" y="0"/>
            <a:chExt cx="3398863" cy="1496911"/>
          </a:xfrm>
        </p:grpSpPr>
        <p:sp>
          <p:nvSpPr>
            <p:cNvPr name="Freeform 60" id="60"/>
            <p:cNvSpPr/>
            <p:nvPr/>
          </p:nvSpPr>
          <p:spPr>
            <a:xfrm flipH="false" flipV="false" rot="0">
              <a:off x="0" y="0"/>
              <a:ext cx="3398774" cy="1496822"/>
            </a:xfrm>
            <a:custGeom>
              <a:avLst/>
              <a:gdLst/>
              <a:ahLst/>
              <a:cxnLst/>
              <a:rect r="r" b="b" t="t" l="l"/>
              <a:pathLst>
                <a:path h="1496822" w="3398774">
                  <a:moveTo>
                    <a:pt x="0" y="249428"/>
                  </a:moveTo>
                  <a:cubicBezTo>
                    <a:pt x="0" y="111760"/>
                    <a:pt x="111760" y="0"/>
                    <a:pt x="249428" y="0"/>
                  </a:cubicBezTo>
                  <a:lnTo>
                    <a:pt x="3149346" y="0"/>
                  </a:lnTo>
                  <a:cubicBezTo>
                    <a:pt x="3287141" y="0"/>
                    <a:pt x="3398774" y="111760"/>
                    <a:pt x="3398774" y="249428"/>
                  </a:cubicBezTo>
                  <a:lnTo>
                    <a:pt x="3398774" y="1247394"/>
                  </a:lnTo>
                  <a:cubicBezTo>
                    <a:pt x="3398774" y="1385189"/>
                    <a:pt x="3287014" y="1496822"/>
                    <a:pt x="3149346" y="1496822"/>
                  </a:cubicBezTo>
                  <a:lnTo>
                    <a:pt x="249428" y="1496822"/>
                  </a:lnTo>
                  <a:cubicBezTo>
                    <a:pt x="111760" y="1496949"/>
                    <a:pt x="0" y="1385189"/>
                    <a:pt x="0" y="1247394"/>
                  </a:cubicBezTo>
                  <a:close/>
                </a:path>
              </a:pathLst>
            </a:custGeom>
            <a:solidFill>
              <a:srgbClr val="0D1B2A"/>
            </a:solidFill>
            <a:ln w="25400" cap="sq">
              <a:solidFill>
                <a:srgbClr val="0D1B2A"/>
              </a:solidFill>
              <a:prstDash val="solid"/>
              <a:miter/>
            </a:ln>
          </p:spPr>
        </p:sp>
      </p:grpSp>
      <p:grpSp>
        <p:nvGrpSpPr>
          <p:cNvPr name="Group 61" id="61"/>
          <p:cNvGrpSpPr/>
          <p:nvPr/>
        </p:nvGrpSpPr>
        <p:grpSpPr>
          <a:xfrm rot="0">
            <a:off x="15495957" y="3049540"/>
            <a:ext cx="2632367" cy="1144508"/>
            <a:chOff x="0" y="0"/>
            <a:chExt cx="3364992" cy="1463040"/>
          </a:xfrm>
        </p:grpSpPr>
        <p:sp>
          <p:nvSpPr>
            <p:cNvPr name="Freeform 62" id="62"/>
            <p:cNvSpPr/>
            <p:nvPr/>
          </p:nvSpPr>
          <p:spPr>
            <a:xfrm flipH="false" flipV="false" rot="0">
              <a:off x="0" y="0"/>
              <a:ext cx="3364992" cy="1463040"/>
            </a:xfrm>
            <a:custGeom>
              <a:avLst/>
              <a:gdLst/>
              <a:ahLst/>
              <a:cxnLst/>
              <a:rect r="r" b="b" t="t" l="l"/>
              <a:pathLst>
                <a:path h="1463040" w="3364992">
                  <a:moveTo>
                    <a:pt x="0" y="0"/>
                  </a:moveTo>
                  <a:lnTo>
                    <a:pt x="3364992" y="0"/>
                  </a:lnTo>
                  <a:lnTo>
                    <a:pt x="3364992" y="1463040"/>
                  </a:lnTo>
                  <a:lnTo>
                    <a:pt x="0" y="1463040"/>
                  </a:lnTo>
                  <a:close/>
                </a:path>
              </a:pathLst>
            </a:custGeom>
            <a:blipFill>
              <a:blip r:embed="rId3">
                <a:alphaModFix amt="0"/>
              </a:blip>
              <a:stretch>
                <a:fillRect l="-5784" t="0" r="-5784" b="0"/>
              </a:stretch>
            </a:blipFill>
          </p:spPr>
        </p:sp>
        <p:sp>
          <p:nvSpPr>
            <p:cNvPr name="TextBox 63" id="63"/>
            <p:cNvSpPr txBox="true"/>
            <p:nvPr/>
          </p:nvSpPr>
          <p:spPr>
            <a:xfrm>
              <a:off x="0" y="-9525"/>
              <a:ext cx="3364992" cy="1472565"/>
            </a:xfrm>
            <a:prstGeom prst="rect">
              <a:avLst/>
            </a:prstGeom>
          </p:spPr>
          <p:txBody>
            <a:bodyPr anchor="ctr" rtlCol="false" tIns="0" lIns="0" bIns="0" rIns="0"/>
            <a:lstStyle/>
            <a:p>
              <a:pPr algn="ctr">
                <a:lnSpc>
                  <a:spcPts val="2400"/>
                </a:lnSpc>
              </a:pPr>
              <a:r>
                <a:rPr lang="en-US" sz="2000" b="true">
                  <a:solidFill>
                    <a:srgbClr val="FFFFFF"/>
                  </a:solidFill>
                  <a:latin typeface="Proxima Nova Bold"/>
                  <a:ea typeface="Proxima Nova Bold"/>
                  <a:cs typeface="Proxima Nova Bold"/>
                  <a:sym typeface="Proxima Nova Bold"/>
                </a:rPr>
                <a:t>Business Insights &amp; Reporting</a:t>
              </a:r>
            </a:p>
          </p:txBody>
        </p:sp>
      </p:grpSp>
      <p:grpSp>
        <p:nvGrpSpPr>
          <p:cNvPr name="Group 64" id="64"/>
          <p:cNvGrpSpPr/>
          <p:nvPr/>
        </p:nvGrpSpPr>
        <p:grpSpPr>
          <a:xfrm rot="0">
            <a:off x="573302" y="5695661"/>
            <a:ext cx="17007840" cy="768096"/>
            <a:chOff x="0" y="0"/>
            <a:chExt cx="22677120" cy="1024128"/>
          </a:xfrm>
        </p:grpSpPr>
        <p:sp>
          <p:nvSpPr>
            <p:cNvPr name="Freeform 65" id="65"/>
            <p:cNvSpPr/>
            <p:nvPr/>
          </p:nvSpPr>
          <p:spPr>
            <a:xfrm flipH="false" flipV="false" rot="0">
              <a:off x="0" y="0"/>
              <a:ext cx="22677120" cy="1024128"/>
            </a:xfrm>
            <a:custGeom>
              <a:avLst/>
              <a:gdLst/>
              <a:ahLst/>
              <a:cxnLst/>
              <a:rect r="r" b="b" t="t" l="l"/>
              <a:pathLst>
                <a:path h="1024128" w="22677120">
                  <a:moveTo>
                    <a:pt x="0" y="0"/>
                  </a:moveTo>
                  <a:lnTo>
                    <a:pt x="22677120" y="0"/>
                  </a:lnTo>
                  <a:lnTo>
                    <a:pt x="22677120" y="1024128"/>
                  </a:lnTo>
                  <a:lnTo>
                    <a:pt x="0" y="1024128"/>
                  </a:lnTo>
                  <a:close/>
                </a:path>
              </a:pathLst>
            </a:custGeom>
            <a:blipFill>
              <a:blip r:embed="rId3">
                <a:alphaModFix amt="0"/>
              </a:blip>
              <a:stretch>
                <a:fillRect l="0" t="-381454" r="0" b="-381454"/>
              </a:stretch>
            </a:blipFill>
          </p:spPr>
        </p:sp>
        <p:sp>
          <p:nvSpPr>
            <p:cNvPr name="TextBox 66" id="66"/>
            <p:cNvSpPr txBox="true"/>
            <p:nvPr/>
          </p:nvSpPr>
          <p:spPr>
            <a:xfrm>
              <a:off x="0" y="0"/>
              <a:ext cx="22677120" cy="1024128"/>
            </a:xfrm>
            <a:prstGeom prst="rect">
              <a:avLst/>
            </a:prstGeom>
          </p:spPr>
          <p:txBody>
            <a:bodyPr anchor="ctr" rtlCol="false" tIns="0" lIns="0" bIns="0" rIns="0"/>
            <a:lstStyle/>
            <a:p>
              <a:pPr algn="l">
                <a:lnSpc>
                  <a:spcPts val="3840"/>
                </a:lnSpc>
              </a:pPr>
              <a:r>
                <a:rPr lang="en-US" sz="3200" b="true">
                  <a:solidFill>
                    <a:srgbClr val="0D1B2A"/>
                  </a:solidFill>
                  <a:latin typeface="Montserrat Bold"/>
                  <a:ea typeface="Montserrat Bold"/>
                  <a:cs typeface="Montserrat Bold"/>
                  <a:sym typeface="Montserrat Bold"/>
                </a:rPr>
                <a:t>Tools &amp; Technologies</a:t>
              </a:r>
            </a:p>
          </p:txBody>
        </p:sp>
      </p:grpSp>
      <p:grpSp>
        <p:nvGrpSpPr>
          <p:cNvPr name="Group 67" id="67"/>
          <p:cNvGrpSpPr/>
          <p:nvPr/>
        </p:nvGrpSpPr>
        <p:grpSpPr>
          <a:xfrm rot="0">
            <a:off x="640080" y="7080470"/>
            <a:ext cx="2238807" cy="2177830"/>
            <a:chOff x="0" y="0"/>
            <a:chExt cx="2980842" cy="2899655"/>
          </a:xfrm>
        </p:grpSpPr>
        <p:sp>
          <p:nvSpPr>
            <p:cNvPr name="Freeform 68" id="68"/>
            <p:cNvSpPr/>
            <p:nvPr/>
          </p:nvSpPr>
          <p:spPr>
            <a:xfrm flipH="false" flipV="false" rot="0">
              <a:off x="0" y="0"/>
              <a:ext cx="2980817" cy="2899693"/>
            </a:xfrm>
            <a:custGeom>
              <a:avLst/>
              <a:gdLst/>
              <a:ahLst/>
              <a:cxnLst/>
              <a:rect r="r" b="b" t="t" l="l"/>
              <a:pathLst>
                <a:path h="2899693" w="2980817">
                  <a:moveTo>
                    <a:pt x="0" y="153242"/>
                  </a:moveTo>
                  <a:cubicBezTo>
                    <a:pt x="0" y="68572"/>
                    <a:pt x="110363" y="0"/>
                    <a:pt x="246634" y="0"/>
                  </a:cubicBezTo>
                  <a:lnTo>
                    <a:pt x="2734183" y="0"/>
                  </a:lnTo>
                  <a:cubicBezTo>
                    <a:pt x="2870454" y="0"/>
                    <a:pt x="2980817" y="68572"/>
                    <a:pt x="2980817" y="153242"/>
                  </a:cubicBezTo>
                  <a:lnTo>
                    <a:pt x="2980817" y="2746437"/>
                  </a:lnTo>
                  <a:cubicBezTo>
                    <a:pt x="2980817" y="2831107"/>
                    <a:pt x="2870454" y="2899693"/>
                    <a:pt x="2734183" y="2899693"/>
                  </a:cubicBezTo>
                  <a:lnTo>
                    <a:pt x="246634" y="2899693"/>
                  </a:lnTo>
                  <a:cubicBezTo>
                    <a:pt x="110363" y="2899693"/>
                    <a:pt x="0" y="2831028"/>
                    <a:pt x="0" y="2746437"/>
                  </a:cubicBezTo>
                  <a:close/>
                </a:path>
              </a:pathLst>
            </a:custGeom>
            <a:solidFill>
              <a:srgbClr val="FFFFFF"/>
            </a:solidFill>
            <a:ln w="25400" cap="sq">
              <a:solidFill>
                <a:srgbClr val="CBD5E1"/>
              </a:solidFill>
              <a:prstDash val="solid"/>
              <a:miter/>
            </a:ln>
          </p:spPr>
        </p:sp>
      </p:grpSp>
      <p:grpSp>
        <p:nvGrpSpPr>
          <p:cNvPr name="Group 69" id="69"/>
          <p:cNvGrpSpPr/>
          <p:nvPr/>
        </p:nvGrpSpPr>
        <p:grpSpPr>
          <a:xfrm rot="0">
            <a:off x="744365" y="7427291"/>
            <a:ext cx="2066865" cy="824129"/>
            <a:chOff x="0" y="0"/>
            <a:chExt cx="2751912" cy="1097280"/>
          </a:xfrm>
        </p:grpSpPr>
        <p:sp>
          <p:nvSpPr>
            <p:cNvPr name="Freeform 70" id="70"/>
            <p:cNvSpPr/>
            <p:nvPr/>
          </p:nvSpPr>
          <p:spPr>
            <a:xfrm flipH="false" flipV="false" rot="0">
              <a:off x="0" y="0"/>
              <a:ext cx="2751909" cy="1097280"/>
            </a:xfrm>
            <a:custGeom>
              <a:avLst/>
              <a:gdLst/>
              <a:ahLst/>
              <a:cxnLst/>
              <a:rect r="r" b="b" t="t" l="l"/>
              <a:pathLst>
                <a:path h="1097280" w="2751909">
                  <a:moveTo>
                    <a:pt x="0" y="0"/>
                  </a:moveTo>
                  <a:lnTo>
                    <a:pt x="2751909" y="0"/>
                  </a:lnTo>
                  <a:lnTo>
                    <a:pt x="2751909" y="1097280"/>
                  </a:lnTo>
                  <a:lnTo>
                    <a:pt x="0" y="1097280"/>
                  </a:lnTo>
                  <a:close/>
                </a:path>
              </a:pathLst>
            </a:custGeom>
            <a:blipFill>
              <a:blip r:embed="rId3">
                <a:alphaModFix amt="0"/>
              </a:blip>
              <a:stretch>
                <a:fillRect l="-1158" t="0" r="-1159" b="0"/>
              </a:stretch>
            </a:blipFill>
          </p:spPr>
        </p:sp>
        <p:sp>
          <p:nvSpPr>
            <p:cNvPr name="TextBox 71" id="71"/>
            <p:cNvSpPr txBox="true"/>
            <p:nvPr/>
          </p:nvSpPr>
          <p:spPr>
            <a:xfrm>
              <a:off x="0" y="0"/>
              <a:ext cx="2751912" cy="1097280"/>
            </a:xfrm>
            <a:prstGeom prst="rect">
              <a:avLst/>
            </a:prstGeom>
          </p:spPr>
          <p:txBody>
            <a:bodyPr anchor="ctr" rtlCol="false" tIns="0" lIns="0" bIns="0" rIns="0"/>
            <a:lstStyle/>
            <a:p>
              <a:pPr algn="ctr">
                <a:lnSpc>
                  <a:spcPts val="2640"/>
                </a:lnSpc>
              </a:pPr>
              <a:r>
                <a:rPr lang="en-US" sz="2200" b="true">
                  <a:solidFill>
                    <a:srgbClr val="0D9488"/>
                  </a:solidFill>
                  <a:latin typeface="Proxima Nova Bold"/>
                  <a:ea typeface="Proxima Nova Bold"/>
                  <a:cs typeface="Proxima Nova Bold"/>
                  <a:sym typeface="Proxima Nova Bold"/>
                </a:rPr>
                <a:t>Python</a:t>
              </a:r>
            </a:p>
          </p:txBody>
        </p:sp>
      </p:grpSp>
      <p:grpSp>
        <p:nvGrpSpPr>
          <p:cNvPr name="Group 72" id="72"/>
          <p:cNvGrpSpPr/>
          <p:nvPr/>
        </p:nvGrpSpPr>
        <p:grpSpPr>
          <a:xfrm rot="0">
            <a:off x="744365" y="8214792"/>
            <a:ext cx="2066865" cy="640989"/>
            <a:chOff x="0" y="0"/>
            <a:chExt cx="2751912" cy="853440"/>
          </a:xfrm>
        </p:grpSpPr>
        <p:sp>
          <p:nvSpPr>
            <p:cNvPr name="Freeform 73" id="73"/>
            <p:cNvSpPr/>
            <p:nvPr/>
          </p:nvSpPr>
          <p:spPr>
            <a:xfrm flipH="false" flipV="false" rot="0">
              <a:off x="0" y="0"/>
              <a:ext cx="2751909" cy="853440"/>
            </a:xfrm>
            <a:custGeom>
              <a:avLst/>
              <a:gdLst/>
              <a:ahLst/>
              <a:cxnLst/>
              <a:rect r="r" b="b" t="t" l="l"/>
              <a:pathLst>
                <a:path h="853440" w="2751909">
                  <a:moveTo>
                    <a:pt x="0" y="0"/>
                  </a:moveTo>
                  <a:lnTo>
                    <a:pt x="2751909" y="0"/>
                  </a:lnTo>
                  <a:lnTo>
                    <a:pt x="2751909" y="853440"/>
                  </a:lnTo>
                  <a:lnTo>
                    <a:pt x="0" y="853440"/>
                  </a:lnTo>
                  <a:close/>
                </a:path>
              </a:pathLst>
            </a:custGeom>
            <a:blipFill>
              <a:blip r:embed="rId3">
                <a:alphaModFix amt="0"/>
              </a:blip>
              <a:stretch>
                <a:fillRect l="0" t="-12829" r="0" b="-12829"/>
              </a:stretch>
            </a:blipFill>
          </p:spPr>
        </p:sp>
        <p:sp>
          <p:nvSpPr>
            <p:cNvPr name="TextBox 74" id="74"/>
            <p:cNvSpPr txBox="true"/>
            <p:nvPr/>
          </p:nvSpPr>
          <p:spPr>
            <a:xfrm>
              <a:off x="0" y="0"/>
              <a:ext cx="2751912" cy="853440"/>
            </a:xfrm>
            <a:prstGeom prst="rect">
              <a:avLst/>
            </a:prstGeom>
          </p:spPr>
          <p:txBody>
            <a:bodyPr anchor="ctr" rtlCol="false" tIns="0" lIns="0" bIns="0" rIns="0"/>
            <a:lstStyle/>
            <a:p>
              <a:pPr algn="ctr">
                <a:lnSpc>
                  <a:spcPts val="2160"/>
                </a:lnSpc>
              </a:pPr>
              <a:r>
                <a:rPr lang="en-US" sz="1800">
                  <a:solidFill>
                    <a:srgbClr val="64748B"/>
                  </a:solidFill>
                  <a:latin typeface="Proxima Nova"/>
                  <a:ea typeface="Proxima Nova"/>
                  <a:cs typeface="Proxima Nova"/>
                  <a:sym typeface="Proxima Nova"/>
                </a:rPr>
                <a:t>Core Language</a:t>
              </a:r>
            </a:p>
          </p:txBody>
        </p:sp>
      </p:grpSp>
      <p:grpSp>
        <p:nvGrpSpPr>
          <p:cNvPr name="Group 75" id="75"/>
          <p:cNvGrpSpPr/>
          <p:nvPr/>
        </p:nvGrpSpPr>
        <p:grpSpPr>
          <a:xfrm rot="0">
            <a:off x="3073215" y="7080470"/>
            <a:ext cx="2238807" cy="2177830"/>
            <a:chOff x="0" y="0"/>
            <a:chExt cx="2980842" cy="2899655"/>
          </a:xfrm>
        </p:grpSpPr>
        <p:sp>
          <p:nvSpPr>
            <p:cNvPr name="Freeform 76" id="76"/>
            <p:cNvSpPr/>
            <p:nvPr/>
          </p:nvSpPr>
          <p:spPr>
            <a:xfrm flipH="false" flipV="false" rot="0">
              <a:off x="0" y="0"/>
              <a:ext cx="2980817" cy="2899693"/>
            </a:xfrm>
            <a:custGeom>
              <a:avLst/>
              <a:gdLst/>
              <a:ahLst/>
              <a:cxnLst/>
              <a:rect r="r" b="b" t="t" l="l"/>
              <a:pathLst>
                <a:path h="2899693" w="2980817">
                  <a:moveTo>
                    <a:pt x="0" y="153242"/>
                  </a:moveTo>
                  <a:cubicBezTo>
                    <a:pt x="0" y="68572"/>
                    <a:pt x="110363" y="0"/>
                    <a:pt x="246634" y="0"/>
                  </a:cubicBezTo>
                  <a:lnTo>
                    <a:pt x="2734183" y="0"/>
                  </a:lnTo>
                  <a:cubicBezTo>
                    <a:pt x="2870454" y="0"/>
                    <a:pt x="2980817" y="68572"/>
                    <a:pt x="2980817" y="153242"/>
                  </a:cubicBezTo>
                  <a:lnTo>
                    <a:pt x="2980817" y="2746437"/>
                  </a:lnTo>
                  <a:cubicBezTo>
                    <a:pt x="2980817" y="2831107"/>
                    <a:pt x="2870454" y="2899693"/>
                    <a:pt x="2734183" y="2899693"/>
                  </a:cubicBezTo>
                  <a:lnTo>
                    <a:pt x="246634" y="2899693"/>
                  </a:lnTo>
                  <a:cubicBezTo>
                    <a:pt x="110363" y="2899693"/>
                    <a:pt x="0" y="2831028"/>
                    <a:pt x="0" y="2746437"/>
                  </a:cubicBezTo>
                  <a:close/>
                </a:path>
              </a:pathLst>
            </a:custGeom>
            <a:solidFill>
              <a:srgbClr val="FFFFFF"/>
            </a:solidFill>
            <a:ln w="25400" cap="sq">
              <a:solidFill>
                <a:srgbClr val="CBD5E1"/>
              </a:solidFill>
              <a:prstDash val="solid"/>
              <a:miter/>
            </a:ln>
          </p:spPr>
        </p:sp>
      </p:grpSp>
      <p:grpSp>
        <p:nvGrpSpPr>
          <p:cNvPr name="Group 77" id="77"/>
          <p:cNvGrpSpPr/>
          <p:nvPr/>
        </p:nvGrpSpPr>
        <p:grpSpPr>
          <a:xfrm rot="0">
            <a:off x="3177510" y="7427291"/>
            <a:ext cx="2066865" cy="824129"/>
            <a:chOff x="0" y="0"/>
            <a:chExt cx="2751912" cy="1097280"/>
          </a:xfrm>
        </p:grpSpPr>
        <p:sp>
          <p:nvSpPr>
            <p:cNvPr name="Freeform 78" id="78"/>
            <p:cNvSpPr/>
            <p:nvPr/>
          </p:nvSpPr>
          <p:spPr>
            <a:xfrm flipH="false" flipV="false" rot="0">
              <a:off x="0" y="0"/>
              <a:ext cx="2751909" cy="1097280"/>
            </a:xfrm>
            <a:custGeom>
              <a:avLst/>
              <a:gdLst/>
              <a:ahLst/>
              <a:cxnLst/>
              <a:rect r="r" b="b" t="t" l="l"/>
              <a:pathLst>
                <a:path h="1097280" w="2751909">
                  <a:moveTo>
                    <a:pt x="0" y="0"/>
                  </a:moveTo>
                  <a:lnTo>
                    <a:pt x="2751909" y="0"/>
                  </a:lnTo>
                  <a:lnTo>
                    <a:pt x="2751909" y="1097280"/>
                  </a:lnTo>
                  <a:lnTo>
                    <a:pt x="0" y="1097280"/>
                  </a:lnTo>
                  <a:close/>
                </a:path>
              </a:pathLst>
            </a:custGeom>
            <a:blipFill>
              <a:blip r:embed="rId3">
                <a:alphaModFix amt="0"/>
              </a:blip>
              <a:stretch>
                <a:fillRect l="-1158" t="0" r="-1159" b="0"/>
              </a:stretch>
            </a:blipFill>
          </p:spPr>
        </p:sp>
        <p:sp>
          <p:nvSpPr>
            <p:cNvPr name="TextBox 79" id="79"/>
            <p:cNvSpPr txBox="true"/>
            <p:nvPr/>
          </p:nvSpPr>
          <p:spPr>
            <a:xfrm>
              <a:off x="0" y="0"/>
              <a:ext cx="2751912" cy="1097280"/>
            </a:xfrm>
            <a:prstGeom prst="rect">
              <a:avLst/>
            </a:prstGeom>
          </p:spPr>
          <p:txBody>
            <a:bodyPr anchor="ctr" rtlCol="false" tIns="0" lIns="0" bIns="0" rIns="0"/>
            <a:lstStyle/>
            <a:p>
              <a:pPr algn="ctr">
                <a:lnSpc>
                  <a:spcPts val="2640"/>
                </a:lnSpc>
              </a:pPr>
              <a:r>
                <a:rPr lang="en-US" sz="2200" b="true">
                  <a:solidFill>
                    <a:srgbClr val="0D9488"/>
                  </a:solidFill>
                  <a:latin typeface="Proxima Nova Bold"/>
                  <a:ea typeface="Proxima Nova Bold"/>
                  <a:cs typeface="Proxima Nova Bold"/>
                  <a:sym typeface="Proxima Nova Bold"/>
                </a:rPr>
                <a:t>Pandas</a:t>
              </a:r>
            </a:p>
          </p:txBody>
        </p:sp>
      </p:grpSp>
      <p:grpSp>
        <p:nvGrpSpPr>
          <p:cNvPr name="Group 80" id="80"/>
          <p:cNvGrpSpPr/>
          <p:nvPr/>
        </p:nvGrpSpPr>
        <p:grpSpPr>
          <a:xfrm rot="0">
            <a:off x="3177510" y="8214792"/>
            <a:ext cx="2066865" cy="640989"/>
            <a:chOff x="0" y="0"/>
            <a:chExt cx="2751912" cy="853440"/>
          </a:xfrm>
        </p:grpSpPr>
        <p:sp>
          <p:nvSpPr>
            <p:cNvPr name="Freeform 81" id="81"/>
            <p:cNvSpPr/>
            <p:nvPr/>
          </p:nvSpPr>
          <p:spPr>
            <a:xfrm flipH="false" flipV="false" rot="0">
              <a:off x="0" y="0"/>
              <a:ext cx="2751909" cy="853440"/>
            </a:xfrm>
            <a:custGeom>
              <a:avLst/>
              <a:gdLst/>
              <a:ahLst/>
              <a:cxnLst/>
              <a:rect r="r" b="b" t="t" l="l"/>
              <a:pathLst>
                <a:path h="853440" w="2751909">
                  <a:moveTo>
                    <a:pt x="0" y="0"/>
                  </a:moveTo>
                  <a:lnTo>
                    <a:pt x="2751909" y="0"/>
                  </a:lnTo>
                  <a:lnTo>
                    <a:pt x="2751909" y="853440"/>
                  </a:lnTo>
                  <a:lnTo>
                    <a:pt x="0" y="853440"/>
                  </a:lnTo>
                  <a:close/>
                </a:path>
              </a:pathLst>
            </a:custGeom>
            <a:blipFill>
              <a:blip r:embed="rId3">
                <a:alphaModFix amt="0"/>
              </a:blip>
              <a:stretch>
                <a:fillRect l="0" t="-12829" r="0" b="-12829"/>
              </a:stretch>
            </a:blipFill>
          </p:spPr>
        </p:sp>
        <p:sp>
          <p:nvSpPr>
            <p:cNvPr name="TextBox 82" id="82"/>
            <p:cNvSpPr txBox="true"/>
            <p:nvPr/>
          </p:nvSpPr>
          <p:spPr>
            <a:xfrm>
              <a:off x="0" y="0"/>
              <a:ext cx="2751912" cy="853440"/>
            </a:xfrm>
            <a:prstGeom prst="rect">
              <a:avLst/>
            </a:prstGeom>
          </p:spPr>
          <p:txBody>
            <a:bodyPr anchor="ctr" rtlCol="false" tIns="0" lIns="0" bIns="0" rIns="0"/>
            <a:lstStyle/>
            <a:p>
              <a:pPr algn="ctr">
                <a:lnSpc>
                  <a:spcPts val="2160"/>
                </a:lnSpc>
              </a:pPr>
              <a:r>
                <a:rPr lang="en-US" sz="1800">
                  <a:solidFill>
                    <a:srgbClr val="64748B"/>
                  </a:solidFill>
                  <a:latin typeface="Proxima Nova"/>
                  <a:ea typeface="Proxima Nova"/>
                  <a:cs typeface="Proxima Nova"/>
                  <a:sym typeface="Proxima Nova"/>
                </a:rPr>
                <a:t>Data Processing</a:t>
              </a:r>
            </a:p>
          </p:txBody>
        </p:sp>
      </p:grpSp>
      <p:grpSp>
        <p:nvGrpSpPr>
          <p:cNvPr name="Group 83" id="83"/>
          <p:cNvGrpSpPr/>
          <p:nvPr/>
        </p:nvGrpSpPr>
        <p:grpSpPr>
          <a:xfrm rot="0">
            <a:off x="5506360" y="7080470"/>
            <a:ext cx="2238807" cy="2177830"/>
            <a:chOff x="0" y="0"/>
            <a:chExt cx="2980842" cy="2899655"/>
          </a:xfrm>
        </p:grpSpPr>
        <p:sp>
          <p:nvSpPr>
            <p:cNvPr name="Freeform 84" id="84"/>
            <p:cNvSpPr/>
            <p:nvPr/>
          </p:nvSpPr>
          <p:spPr>
            <a:xfrm flipH="false" flipV="false" rot="0">
              <a:off x="0" y="0"/>
              <a:ext cx="2980817" cy="2899693"/>
            </a:xfrm>
            <a:custGeom>
              <a:avLst/>
              <a:gdLst/>
              <a:ahLst/>
              <a:cxnLst/>
              <a:rect r="r" b="b" t="t" l="l"/>
              <a:pathLst>
                <a:path h="2899693" w="2980817">
                  <a:moveTo>
                    <a:pt x="0" y="153242"/>
                  </a:moveTo>
                  <a:cubicBezTo>
                    <a:pt x="0" y="68572"/>
                    <a:pt x="110363" y="0"/>
                    <a:pt x="246634" y="0"/>
                  </a:cubicBezTo>
                  <a:lnTo>
                    <a:pt x="2734183" y="0"/>
                  </a:lnTo>
                  <a:cubicBezTo>
                    <a:pt x="2870454" y="0"/>
                    <a:pt x="2980817" y="68572"/>
                    <a:pt x="2980817" y="153242"/>
                  </a:cubicBezTo>
                  <a:lnTo>
                    <a:pt x="2980817" y="2746437"/>
                  </a:lnTo>
                  <a:cubicBezTo>
                    <a:pt x="2980817" y="2831107"/>
                    <a:pt x="2870454" y="2899693"/>
                    <a:pt x="2734183" y="2899693"/>
                  </a:cubicBezTo>
                  <a:lnTo>
                    <a:pt x="246634" y="2899693"/>
                  </a:lnTo>
                  <a:cubicBezTo>
                    <a:pt x="110363" y="2899693"/>
                    <a:pt x="0" y="2831028"/>
                    <a:pt x="0" y="2746437"/>
                  </a:cubicBezTo>
                  <a:close/>
                </a:path>
              </a:pathLst>
            </a:custGeom>
            <a:solidFill>
              <a:srgbClr val="FFFFFF"/>
            </a:solidFill>
            <a:ln w="25400" cap="sq">
              <a:solidFill>
                <a:srgbClr val="CBD5E1"/>
              </a:solidFill>
              <a:prstDash val="solid"/>
              <a:miter/>
            </a:ln>
          </p:spPr>
        </p:sp>
      </p:grpSp>
      <p:grpSp>
        <p:nvGrpSpPr>
          <p:cNvPr name="Group 85" id="85"/>
          <p:cNvGrpSpPr/>
          <p:nvPr/>
        </p:nvGrpSpPr>
        <p:grpSpPr>
          <a:xfrm rot="0">
            <a:off x="5610645" y="7427291"/>
            <a:ext cx="2066865" cy="824129"/>
            <a:chOff x="0" y="0"/>
            <a:chExt cx="2751912" cy="1097280"/>
          </a:xfrm>
        </p:grpSpPr>
        <p:sp>
          <p:nvSpPr>
            <p:cNvPr name="Freeform 86" id="86"/>
            <p:cNvSpPr/>
            <p:nvPr/>
          </p:nvSpPr>
          <p:spPr>
            <a:xfrm flipH="false" flipV="false" rot="0">
              <a:off x="0" y="0"/>
              <a:ext cx="2751909" cy="1097280"/>
            </a:xfrm>
            <a:custGeom>
              <a:avLst/>
              <a:gdLst/>
              <a:ahLst/>
              <a:cxnLst/>
              <a:rect r="r" b="b" t="t" l="l"/>
              <a:pathLst>
                <a:path h="1097280" w="2751909">
                  <a:moveTo>
                    <a:pt x="0" y="0"/>
                  </a:moveTo>
                  <a:lnTo>
                    <a:pt x="2751909" y="0"/>
                  </a:lnTo>
                  <a:lnTo>
                    <a:pt x="2751909" y="1097280"/>
                  </a:lnTo>
                  <a:lnTo>
                    <a:pt x="0" y="1097280"/>
                  </a:lnTo>
                  <a:close/>
                </a:path>
              </a:pathLst>
            </a:custGeom>
            <a:blipFill>
              <a:blip r:embed="rId3">
                <a:alphaModFix amt="0"/>
              </a:blip>
              <a:stretch>
                <a:fillRect l="-1158" t="0" r="-1159" b="0"/>
              </a:stretch>
            </a:blipFill>
          </p:spPr>
        </p:sp>
        <p:sp>
          <p:nvSpPr>
            <p:cNvPr name="TextBox 87" id="87"/>
            <p:cNvSpPr txBox="true"/>
            <p:nvPr/>
          </p:nvSpPr>
          <p:spPr>
            <a:xfrm>
              <a:off x="0" y="0"/>
              <a:ext cx="2751912" cy="1097280"/>
            </a:xfrm>
            <a:prstGeom prst="rect">
              <a:avLst/>
            </a:prstGeom>
          </p:spPr>
          <p:txBody>
            <a:bodyPr anchor="ctr" rtlCol="false" tIns="0" lIns="0" bIns="0" rIns="0"/>
            <a:lstStyle/>
            <a:p>
              <a:pPr algn="ctr">
                <a:lnSpc>
                  <a:spcPts val="2640"/>
                </a:lnSpc>
              </a:pPr>
              <a:r>
                <a:rPr lang="en-US" sz="2200" b="true">
                  <a:solidFill>
                    <a:srgbClr val="0D9488"/>
                  </a:solidFill>
                  <a:latin typeface="Proxima Nova Bold"/>
                  <a:ea typeface="Proxima Nova Bold"/>
                  <a:cs typeface="Proxima Nova Bold"/>
                  <a:sym typeface="Proxima Nova Bold"/>
                </a:rPr>
                <a:t>SQLAlchemy</a:t>
              </a:r>
            </a:p>
          </p:txBody>
        </p:sp>
      </p:grpSp>
      <p:grpSp>
        <p:nvGrpSpPr>
          <p:cNvPr name="Group 88" id="88"/>
          <p:cNvGrpSpPr/>
          <p:nvPr/>
        </p:nvGrpSpPr>
        <p:grpSpPr>
          <a:xfrm rot="0">
            <a:off x="5610645" y="8214792"/>
            <a:ext cx="2066865" cy="640989"/>
            <a:chOff x="0" y="0"/>
            <a:chExt cx="2751912" cy="853440"/>
          </a:xfrm>
        </p:grpSpPr>
        <p:sp>
          <p:nvSpPr>
            <p:cNvPr name="Freeform 89" id="89"/>
            <p:cNvSpPr/>
            <p:nvPr/>
          </p:nvSpPr>
          <p:spPr>
            <a:xfrm flipH="false" flipV="false" rot="0">
              <a:off x="0" y="0"/>
              <a:ext cx="2751909" cy="853440"/>
            </a:xfrm>
            <a:custGeom>
              <a:avLst/>
              <a:gdLst/>
              <a:ahLst/>
              <a:cxnLst/>
              <a:rect r="r" b="b" t="t" l="l"/>
              <a:pathLst>
                <a:path h="853440" w="2751909">
                  <a:moveTo>
                    <a:pt x="0" y="0"/>
                  </a:moveTo>
                  <a:lnTo>
                    <a:pt x="2751909" y="0"/>
                  </a:lnTo>
                  <a:lnTo>
                    <a:pt x="2751909" y="853440"/>
                  </a:lnTo>
                  <a:lnTo>
                    <a:pt x="0" y="853440"/>
                  </a:lnTo>
                  <a:close/>
                </a:path>
              </a:pathLst>
            </a:custGeom>
            <a:blipFill>
              <a:blip r:embed="rId3">
                <a:alphaModFix amt="0"/>
              </a:blip>
              <a:stretch>
                <a:fillRect l="0" t="-12829" r="0" b="-12829"/>
              </a:stretch>
            </a:blipFill>
          </p:spPr>
        </p:sp>
        <p:sp>
          <p:nvSpPr>
            <p:cNvPr name="TextBox 90" id="90"/>
            <p:cNvSpPr txBox="true"/>
            <p:nvPr/>
          </p:nvSpPr>
          <p:spPr>
            <a:xfrm>
              <a:off x="0" y="0"/>
              <a:ext cx="2751912" cy="853440"/>
            </a:xfrm>
            <a:prstGeom prst="rect">
              <a:avLst/>
            </a:prstGeom>
          </p:spPr>
          <p:txBody>
            <a:bodyPr anchor="ctr" rtlCol="false" tIns="0" lIns="0" bIns="0" rIns="0"/>
            <a:lstStyle/>
            <a:p>
              <a:pPr algn="ctr">
                <a:lnSpc>
                  <a:spcPts val="2160"/>
                </a:lnSpc>
              </a:pPr>
              <a:r>
                <a:rPr lang="en-US" sz="1800">
                  <a:solidFill>
                    <a:srgbClr val="64748B"/>
                  </a:solidFill>
                  <a:latin typeface="Proxima Nova"/>
                  <a:ea typeface="Proxima Nova"/>
                  <a:cs typeface="Proxima Nova"/>
                  <a:sym typeface="Proxima Nova"/>
                </a:rPr>
                <a:t>ORM Layer</a:t>
              </a:r>
            </a:p>
          </p:txBody>
        </p:sp>
      </p:grpSp>
      <p:grpSp>
        <p:nvGrpSpPr>
          <p:cNvPr name="Group 91" id="91"/>
          <p:cNvGrpSpPr/>
          <p:nvPr/>
        </p:nvGrpSpPr>
        <p:grpSpPr>
          <a:xfrm rot="0">
            <a:off x="7939505" y="7080470"/>
            <a:ext cx="2238807" cy="2177830"/>
            <a:chOff x="0" y="0"/>
            <a:chExt cx="2980842" cy="2899655"/>
          </a:xfrm>
        </p:grpSpPr>
        <p:sp>
          <p:nvSpPr>
            <p:cNvPr name="Freeform 92" id="92"/>
            <p:cNvSpPr/>
            <p:nvPr/>
          </p:nvSpPr>
          <p:spPr>
            <a:xfrm flipH="false" flipV="false" rot="0">
              <a:off x="0" y="0"/>
              <a:ext cx="2980817" cy="2899693"/>
            </a:xfrm>
            <a:custGeom>
              <a:avLst/>
              <a:gdLst/>
              <a:ahLst/>
              <a:cxnLst/>
              <a:rect r="r" b="b" t="t" l="l"/>
              <a:pathLst>
                <a:path h="2899693" w="2980817">
                  <a:moveTo>
                    <a:pt x="0" y="153242"/>
                  </a:moveTo>
                  <a:cubicBezTo>
                    <a:pt x="0" y="68572"/>
                    <a:pt x="110363" y="0"/>
                    <a:pt x="246634" y="0"/>
                  </a:cubicBezTo>
                  <a:lnTo>
                    <a:pt x="2734183" y="0"/>
                  </a:lnTo>
                  <a:cubicBezTo>
                    <a:pt x="2870454" y="0"/>
                    <a:pt x="2980817" y="68572"/>
                    <a:pt x="2980817" y="153242"/>
                  </a:cubicBezTo>
                  <a:lnTo>
                    <a:pt x="2980817" y="2746437"/>
                  </a:lnTo>
                  <a:cubicBezTo>
                    <a:pt x="2980817" y="2831107"/>
                    <a:pt x="2870454" y="2899693"/>
                    <a:pt x="2734183" y="2899693"/>
                  </a:cubicBezTo>
                  <a:lnTo>
                    <a:pt x="246634" y="2899693"/>
                  </a:lnTo>
                  <a:cubicBezTo>
                    <a:pt x="110363" y="2899693"/>
                    <a:pt x="0" y="2831028"/>
                    <a:pt x="0" y="2746437"/>
                  </a:cubicBezTo>
                  <a:close/>
                </a:path>
              </a:pathLst>
            </a:custGeom>
            <a:solidFill>
              <a:srgbClr val="FFFFFF"/>
            </a:solidFill>
            <a:ln w="25400" cap="sq">
              <a:solidFill>
                <a:srgbClr val="CBD5E1"/>
              </a:solidFill>
              <a:prstDash val="solid"/>
              <a:miter/>
            </a:ln>
          </p:spPr>
        </p:sp>
      </p:grpSp>
      <p:grpSp>
        <p:nvGrpSpPr>
          <p:cNvPr name="Group 93" id="93"/>
          <p:cNvGrpSpPr/>
          <p:nvPr/>
        </p:nvGrpSpPr>
        <p:grpSpPr>
          <a:xfrm rot="0">
            <a:off x="8043790" y="7427291"/>
            <a:ext cx="2066865" cy="824129"/>
            <a:chOff x="0" y="0"/>
            <a:chExt cx="2751912" cy="1097280"/>
          </a:xfrm>
        </p:grpSpPr>
        <p:sp>
          <p:nvSpPr>
            <p:cNvPr name="Freeform 94" id="94"/>
            <p:cNvSpPr/>
            <p:nvPr/>
          </p:nvSpPr>
          <p:spPr>
            <a:xfrm flipH="false" flipV="false" rot="0">
              <a:off x="0" y="0"/>
              <a:ext cx="2751909" cy="1097280"/>
            </a:xfrm>
            <a:custGeom>
              <a:avLst/>
              <a:gdLst/>
              <a:ahLst/>
              <a:cxnLst/>
              <a:rect r="r" b="b" t="t" l="l"/>
              <a:pathLst>
                <a:path h="1097280" w="2751909">
                  <a:moveTo>
                    <a:pt x="0" y="0"/>
                  </a:moveTo>
                  <a:lnTo>
                    <a:pt x="2751909" y="0"/>
                  </a:lnTo>
                  <a:lnTo>
                    <a:pt x="2751909" y="1097280"/>
                  </a:lnTo>
                  <a:lnTo>
                    <a:pt x="0" y="1097280"/>
                  </a:lnTo>
                  <a:close/>
                </a:path>
              </a:pathLst>
            </a:custGeom>
            <a:blipFill>
              <a:blip r:embed="rId3">
                <a:alphaModFix amt="0"/>
              </a:blip>
              <a:stretch>
                <a:fillRect l="-1158" t="0" r="-1159" b="0"/>
              </a:stretch>
            </a:blipFill>
          </p:spPr>
        </p:sp>
        <p:sp>
          <p:nvSpPr>
            <p:cNvPr name="TextBox 95" id="95"/>
            <p:cNvSpPr txBox="true"/>
            <p:nvPr/>
          </p:nvSpPr>
          <p:spPr>
            <a:xfrm>
              <a:off x="0" y="0"/>
              <a:ext cx="2751912" cy="1097280"/>
            </a:xfrm>
            <a:prstGeom prst="rect">
              <a:avLst/>
            </a:prstGeom>
          </p:spPr>
          <p:txBody>
            <a:bodyPr anchor="ctr" rtlCol="false" tIns="0" lIns="0" bIns="0" rIns="0"/>
            <a:lstStyle/>
            <a:p>
              <a:pPr algn="ctr">
                <a:lnSpc>
                  <a:spcPts val="2640"/>
                </a:lnSpc>
              </a:pPr>
              <a:r>
                <a:rPr lang="en-US" sz="2200" b="true">
                  <a:solidFill>
                    <a:srgbClr val="0D9488"/>
                  </a:solidFill>
                  <a:latin typeface="Proxima Nova Bold"/>
                  <a:ea typeface="Proxima Nova Bold"/>
                  <a:cs typeface="Proxima Nova Bold"/>
                  <a:sym typeface="Proxima Nova Bold"/>
                </a:rPr>
                <a:t>SQLite</a:t>
              </a:r>
            </a:p>
          </p:txBody>
        </p:sp>
      </p:grpSp>
      <p:grpSp>
        <p:nvGrpSpPr>
          <p:cNvPr name="Group 96" id="96"/>
          <p:cNvGrpSpPr/>
          <p:nvPr/>
        </p:nvGrpSpPr>
        <p:grpSpPr>
          <a:xfrm rot="0">
            <a:off x="8043790" y="8214792"/>
            <a:ext cx="2066865" cy="640989"/>
            <a:chOff x="0" y="0"/>
            <a:chExt cx="2751912" cy="853440"/>
          </a:xfrm>
        </p:grpSpPr>
        <p:sp>
          <p:nvSpPr>
            <p:cNvPr name="Freeform 97" id="97"/>
            <p:cNvSpPr/>
            <p:nvPr/>
          </p:nvSpPr>
          <p:spPr>
            <a:xfrm flipH="false" flipV="false" rot="0">
              <a:off x="0" y="0"/>
              <a:ext cx="2751909" cy="853440"/>
            </a:xfrm>
            <a:custGeom>
              <a:avLst/>
              <a:gdLst/>
              <a:ahLst/>
              <a:cxnLst/>
              <a:rect r="r" b="b" t="t" l="l"/>
              <a:pathLst>
                <a:path h="853440" w="2751909">
                  <a:moveTo>
                    <a:pt x="0" y="0"/>
                  </a:moveTo>
                  <a:lnTo>
                    <a:pt x="2751909" y="0"/>
                  </a:lnTo>
                  <a:lnTo>
                    <a:pt x="2751909" y="853440"/>
                  </a:lnTo>
                  <a:lnTo>
                    <a:pt x="0" y="853440"/>
                  </a:lnTo>
                  <a:close/>
                </a:path>
              </a:pathLst>
            </a:custGeom>
            <a:blipFill>
              <a:blip r:embed="rId3">
                <a:alphaModFix amt="0"/>
              </a:blip>
              <a:stretch>
                <a:fillRect l="0" t="-12829" r="0" b="-12829"/>
              </a:stretch>
            </a:blipFill>
          </p:spPr>
        </p:sp>
        <p:sp>
          <p:nvSpPr>
            <p:cNvPr name="TextBox 98" id="98"/>
            <p:cNvSpPr txBox="true"/>
            <p:nvPr/>
          </p:nvSpPr>
          <p:spPr>
            <a:xfrm>
              <a:off x="0" y="0"/>
              <a:ext cx="2751912" cy="853440"/>
            </a:xfrm>
            <a:prstGeom prst="rect">
              <a:avLst/>
            </a:prstGeom>
          </p:spPr>
          <p:txBody>
            <a:bodyPr anchor="ctr" rtlCol="false" tIns="0" lIns="0" bIns="0" rIns="0"/>
            <a:lstStyle/>
            <a:p>
              <a:pPr algn="ctr">
                <a:lnSpc>
                  <a:spcPts val="2160"/>
                </a:lnSpc>
              </a:pPr>
              <a:r>
                <a:rPr lang="en-US" sz="1800">
                  <a:solidFill>
                    <a:srgbClr val="64748B"/>
                  </a:solidFill>
                  <a:latin typeface="Proxima Nova"/>
                  <a:ea typeface="Proxima Nova"/>
                  <a:cs typeface="Proxima Nova"/>
                  <a:sym typeface="Proxima Nova"/>
                </a:rPr>
                <a:t>Database Engine</a:t>
              </a:r>
            </a:p>
          </p:txBody>
        </p:sp>
      </p:grpSp>
      <p:grpSp>
        <p:nvGrpSpPr>
          <p:cNvPr name="Group 99" id="99"/>
          <p:cNvGrpSpPr/>
          <p:nvPr/>
        </p:nvGrpSpPr>
        <p:grpSpPr>
          <a:xfrm rot="0">
            <a:off x="10372650" y="7080470"/>
            <a:ext cx="2238807" cy="2177830"/>
            <a:chOff x="0" y="0"/>
            <a:chExt cx="2980842" cy="2899655"/>
          </a:xfrm>
        </p:grpSpPr>
        <p:sp>
          <p:nvSpPr>
            <p:cNvPr name="Freeform 100" id="100"/>
            <p:cNvSpPr/>
            <p:nvPr/>
          </p:nvSpPr>
          <p:spPr>
            <a:xfrm flipH="false" flipV="false" rot="0">
              <a:off x="0" y="0"/>
              <a:ext cx="2980817" cy="2899693"/>
            </a:xfrm>
            <a:custGeom>
              <a:avLst/>
              <a:gdLst/>
              <a:ahLst/>
              <a:cxnLst/>
              <a:rect r="r" b="b" t="t" l="l"/>
              <a:pathLst>
                <a:path h="2899693" w="2980817">
                  <a:moveTo>
                    <a:pt x="0" y="153242"/>
                  </a:moveTo>
                  <a:cubicBezTo>
                    <a:pt x="0" y="68572"/>
                    <a:pt x="110363" y="0"/>
                    <a:pt x="246634" y="0"/>
                  </a:cubicBezTo>
                  <a:lnTo>
                    <a:pt x="2734183" y="0"/>
                  </a:lnTo>
                  <a:cubicBezTo>
                    <a:pt x="2870454" y="0"/>
                    <a:pt x="2980817" y="68572"/>
                    <a:pt x="2980817" y="153242"/>
                  </a:cubicBezTo>
                  <a:lnTo>
                    <a:pt x="2980817" y="2746437"/>
                  </a:lnTo>
                  <a:cubicBezTo>
                    <a:pt x="2980817" y="2831107"/>
                    <a:pt x="2870454" y="2899693"/>
                    <a:pt x="2734183" y="2899693"/>
                  </a:cubicBezTo>
                  <a:lnTo>
                    <a:pt x="246634" y="2899693"/>
                  </a:lnTo>
                  <a:cubicBezTo>
                    <a:pt x="110363" y="2899693"/>
                    <a:pt x="0" y="2831028"/>
                    <a:pt x="0" y="2746437"/>
                  </a:cubicBezTo>
                  <a:close/>
                </a:path>
              </a:pathLst>
            </a:custGeom>
            <a:solidFill>
              <a:srgbClr val="FFFFFF"/>
            </a:solidFill>
            <a:ln w="25400" cap="sq">
              <a:solidFill>
                <a:srgbClr val="CBD5E1"/>
              </a:solidFill>
              <a:prstDash val="solid"/>
              <a:miter/>
            </a:ln>
          </p:spPr>
        </p:sp>
      </p:grpSp>
      <p:grpSp>
        <p:nvGrpSpPr>
          <p:cNvPr name="Group 101" id="101"/>
          <p:cNvGrpSpPr/>
          <p:nvPr/>
        </p:nvGrpSpPr>
        <p:grpSpPr>
          <a:xfrm rot="0">
            <a:off x="10476935" y="7427291"/>
            <a:ext cx="2066865" cy="824129"/>
            <a:chOff x="0" y="0"/>
            <a:chExt cx="2751912" cy="1097280"/>
          </a:xfrm>
        </p:grpSpPr>
        <p:sp>
          <p:nvSpPr>
            <p:cNvPr name="Freeform 102" id="102"/>
            <p:cNvSpPr/>
            <p:nvPr/>
          </p:nvSpPr>
          <p:spPr>
            <a:xfrm flipH="false" flipV="false" rot="0">
              <a:off x="0" y="0"/>
              <a:ext cx="2751909" cy="1097280"/>
            </a:xfrm>
            <a:custGeom>
              <a:avLst/>
              <a:gdLst/>
              <a:ahLst/>
              <a:cxnLst/>
              <a:rect r="r" b="b" t="t" l="l"/>
              <a:pathLst>
                <a:path h="1097280" w="2751909">
                  <a:moveTo>
                    <a:pt x="0" y="0"/>
                  </a:moveTo>
                  <a:lnTo>
                    <a:pt x="2751909" y="0"/>
                  </a:lnTo>
                  <a:lnTo>
                    <a:pt x="2751909" y="1097280"/>
                  </a:lnTo>
                  <a:lnTo>
                    <a:pt x="0" y="1097280"/>
                  </a:lnTo>
                  <a:close/>
                </a:path>
              </a:pathLst>
            </a:custGeom>
            <a:blipFill>
              <a:blip r:embed="rId3">
                <a:alphaModFix amt="0"/>
              </a:blip>
              <a:stretch>
                <a:fillRect l="-1158" t="0" r="-1159" b="0"/>
              </a:stretch>
            </a:blipFill>
          </p:spPr>
        </p:sp>
        <p:sp>
          <p:nvSpPr>
            <p:cNvPr name="TextBox 103" id="103"/>
            <p:cNvSpPr txBox="true"/>
            <p:nvPr/>
          </p:nvSpPr>
          <p:spPr>
            <a:xfrm>
              <a:off x="0" y="0"/>
              <a:ext cx="2751912" cy="1097280"/>
            </a:xfrm>
            <a:prstGeom prst="rect">
              <a:avLst/>
            </a:prstGeom>
          </p:spPr>
          <p:txBody>
            <a:bodyPr anchor="ctr" rtlCol="false" tIns="0" lIns="0" bIns="0" rIns="0"/>
            <a:lstStyle/>
            <a:p>
              <a:pPr algn="ctr">
                <a:lnSpc>
                  <a:spcPts val="2640"/>
                </a:lnSpc>
              </a:pPr>
              <a:r>
                <a:rPr lang="en-US" sz="2200" b="true">
                  <a:solidFill>
                    <a:srgbClr val="0D9488"/>
                  </a:solidFill>
                  <a:latin typeface="Proxima Nova Bold"/>
                  <a:ea typeface="Proxima Nova Bold"/>
                  <a:cs typeface="Proxima Nova Bold"/>
                  <a:sym typeface="Proxima Nova Bold"/>
                </a:rPr>
                <a:t>Power BI</a:t>
              </a:r>
            </a:p>
          </p:txBody>
        </p:sp>
      </p:grpSp>
      <p:grpSp>
        <p:nvGrpSpPr>
          <p:cNvPr name="Group 104" id="104"/>
          <p:cNvGrpSpPr/>
          <p:nvPr/>
        </p:nvGrpSpPr>
        <p:grpSpPr>
          <a:xfrm rot="0">
            <a:off x="10476935" y="8214792"/>
            <a:ext cx="2066865" cy="640989"/>
            <a:chOff x="0" y="0"/>
            <a:chExt cx="2751912" cy="853440"/>
          </a:xfrm>
        </p:grpSpPr>
        <p:sp>
          <p:nvSpPr>
            <p:cNvPr name="Freeform 105" id="105"/>
            <p:cNvSpPr/>
            <p:nvPr/>
          </p:nvSpPr>
          <p:spPr>
            <a:xfrm flipH="false" flipV="false" rot="0">
              <a:off x="0" y="0"/>
              <a:ext cx="2751909" cy="853440"/>
            </a:xfrm>
            <a:custGeom>
              <a:avLst/>
              <a:gdLst/>
              <a:ahLst/>
              <a:cxnLst/>
              <a:rect r="r" b="b" t="t" l="l"/>
              <a:pathLst>
                <a:path h="853440" w="2751909">
                  <a:moveTo>
                    <a:pt x="0" y="0"/>
                  </a:moveTo>
                  <a:lnTo>
                    <a:pt x="2751909" y="0"/>
                  </a:lnTo>
                  <a:lnTo>
                    <a:pt x="2751909" y="853440"/>
                  </a:lnTo>
                  <a:lnTo>
                    <a:pt x="0" y="853440"/>
                  </a:lnTo>
                  <a:close/>
                </a:path>
              </a:pathLst>
            </a:custGeom>
            <a:blipFill>
              <a:blip r:embed="rId3">
                <a:alphaModFix amt="0"/>
              </a:blip>
              <a:stretch>
                <a:fillRect l="0" t="-12829" r="0" b="-12829"/>
              </a:stretch>
            </a:blipFill>
          </p:spPr>
        </p:sp>
        <p:sp>
          <p:nvSpPr>
            <p:cNvPr name="TextBox 106" id="106"/>
            <p:cNvSpPr txBox="true"/>
            <p:nvPr/>
          </p:nvSpPr>
          <p:spPr>
            <a:xfrm>
              <a:off x="0" y="0"/>
              <a:ext cx="2751912" cy="853440"/>
            </a:xfrm>
            <a:prstGeom prst="rect">
              <a:avLst/>
            </a:prstGeom>
          </p:spPr>
          <p:txBody>
            <a:bodyPr anchor="ctr" rtlCol="false" tIns="0" lIns="0" bIns="0" rIns="0"/>
            <a:lstStyle/>
            <a:p>
              <a:pPr algn="ctr">
                <a:lnSpc>
                  <a:spcPts val="2160"/>
                </a:lnSpc>
              </a:pPr>
              <a:r>
                <a:rPr lang="en-US" sz="1800">
                  <a:solidFill>
                    <a:srgbClr val="64748B"/>
                  </a:solidFill>
                  <a:latin typeface="Proxima Nova"/>
                  <a:ea typeface="Proxima Nova"/>
                  <a:cs typeface="Proxima Nova"/>
                  <a:sym typeface="Proxima Nova"/>
                </a:rPr>
                <a:t>BI Dashboard</a:t>
              </a:r>
            </a:p>
          </p:txBody>
        </p:sp>
      </p:grpSp>
      <p:grpSp>
        <p:nvGrpSpPr>
          <p:cNvPr name="Group 107" id="107"/>
          <p:cNvGrpSpPr/>
          <p:nvPr/>
        </p:nvGrpSpPr>
        <p:grpSpPr>
          <a:xfrm rot="0">
            <a:off x="12805785" y="7080470"/>
            <a:ext cx="2238807" cy="2177830"/>
            <a:chOff x="0" y="0"/>
            <a:chExt cx="2980842" cy="2899655"/>
          </a:xfrm>
        </p:grpSpPr>
        <p:sp>
          <p:nvSpPr>
            <p:cNvPr name="Freeform 108" id="108"/>
            <p:cNvSpPr/>
            <p:nvPr/>
          </p:nvSpPr>
          <p:spPr>
            <a:xfrm flipH="false" flipV="false" rot="0">
              <a:off x="0" y="0"/>
              <a:ext cx="2980817" cy="2899693"/>
            </a:xfrm>
            <a:custGeom>
              <a:avLst/>
              <a:gdLst/>
              <a:ahLst/>
              <a:cxnLst/>
              <a:rect r="r" b="b" t="t" l="l"/>
              <a:pathLst>
                <a:path h="2899693" w="2980817">
                  <a:moveTo>
                    <a:pt x="0" y="153242"/>
                  </a:moveTo>
                  <a:cubicBezTo>
                    <a:pt x="0" y="68572"/>
                    <a:pt x="110363" y="0"/>
                    <a:pt x="246634" y="0"/>
                  </a:cubicBezTo>
                  <a:lnTo>
                    <a:pt x="2734183" y="0"/>
                  </a:lnTo>
                  <a:cubicBezTo>
                    <a:pt x="2870454" y="0"/>
                    <a:pt x="2980817" y="68572"/>
                    <a:pt x="2980817" y="153242"/>
                  </a:cubicBezTo>
                  <a:lnTo>
                    <a:pt x="2980817" y="2746437"/>
                  </a:lnTo>
                  <a:cubicBezTo>
                    <a:pt x="2980817" y="2831107"/>
                    <a:pt x="2870454" y="2899693"/>
                    <a:pt x="2734183" y="2899693"/>
                  </a:cubicBezTo>
                  <a:lnTo>
                    <a:pt x="246634" y="2899693"/>
                  </a:lnTo>
                  <a:cubicBezTo>
                    <a:pt x="110363" y="2899693"/>
                    <a:pt x="0" y="2831028"/>
                    <a:pt x="0" y="2746437"/>
                  </a:cubicBezTo>
                  <a:close/>
                </a:path>
              </a:pathLst>
            </a:custGeom>
            <a:solidFill>
              <a:srgbClr val="FFFFFF"/>
            </a:solidFill>
            <a:ln w="25400" cap="sq">
              <a:solidFill>
                <a:srgbClr val="CBD5E1"/>
              </a:solidFill>
              <a:prstDash val="solid"/>
              <a:miter/>
            </a:ln>
          </p:spPr>
        </p:sp>
      </p:grpSp>
      <p:grpSp>
        <p:nvGrpSpPr>
          <p:cNvPr name="Group 109" id="109"/>
          <p:cNvGrpSpPr/>
          <p:nvPr/>
        </p:nvGrpSpPr>
        <p:grpSpPr>
          <a:xfrm rot="0">
            <a:off x="12910079" y="7427291"/>
            <a:ext cx="2066865" cy="824129"/>
            <a:chOff x="0" y="0"/>
            <a:chExt cx="2751912" cy="1097280"/>
          </a:xfrm>
        </p:grpSpPr>
        <p:sp>
          <p:nvSpPr>
            <p:cNvPr name="Freeform 110" id="110"/>
            <p:cNvSpPr/>
            <p:nvPr/>
          </p:nvSpPr>
          <p:spPr>
            <a:xfrm flipH="false" flipV="false" rot="0">
              <a:off x="0" y="0"/>
              <a:ext cx="2751909" cy="1097280"/>
            </a:xfrm>
            <a:custGeom>
              <a:avLst/>
              <a:gdLst/>
              <a:ahLst/>
              <a:cxnLst/>
              <a:rect r="r" b="b" t="t" l="l"/>
              <a:pathLst>
                <a:path h="1097280" w="2751909">
                  <a:moveTo>
                    <a:pt x="0" y="0"/>
                  </a:moveTo>
                  <a:lnTo>
                    <a:pt x="2751909" y="0"/>
                  </a:lnTo>
                  <a:lnTo>
                    <a:pt x="2751909" y="1097280"/>
                  </a:lnTo>
                  <a:lnTo>
                    <a:pt x="0" y="1097280"/>
                  </a:lnTo>
                  <a:close/>
                </a:path>
              </a:pathLst>
            </a:custGeom>
            <a:blipFill>
              <a:blip r:embed="rId3">
                <a:alphaModFix amt="0"/>
              </a:blip>
              <a:stretch>
                <a:fillRect l="-1158" t="0" r="-1159" b="0"/>
              </a:stretch>
            </a:blipFill>
          </p:spPr>
        </p:sp>
        <p:sp>
          <p:nvSpPr>
            <p:cNvPr name="TextBox 111" id="111"/>
            <p:cNvSpPr txBox="true"/>
            <p:nvPr/>
          </p:nvSpPr>
          <p:spPr>
            <a:xfrm>
              <a:off x="0" y="0"/>
              <a:ext cx="2751912" cy="1097280"/>
            </a:xfrm>
            <a:prstGeom prst="rect">
              <a:avLst/>
            </a:prstGeom>
          </p:spPr>
          <p:txBody>
            <a:bodyPr anchor="ctr" rtlCol="false" tIns="0" lIns="0" bIns="0" rIns="0"/>
            <a:lstStyle/>
            <a:p>
              <a:pPr algn="ctr">
                <a:lnSpc>
                  <a:spcPts val="2640"/>
                </a:lnSpc>
              </a:pPr>
              <a:r>
                <a:rPr lang="en-US" sz="2200" b="true">
                  <a:solidFill>
                    <a:srgbClr val="0D9488"/>
                  </a:solidFill>
                  <a:latin typeface="Proxima Nova Bold"/>
                  <a:ea typeface="Proxima Nova Bold"/>
                  <a:cs typeface="Proxima Nova Bold"/>
                  <a:sym typeface="Proxima Nova Bold"/>
                </a:rPr>
                <a:t>Plotly</a:t>
              </a:r>
            </a:p>
          </p:txBody>
        </p:sp>
      </p:grpSp>
      <p:grpSp>
        <p:nvGrpSpPr>
          <p:cNvPr name="Group 112" id="112"/>
          <p:cNvGrpSpPr/>
          <p:nvPr/>
        </p:nvGrpSpPr>
        <p:grpSpPr>
          <a:xfrm rot="0">
            <a:off x="12910079" y="8214792"/>
            <a:ext cx="2066865" cy="640989"/>
            <a:chOff x="0" y="0"/>
            <a:chExt cx="2751912" cy="853440"/>
          </a:xfrm>
        </p:grpSpPr>
        <p:sp>
          <p:nvSpPr>
            <p:cNvPr name="Freeform 113" id="113"/>
            <p:cNvSpPr/>
            <p:nvPr/>
          </p:nvSpPr>
          <p:spPr>
            <a:xfrm flipH="false" flipV="false" rot="0">
              <a:off x="0" y="0"/>
              <a:ext cx="2751909" cy="853440"/>
            </a:xfrm>
            <a:custGeom>
              <a:avLst/>
              <a:gdLst/>
              <a:ahLst/>
              <a:cxnLst/>
              <a:rect r="r" b="b" t="t" l="l"/>
              <a:pathLst>
                <a:path h="853440" w="2751909">
                  <a:moveTo>
                    <a:pt x="0" y="0"/>
                  </a:moveTo>
                  <a:lnTo>
                    <a:pt x="2751909" y="0"/>
                  </a:lnTo>
                  <a:lnTo>
                    <a:pt x="2751909" y="853440"/>
                  </a:lnTo>
                  <a:lnTo>
                    <a:pt x="0" y="853440"/>
                  </a:lnTo>
                  <a:close/>
                </a:path>
              </a:pathLst>
            </a:custGeom>
            <a:blipFill>
              <a:blip r:embed="rId3">
                <a:alphaModFix amt="0"/>
              </a:blip>
              <a:stretch>
                <a:fillRect l="0" t="-12829" r="0" b="-12829"/>
              </a:stretch>
            </a:blipFill>
          </p:spPr>
        </p:sp>
        <p:sp>
          <p:nvSpPr>
            <p:cNvPr name="TextBox 114" id="114"/>
            <p:cNvSpPr txBox="true"/>
            <p:nvPr/>
          </p:nvSpPr>
          <p:spPr>
            <a:xfrm>
              <a:off x="0" y="0"/>
              <a:ext cx="2751912" cy="853440"/>
            </a:xfrm>
            <a:prstGeom prst="rect">
              <a:avLst/>
            </a:prstGeom>
          </p:spPr>
          <p:txBody>
            <a:bodyPr anchor="ctr" rtlCol="false" tIns="0" lIns="0" bIns="0" rIns="0"/>
            <a:lstStyle/>
            <a:p>
              <a:pPr algn="ctr">
                <a:lnSpc>
                  <a:spcPts val="2160"/>
                </a:lnSpc>
              </a:pPr>
              <a:r>
                <a:rPr lang="en-US" sz="1800">
                  <a:solidFill>
                    <a:srgbClr val="64748B"/>
                  </a:solidFill>
                  <a:latin typeface="Proxima Nova"/>
                  <a:ea typeface="Proxima Nova"/>
                  <a:cs typeface="Proxima Nova"/>
                  <a:sym typeface="Proxima Nova"/>
                </a:rPr>
                <a:t>Visualization</a:t>
              </a:r>
            </a:p>
          </p:txBody>
        </p:sp>
      </p:grpSp>
      <p:grpSp>
        <p:nvGrpSpPr>
          <p:cNvPr name="Group 115" id="115"/>
          <p:cNvGrpSpPr/>
          <p:nvPr/>
        </p:nvGrpSpPr>
        <p:grpSpPr>
          <a:xfrm rot="0">
            <a:off x="15238930" y="7080470"/>
            <a:ext cx="2238807" cy="2177830"/>
            <a:chOff x="0" y="0"/>
            <a:chExt cx="2980842" cy="2899655"/>
          </a:xfrm>
        </p:grpSpPr>
        <p:sp>
          <p:nvSpPr>
            <p:cNvPr name="Freeform 116" id="116"/>
            <p:cNvSpPr/>
            <p:nvPr/>
          </p:nvSpPr>
          <p:spPr>
            <a:xfrm flipH="false" flipV="false" rot="0">
              <a:off x="0" y="0"/>
              <a:ext cx="2980817" cy="2899693"/>
            </a:xfrm>
            <a:custGeom>
              <a:avLst/>
              <a:gdLst/>
              <a:ahLst/>
              <a:cxnLst/>
              <a:rect r="r" b="b" t="t" l="l"/>
              <a:pathLst>
                <a:path h="2899693" w="2980817">
                  <a:moveTo>
                    <a:pt x="0" y="153242"/>
                  </a:moveTo>
                  <a:cubicBezTo>
                    <a:pt x="0" y="68572"/>
                    <a:pt x="110363" y="0"/>
                    <a:pt x="246634" y="0"/>
                  </a:cubicBezTo>
                  <a:lnTo>
                    <a:pt x="2734183" y="0"/>
                  </a:lnTo>
                  <a:cubicBezTo>
                    <a:pt x="2870454" y="0"/>
                    <a:pt x="2980817" y="68572"/>
                    <a:pt x="2980817" y="153242"/>
                  </a:cubicBezTo>
                  <a:lnTo>
                    <a:pt x="2980817" y="2746437"/>
                  </a:lnTo>
                  <a:cubicBezTo>
                    <a:pt x="2980817" y="2831107"/>
                    <a:pt x="2870454" y="2899693"/>
                    <a:pt x="2734183" y="2899693"/>
                  </a:cubicBezTo>
                  <a:lnTo>
                    <a:pt x="246634" y="2899693"/>
                  </a:lnTo>
                  <a:cubicBezTo>
                    <a:pt x="110363" y="2899693"/>
                    <a:pt x="0" y="2831028"/>
                    <a:pt x="0" y="2746437"/>
                  </a:cubicBezTo>
                  <a:close/>
                </a:path>
              </a:pathLst>
            </a:custGeom>
            <a:solidFill>
              <a:srgbClr val="FFFFFF"/>
            </a:solidFill>
            <a:ln w="25400" cap="sq">
              <a:solidFill>
                <a:srgbClr val="CBD5E1"/>
              </a:solidFill>
              <a:prstDash val="solid"/>
              <a:miter/>
            </a:ln>
          </p:spPr>
        </p:sp>
      </p:grpSp>
      <p:grpSp>
        <p:nvGrpSpPr>
          <p:cNvPr name="Group 117" id="117"/>
          <p:cNvGrpSpPr/>
          <p:nvPr/>
        </p:nvGrpSpPr>
        <p:grpSpPr>
          <a:xfrm rot="0">
            <a:off x="15343215" y="7427291"/>
            <a:ext cx="2066865" cy="824129"/>
            <a:chOff x="0" y="0"/>
            <a:chExt cx="2751912" cy="1097280"/>
          </a:xfrm>
        </p:grpSpPr>
        <p:sp>
          <p:nvSpPr>
            <p:cNvPr name="Freeform 118" id="118"/>
            <p:cNvSpPr/>
            <p:nvPr/>
          </p:nvSpPr>
          <p:spPr>
            <a:xfrm flipH="false" flipV="false" rot="0">
              <a:off x="0" y="0"/>
              <a:ext cx="2751909" cy="1097280"/>
            </a:xfrm>
            <a:custGeom>
              <a:avLst/>
              <a:gdLst/>
              <a:ahLst/>
              <a:cxnLst/>
              <a:rect r="r" b="b" t="t" l="l"/>
              <a:pathLst>
                <a:path h="1097280" w="2751909">
                  <a:moveTo>
                    <a:pt x="0" y="0"/>
                  </a:moveTo>
                  <a:lnTo>
                    <a:pt x="2751909" y="0"/>
                  </a:lnTo>
                  <a:lnTo>
                    <a:pt x="2751909" y="1097280"/>
                  </a:lnTo>
                  <a:lnTo>
                    <a:pt x="0" y="1097280"/>
                  </a:lnTo>
                  <a:close/>
                </a:path>
              </a:pathLst>
            </a:custGeom>
            <a:blipFill>
              <a:blip r:embed="rId3">
                <a:alphaModFix amt="0"/>
              </a:blip>
              <a:stretch>
                <a:fillRect l="-1158" t="0" r="-1159" b="0"/>
              </a:stretch>
            </a:blipFill>
          </p:spPr>
        </p:sp>
        <p:sp>
          <p:nvSpPr>
            <p:cNvPr name="TextBox 119" id="119"/>
            <p:cNvSpPr txBox="true"/>
            <p:nvPr/>
          </p:nvSpPr>
          <p:spPr>
            <a:xfrm>
              <a:off x="0" y="0"/>
              <a:ext cx="2751912" cy="1097280"/>
            </a:xfrm>
            <a:prstGeom prst="rect">
              <a:avLst/>
            </a:prstGeom>
          </p:spPr>
          <p:txBody>
            <a:bodyPr anchor="ctr" rtlCol="false" tIns="0" lIns="0" bIns="0" rIns="0"/>
            <a:lstStyle/>
            <a:p>
              <a:pPr algn="ctr">
                <a:lnSpc>
                  <a:spcPts val="2640"/>
                </a:lnSpc>
              </a:pPr>
              <a:r>
                <a:rPr lang="en-US" sz="2200" b="true">
                  <a:solidFill>
                    <a:srgbClr val="0D9488"/>
                  </a:solidFill>
                  <a:latin typeface="Proxima Nova Bold"/>
                  <a:ea typeface="Proxima Nova Bold"/>
                  <a:cs typeface="Proxima Nova Bold"/>
                  <a:sym typeface="Proxima Nova Bold"/>
                </a:rPr>
                <a:t>Matplotlib</a:t>
              </a:r>
            </a:p>
          </p:txBody>
        </p:sp>
      </p:grpSp>
      <p:grpSp>
        <p:nvGrpSpPr>
          <p:cNvPr name="Group 120" id="120"/>
          <p:cNvGrpSpPr/>
          <p:nvPr/>
        </p:nvGrpSpPr>
        <p:grpSpPr>
          <a:xfrm rot="0">
            <a:off x="15343215" y="8214792"/>
            <a:ext cx="2066865" cy="640989"/>
            <a:chOff x="0" y="0"/>
            <a:chExt cx="2751912" cy="853440"/>
          </a:xfrm>
        </p:grpSpPr>
        <p:sp>
          <p:nvSpPr>
            <p:cNvPr name="Freeform 121" id="121"/>
            <p:cNvSpPr/>
            <p:nvPr/>
          </p:nvSpPr>
          <p:spPr>
            <a:xfrm flipH="false" flipV="false" rot="0">
              <a:off x="0" y="0"/>
              <a:ext cx="2751909" cy="853440"/>
            </a:xfrm>
            <a:custGeom>
              <a:avLst/>
              <a:gdLst/>
              <a:ahLst/>
              <a:cxnLst/>
              <a:rect r="r" b="b" t="t" l="l"/>
              <a:pathLst>
                <a:path h="853440" w="2751909">
                  <a:moveTo>
                    <a:pt x="0" y="0"/>
                  </a:moveTo>
                  <a:lnTo>
                    <a:pt x="2751909" y="0"/>
                  </a:lnTo>
                  <a:lnTo>
                    <a:pt x="2751909" y="853440"/>
                  </a:lnTo>
                  <a:lnTo>
                    <a:pt x="0" y="853440"/>
                  </a:lnTo>
                  <a:close/>
                </a:path>
              </a:pathLst>
            </a:custGeom>
            <a:blipFill>
              <a:blip r:embed="rId3">
                <a:alphaModFix amt="0"/>
              </a:blip>
              <a:stretch>
                <a:fillRect l="0" t="-12829" r="0" b="-12829"/>
              </a:stretch>
            </a:blipFill>
          </p:spPr>
        </p:sp>
        <p:sp>
          <p:nvSpPr>
            <p:cNvPr name="TextBox 122" id="122"/>
            <p:cNvSpPr txBox="true"/>
            <p:nvPr/>
          </p:nvSpPr>
          <p:spPr>
            <a:xfrm>
              <a:off x="0" y="0"/>
              <a:ext cx="2751912" cy="853440"/>
            </a:xfrm>
            <a:prstGeom prst="rect">
              <a:avLst/>
            </a:prstGeom>
          </p:spPr>
          <p:txBody>
            <a:bodyPr anchor="ctr" rtlCol="false" tIns="0" lIns="0" bIns="0" rIns="0"/>
            <a:lstStyle/>
            <a:p>
              <a:pPr algn="ctr">
                <a:lnSpc>
                  <a:spcPts val="2160"/>
                </a:lnSpc>
              </a:pPr>
              <a:r>
                <a:rPr lang="en-US" sz="1800">
                  <a:solidFill>
                    <a:srgbClr val="64748B"/>
                  </a:solidFill>
                  <a:latin typeface="Proxima Nova"/>
                  <a:ea typeface="Proxima Nova"/>
                  <a:cs typeface="Proxima Nova"/>
                  <a:sym typeface="Proxima Nova"/>
                </a:rPr>
                <a:t>Static Charts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945643"/>
            <a:chOff x="0" y="0"/>
            <a:chExt cx="24417871" cy="2594191"/>
          </a:xfrm>
        </p:grpSpPr>
        <p:sp>
          <p:nvSpPr>
            <p:cNvPr name="Freeform 3" id="3"/>
            <p:cNvSpPr/>
            <p:nvPr/>
          </p:nvSpPr>
          <p:spPr>
            <a:xfrm flipH="false" flipV="false" rot="0">
              <a:off x="0" y="0"/>
              <a:ext cx="24417910" cy="2594229"/>
            </a:xfrm>
            <a:custGeom>
              <a:avLst/>
              <a:gdLst/>
              <a:ahLst/>
              <a:cxnLst/>
              <a:rect r="r" b="b" t="t" l="l"/>
              <a:pathLst>
                <a:path h="2594229" w="24417910">
                  <a:moveTo>
                    <a:pt x="0" y="0"/>
                  </a:moveTo>
                  <a:lnTo>
                    <a:pt x="24417910" y="0"/>
                  </a:lnTo>
                  <a:lnTo>
                    <a:pt x="24417910" y="2594229"/>
                  </a:lnTo>
                  <a:lnTo>
                    <a:pt x="0" y="2594229"/>
                  </a:lnTo>
                  <a:close/>
                </a:path>
              </a:pathLst>
            </a:custGeom>
            <a:solidFill>
              <a:srgbClr val="0D1B2A"/>
            </a:solidFill>
            <a:ln w="25400" cap="sq">
              <a:solidFill>
                <a:srgbClr val="0D1B2A"/>
              </a:solidFill>
              <a:prstDash val="solid"/>
              <a:miter/>
            </a:ln>
          </p:spPr>
        </p:sp>
      </p:grpSp>
      <p:grpSp>
        <p:nvGrpSpPr>
          <p:cNvPr name="Group 4" id="4"/>
          <p:cNvGrpSpPr/>
          <p:nvPr/>
        </p:nvGrpSpPr>
        <p:grpSpPr>
          <a:xfrm rot="0">
            <a:off x="-12697" y="1907543"/>
            <a:ext cx="18313403" cy="153419"/>
            <a:chOff x="0" y="0"/>
            <a:chExt cx="24417871" cy="204559"/>
          </a:xfrm>
        </p:grpSpPr>
        <p:sp>
          <p:nvSpPr>
            <p:cNvPr name="Freeform 5" id="5"/>
            <p:cNvSpPr/>
            <p:nvPr/>
          </p:nvSpPr>
          <p:spPr>
            <a:xfrm flipH="false" flipV="false" rot="0">
              <a:off x="0" y="0"/>
              <a:ext cx="24417910" cy="204597"/>
            </a:xfrm>
            <a:custGeom>
              <a:avLst/>
              <a:gdLst/>
              <a:ahLst/>
              <a:cxnLst/>
              <a:rect r="r" b="b" t="t" l="l"/>
              <a:pathLst>
                <a:path h="204597" w="24417910">
                  <a:moveTo>
                    <a:pt x="0" y="0"/>
                  </a:moveTo>
                  <a:lnTo>
                    <a:pt x="24417910" y="0"/>
                  </a:lnTo>
                  <a:lnTo>
                    <a:pt x="24417910" y="204597"/>
                  </a:lnTo>
                  <a:lnTo>
                    <a:pt x="0" y="204597"/>
                  </a:lnTo>
                  <a:close/>
                </a:path>
              </a:pathLst>
            </a:custGeom>
            <a:solidFill>
              <a:srgbClr val="0D9488"/>
            </a:solidFill>
            <a:ln w="25400" cap="sq">
              <a:solidFill>
                <a:srgbClr val="0D9488"/>
              </a:solidFill>
              <a:prstDash val="solid"/>
              <a:miter/>
            </a:ln>
          </p:spPr>
        </p:sp>
      </p:grpSp>
      <p:grpSp>
        <p:nvGrpSpPr>
          <p:cNvPr name="Group 6" id="6"/>
          <p:cNvGrpSpPr/>
          <p:nvPr/>
        </p:nvGrpSpPr>
        <p:grpSpPr>
          <a:xfrm rot="0">
            <a:off x="822960" y="402336"/>
            <a:ext cx="16642080" cy="1097280"/>
            <a:chOff x="0" y="0"/>
            <a:chExt cx="22189440" cy="1463040"/>
          </a:xfrm>
        </p:grpSpPr>
        <p:sp>
          <p:nvSpPr>
            <p:cNvPr name="Freeform 7" id="7"/>
            <p:cNvSpPr/>
            <p:nvPr/>
          </p:nvSpPr>
          <p:spPr>
            <a:xfrm flipH="false" flipV="false" rot="0">
              <a:off x="0" y="0"/>
              <a:ext cx="22189439" cy="1463040"/>
            </a:xfrm>
            <a:custGeom>
              <a:avLst/>
              <a:gdLst/>
              <a:ahLst/>
              <a:cxnLst/>
              <a:rect r="r" b="b" t="t" l="l"/>
              <a:pathLst>
                <a:path h="1463040" w="22189439">
                  <a:moveTo>
                    <a:pt x="0" y="0"/>
                  </a:moveTo>
                  <a:lnTo>
                    <a:pt x="22189439" y="0"/>
                  </a:lnTo>
                  <a:lnTo>
                    <a:pt x="22189439" y="1463040"/>
                  </a:lnTo>
                  <a:lnTo>
                    <a:pt x="0" y="1463040"/>
                  </a:lnTo>
                  <a:close/>
                </a:path>
              </a:pathLst>
            </a:custGeom>
            <a:blipFill>
              <a:blip r:embed="rId3">
                <a:alphaModFix amt="0"/>
              </a:blip>
              <a:stretch>
                <a:fillRect l="0" t="-245523" r="0" b="-245523"/>
              </a:stretch>
            </a:blipFill>
          </p:spPr>
        </p:sp>
        <p:sp>
          <p:nvSpPr>
            <p:cNvPr name="TextBox 8" id="8"/>
            <p:cNvSpPr txBox="true"/>
            <p:nvPr/>
          </p:nvSpPr>
          <p:spPr>
            <a:xfrm>
              <a:off x="0" y="9525"/>
              <a:ext cx="22189440" cy="1453515"/>
            </a:xfrm>
            <a:prstGeom prst="rect">
              <a:avLst/>
            </a:prstGeom>
          </p:spPr>
          <p:txBody>
            <a:bodyPr anchor="ctr" rtlCol="false" tIns="0" lIns="0" bIns="0" rIns="0"/>
            <a:lstStyle/>
            <a:p>
              <a:pPr algn="l">
                <a:lnSpc>
                  <a:spcPts val="6240"/>
                </a:lnSpc>
              </a:pPr>
              <a:r>
                <a:rPr lang="en-US" sz="5200" b="true">
                  <a:solidFill>
                    <a:srgbClr val="FFFFFF"/>
                  </a:solidFill>
                  <a:latin typeface="Montserrat Bold"/>
                  <a:ea typeface="Montserrat Bold"/>
                  <a:cs typeface="Montserrat Bold"/>
                  <a:sym typeface="Montserrat Bold"/>
                </a:rPr>
                <a:t>EDA Highlights – NAV Analysis</a:t>
              </a:r>
            </a:p>
          </p:txBody>
        </p:sp>
      </p:grpSp>
      <p:grpSp>
        <p:nvGrpSpPr>
          <p:cNvPr name="Group 9" id="9"/>
          <p:cNvGrpSpPr/>
          <p:nvPr/>
        </p:nvGrpSpPr>
        <p:grpSpPr>
          <a:xfrm rot="0">
            <a:off x="627383" y="2328167"/>
            <a:ext cx="17033243" cy="793499"/>
            <a:chOff x="0" y="0"/>
            <a:chExt cx="22710991" cy="1057999"/>
          </a:xfrm>
        </p:grpSpPr>
        <p:sp>
          <p:nvSpPr>
            <p:cNvPr name="Freeform 10" id="10"/>
            <p:cNvSpPr/>
            <p:nvPr/>
          </p:nvSpPr>
          <p:spPr>
            <a:xfrm flipH="false" flipV="false" rot="0">
              <a:off x="0" y="0"/>
              <a:ext cx="22711029" cy="1058037"/>
            </a:xfrm>
            <a:custGeom>
              <a:avLst/>
              <a:gdLst/>
              <a:ahLst/>
              <a:cxnLst/>
              <a:rect r="r" b="b" t="t" l="l"/>
              <a:pathLst>
                <a:path h="1058037" w="22711029">
                  <a:moveTo>
                    <a:pt x="0" y="201549"/>
                  </a:moveTo>
                  <a:cubicBezTo>
                    <a:pt x="0" y="90170"/>
                    <a:pt x="90170" y="0"/>
                    <a:pt x="201549" y="0"/>
                  </a:cubicBezTo>
                  <a:lnTo>
                    <a:pt x="22509480" y="0"/>
                  </a:lnTo>
                  <a:cubicBezTo>
                    <a:pt x="22620732" y="0"/>
                    <a:pt x="22711029" y="90170"/>
                    <a:pt x="22711029" y="201549"/>
                  </a:cubicBezTo>
                  <a:lnTo>
                    <a:pt x="22711029" y="856488"/>
                  </a:lnTo>
                  <a:cubicBezTo>
                    <a:pt x="22711029" y="967740"/>
                    <a:pt x="22620860" y="1058037"/>
                    <a:pt x="22509480" y="1058037"/>
                  </a:cubicBezTo>
                  <a:lnTo>
                    <a:pt x="201549" y="1058037"/>
                  </a:lnTo>
                  <a:cubicBezTo>
                    <a:pt x="90170" y="1058037"/>
                    <a:pt x="0" y="967740"/>
                    <a:pt x="0" y="856488"/>
                  </a:cubicBezTo>
                  <a:close/>
                </a:path>
              </a:pathLst>
            </a:custGeom>
            <a:solidFill>
              <a:srgbClr val="CCFBF1"/>
            </a:solidFill>
            <a:ln w="25400" cap="sq">
              <a:solidFill>
                <a:srgbClr val="0D9488"/>
              </a:solidFill>
              <a:prstDash val="solid"/>
              <a:miter/>
            </a:ln>
          </p:spPr>
        </p:sp>
      </p:grpSp>
      <p:grpSp>
        <p:nvGrpSpPr>
          <p:cNvPr name="Group 11" id="11"/>
          <p:cNvGrpSpPr/>
          <p:nvPr/>
        </p:nvGrpSpPr>
        <p:grpSpPr>
          <a:xfrm rot="0">
            <a:off x="914400" y="2377440"/>
            <a:ext cx="16459200" cy="694944"/>
            <a:chOff x="0" y="0"/>
            <a:chExt cx="21945600" cy="926592"/>
          </a:xfrm>
        </p:grpSpPr>
        <p:sp>
          <p:nvSpPr>
            <p:cNvPr name="Freeform 12" id="12"/>
            <p:cNvSpPr/>
            <p:nvPr/>
          </p:nvSpPr>
          <p:spPr>
            <a:xfrm flipH="false" flipV="false" rot="0">
              <a:off x="0" y="0"/>
              <a:ext cx="21945600" cy="926592"/>
            </a:xfrm>
            <a:custGeom>
              <a:avLst/>
              <a:gdLst/>
              <a:ahLst/>
              <a:cxnLst/>
              <a:rect r="r" b="b" t="t" l="l"/>
              <a:pathLst>
                <a:path h="926592" w="21945600">
                  <a:moveTo>
                    <a:pt x="0" y="0"/>
                  </a:moveTo>
                  <a:lnTo>
                    <a:pt x="21945600" y="0"/>
                  </a:lnTo>
                  <a:lnTo>
                    <a:pt x="21945600" y="926592"/>
                  </a:lnTo>
                  <a:lnTo>
                    <a:pt x="0" y="926592"/>
                  </a:lnTo>
                  <a:close/>
                </a:path>
              </a:pathLst>
            </a:custGeom>
            <a:blipFill>
              <a:blip r:embed="rId3">
                <a:alphaModFix amt="0"/>
              </a:blip>
              <a:stretch>
                <a:fillRect l="0" t="-411487" r="0" b="-411487"/>
              </a:stretch>
            </a:blipFill>
          </p:spPr>
        </p:sp>
        <p:sp>
          <p:nvSpPr>
            <p:cNvPr name="TextBox 13" id="13"/>
            <p:cNvSpPr txBox="true"/>
            <p:nvPr/>
          </p:nvSpPr>
          <p:spPr>
            <a:xfrm>
              <a:off x="0" y="0"/>
              <a:ext cx="21945600" cy="926592"/>
            </a:xfrm>
            <a:prstGeom prst="rect">
              <a:avLst/>
            </a:prstGeom>
          </p:spPr>
          <p:txBody>
            <a:bodyPr anchor="ctr" rtlCol="false" tIns="0" lIns="0" bIns="0" rIns="0"/>
            <a:lstStyle/>
            <a:p>
              <a:pPr algn="l">
                <a:lnSpc>
                  <a:spcPts val="2760"/>
                </a:lnSpc>
              </a:pPr>
              <a:r>
                <a:rPr lang="en-US" sz="2300" i="true">
                  <a:solidFill>
                    <a:srgbClr val="0F766E"/>
                  </a:solidFill>
                  <a:latin typeface="Proxima Nova Italics"/>
                  <a:ea typeface="Proxima Nova Italics"/>
                  <a:cs typeface="Proxima Nova Italics"/>
                  <a:sym typeface="Proxima Nova Italics"/>
                </a:rPr>
                <a:t>Objective:  Analyze mutual fund NAV movement over time to identify growth trends and volatility patterns.</a:t>
              </a:r>
            </a:p>
          </p:txBody>
        </p:sp>
      </p:grpSp>
      <p:grpSp>
        <p:nvGrpSpPr>
          <p:cNvPr name="Group 14" id="14"/>
          <p:cNvGrpSpPr/>
          <p:nvPr/>
        </p:nvGrpSpPr>
        <p:grpSpPr>
          <a:xfrm rot="0">
            <a:off x="627383" y="3425447"/>
            <a:ext cx="7706363" cy="1283322"/>
            <a:chOff x="0" y="0"/>
            <a:chExt cx="10275151" cy="1711095"/>
          </a:xfrm>
        </p:grpSpPr>
        <p:sp>
          <p:nvSpPr>
            <p:cNvPr name="Freeform 15" id="15"/>
            <p:cNvSpPr/>
            <p:nvPr/>
          </p:nvSpPr>
          <p:spPr>
            <a:xfrm flipH="false" flipV="false" rot="0">
              <a:off x="0" y="0"/>
              <a:ext cx="10275062" cy="1710964"/>
            </a:xfrm>
            <a:custGeom>
              <a:avLst/>
              <a:gdLst/>
              <a:ahLst/>
              <a:cxnLst/>
              <a:rect r="r" b="b" t="t" l="l"/>
              <a:pathLst>
                <a:path h="1710964" w="10275062">
                  <a:moveTo>
                    <a:pt x="0" y="297510"/>
                  </a:moveTo>
                  <a:cubicBezTo>
                    <a:pt x="0" y="133146"/>
                    <a:pt x="89916" y="0"/>
                    <a:pt x="200914" y="0"/>
                  </a:cubicBezTo>
                  <a:lnTo>
                    <a:pt x="10074148" y="0"/>
                  </a:lnTo>
                  <a:cubicBezTo>
                    <a:pt x="10185146" y="0"/>
                    <a:pt x="10275062" y="133146"/>
                    <a:pt x="10275062" y="297510"/>
                  </a:cubicBezTo>
                  <a:lnTo>
                    <a:pt x="10275062" y="1413454"/>
                  </a:lnTo>
                  <a:cubicBezTo>
                    <a:pt x="10275062" y="1577818"/>
                    <a:pt x="10185146" y="1710964"/>
                    <a:pt x="10074148" y="1710964"/>
                  </a:cubicBezTo>
                  <a:lnTo>
                    <a:pt x="200914" y="1710964"/>
                  </a:lnTo>
                  <a:cubicBezTo>
                    <a:pt x="89916" y="1711134"/>
                    <a:pt x="0" y="1577818"/>
                    <a:pt x="0" y="1413454"/>
                  </a:cubicBezTo>
                  <a:close/>
                </a:path>
              </a:pathLst>
            </a:custGeom>
            <a:solidFill>
              <a:srgbClr val="FFFFFF"/>
            </a:solidFill>
            <a:ln w="25400" cap="sq">
              <a:solidFill>
                <a:srgbClr val="CBD5E1"/>
              </a:solidFill>
              <a:prstDash val="solid"/>
              <a:miter/>
            </a:ln>
          </p:spPr>
        </p:sp>
      </p:grpSp>
      <p:grpSp>
        <p:nvGrpSpPr>
          <p:cNvPr name="Group 16" id="16"/>
          <p:cNvGrpSpPr/>
          <p:nvPr/>
        </p:nvGrpSpPr>
        <p:grpSpPr>
          <a:xfrm rot="0">
            <a:off x="627383" y="3425447"/>
            <a:ext cx="135131" cy="1283322"/>
            <a:chOff x="0" y="0"/>
            <a:chExt cx="180175" cy="1711095"/>
          </a:xfrm>
        </p:grpSpPr>
        <p:sp>
          <p:nvSpPr>
            <p:cNvPr name="Freeform 17" id="17"/>
            <p:cNvSpPr/>
            <p:nvPr/>
          </p:nvSpPr>
          <p:spPr>
            <a:xfrm flipH="false" flipV="false" rot="0">
              <a:off x="0" y="0"/>
              <a:ext cx="180086" cy="1710964"/>
            </a:xfrm>
            <a:custGeom>
              <a:avLst/>
              <a:gdLst/>
              <a:ahLst/>
              <a:cxnLst/>
              <a:rect r="r" b="b" t="t" l="l"/>
              <a:pathLst>
                <a:path h="1710964" w="180086">
                  <a:moveTo>
                    <a:pt x="0" y="133334"/>
                  </a:moveTo>
                  <a:cubicBezTo>
                    <a:pt x="0" y="59803"/>
                    <a:pt x="40386" y="0"/>
                    <a:pt x="90043" y="0"/>
                  </a:cubicBezTo>
                  <a:cubicBezTo>
                    <a:pt x="139700" y="0"/>
                    <a:pt x="180086" y="59803"/>
                    <a:pt x="180086" y="133334"/>
                  </a:cubicBezTo>
                  <a:lnTo>
                    <a:pt x="180086" y="1577630"/>
                  </a:lnTo>
                  <a:cubicBezTo>
                    <a:pt x="180086" y="1651349"/>
                    <a:pt x="139700" y="1710964"/>
                    <a:pt x="90043" y="1710964"/>
                  </a:cubicBezTo>
                  <a:cubicBezTo>
                    <a:pt x="40386" y="1710964"/>
                    <a:pt x="0" y="1651349"/>
                    <a:pt x="0" y="1577630"/>
                  </a:cubicBezTo>
                  <a:close/>
                </a:path>
              </a:pathLst>
            </a:custGeom>
            <a:solidFill>
              <a:srgbClr val="0D9488"/>
            </a:solidFill>
            <a:ln w="25400" cap="sq">
              <a:solidFill>
                <a:srgbClr val="0D9488"/>
              </a:solidFill>
              <a:prstDash val="solid"/>
              <a:miter/>
            </a:ln>
          </p:spPr>
        </p:sp>
      </p:grpSp>
      <p:grpSp>
        <p:nvGrpSpPr>
          <p:cNvPr name="Group 18" id="18"/>
          <p:cNvGrpSpPr/>
          <p:nvPr/>
        </p:nvGrpSpPr>
        <p:grpSpPr>
          <a:xfrm rot="0">
            <a:off x="914400" y="3471329"/>
            <a:ext cx="7223760" cy="1221840"/>
            <a:chOff x="0" y="0"/>
            <a:chExt cx="9631680" cy="1629120"/>
          </a:xfrm>
        </p:grpSpPr>
        <p:sp>
          <p:nvSpPr>
            <p:cNvPr name="Freeform 19" id="19"/>
            <p:cNvSpPr/>
            <p:nvPr/>
          </p:nvSpPr>
          <p:spPr>
            <a:xfrm flipH="false" flipV="false" rot="0">
              <a:off x="0" y="0"/>
              <a:ext cx="9631680" cy="1629120"/>
            </a:xfrm>
            <a:custGeom>
              <a:avLst/>
              <a:gdLst/>
              <a:ahLst/>
              <a:cxnLst/>
              <a:rect r="r" b="b" t="t" l="l"/>
              <a:pathLst>
                <a:path h="1629120" w="9631680">
                  <a:moveTo>
                    <a:pt x="0" y="0"/>
                  </a:moveTo>
                  <a:lnTo>
                    <a:pt x="9631680" y="0"/>
                  </a:lnTo>
                  <a:lnTo>
                    <a:pt x="9631680" y="1629120"/>
                  </a:lnTo>
                  <a:lnTo>
                    <a:pt x="0" y="1629120"/>
                  </a:lnTo>
                  <a:close/>
                </a:path>
              </a:pathLst>
            </a:custGeom>
            <a:blipFill>
              <a:blip r:embed="rId3">
                <a:alphaModFix amt="0"/>
              </a:blip>
              <a:stretch>
                <a:fillRect l="0" t="-82270" r="0" b="-48128"/>
              </a:stretch>
            </a:blipFill>
          </p:spPr>
        </p:sp>
        <p:sp>
          <p:nvSpPr>
            <p:cNvPr name="TextBox 20" id="20"/>
            <p:cNvSpPr txBox="true"/>
            <p:nvPr/>
          </p:nvSpPr>
          <p:spPr>
            <a:xfrm>
              <a:off x="0" y="0"/>
              <a:ext cx="9631680" cy="1629120"/>
            </a:xfrm>
            <a:prstGeom prst="rect">
              <a:avLst/>
            </a:prstGeom>
          </p:spPr>
          <p:txBody>
            <a:bodyPr anchor="ctr" rtlCol="false" tIns="0" lIns="0" bIns="0" rIns="0"/>
            <a:lstStyle/>
            <a:p>
              <a:pPr algn="l">
                <a:lnSpc>
                  <a:spcPts val="2760"/>
                </a:lnSpc>
              </a:pPr>
              <a:r>
                <a:rPr lang="en-US" sz="2300">
                  <a:solidFill>
                    <a:srgbClr val="1E293B"/>
                  </a:solidFill>
                  <a:latin typeface="Proxima Nova"/>
                  <a:ea typeface="Proxima Nova"/>
                  <a:cs typeface="Proxima Nova"/>
                  <a:sym typeface="Proxima Nova"/>
                </a:rPr>
                <a:t>Most equity funds demonstrated consistent long-term growth</a:t>
              </a:r>
            </a:p>
          </p:txBody>
        </p:sp>
      </p:grpSp>
      <p:grpSp>
        <p:nvGrpSpPr>
          <p:cNvPr name="Group 21" id="21"/>
          <p:cNvGrpSpPr/>
          <p:nvPr/>
        </p:nvGrpSpPr>
        <p:grpSpPr>
          <a:xfrm rot="0">
            <a:off x="627383" y="4941958"/>
            <a:ext cx="7706363" cy="1283322"/>
            <a:chOff x="0" y="0"/>
            <a:chExt cx="10275151" cy="1711095"/>
          </a:xfrm>
        </p:grpSpPr>
        <p:sp>
          <p:nvSpPr>
            <p:cNvPr name="Freeform 22" id="22"/>
            <p:cNvSpPr/>
            <p:nvPr/>
          </p:nvSpPr>
          <p:spPr>
            <a:xfrm flipH="false" flipV="false" rot="0">
              <a:off x="0" y="0"/>
              <a:ext cx="10275062" cy="1710964"/>
            </a:xfrm>
            <a:custGeom>
              <a:avLst/>
              <a:gdLst/>
              <a:ahLst/>
              <a:cxnLst/>
              <a:rect r="r" b="b" t="t" l="l"/>
              <a:pathLst>
                <a:path h="1710964" w="10275062">
                  <a:moveTo>
                    <a:pt x="0" y="297510"/>
                  </a:moveTo>
                  <a:cubicBezTo>
                    <a:pt x="0" y="133146"/>
                    <a:pt x="89916" y="0"/>
                    <a:pt x="200914" y="0"/>
                  </a:cubicBezTo>
                  <a:lnTo>
                    <a:pt x="10074148" y="0"/>
                  </a:lnTo>
                  <a:cubicBezTo>
                    <a:pt x="10185146" y="0"/>
                    <a:pt x="10275062" y="133146"/>
                    <a:pt x="10275062" y="297510"/>
                  </a:cubicBezTo>
                  <a:lnTo>
                    <a:pt x="10275062" y="1413454"/>
                  </a:lnTo>
                  <a:cubicBezTo>
                    <a:pt x="10275062" y="1577818"/>
                    <a:pt x="10185146" y="1710964"/>
                    <a:pt x="10074148" y="1710964"/>
                  </a:cubicBezTo>
                  <a:lnTo>
                    <a:pt x="200914" y="1710964"/>
                  </a:lnTo>
                  <a:cubicBezTo>
                    <a:pt x="89916" y="1711134"/>
                    <a:pt x="0" y="1577818"/>
                    <a:pt x="0" y="1413454"/>
                  </a:cubicBezTo>
                  <a:close/>
                </a:path>
              </a:pathLst>
            </a:custGeom>
            <a:solidFill>
              <a:srgbClr val="FFFFFF"/>
            </a:solidFill>
            <a:ln w="25400" cap="sq">
              <a:solidFill>
                <a:srgbClr val="CBD5E1"/>
              </a:solidFill>
              <a:prstDash val="solid"/>
              <a:miter/>
            </a:ln>
          </p:spPr>
        </p:sp>
      </p:grpSp>
      <p:grpSp>
        <p:nvGrpSpPr>
          <p:cNvPr name="Group 23" id="23"/>
          <p:cNvGrpSpPr/>
          <p:nvPr/>
        </p:nvGrpSpPr>
        <p:grpSpPr>
          <a:xfrm rot="0">
            <a:off x="627383" y="4941958"/>
            <a:ext cx="135131" cy="1283322"/>
            <a:chOff x="0" y="0"/>
            <a:chExt cx="180175" cy="1711095"/>
          </a:xfrm>
        </p:grpSpPr>
        <p:sp>
          <p:nvSpPr>
            <p:cNvPr name="Freeform 24" id="24"/>
            <p:cNvSpPr/>
            <p:nvPr/>
          </p:nvSpPr>
          <p:spPr>
            <a:xfrm flipH="false" flipV="false" rot="0">
              <a:off x="0" y="0"/>
              <a:ext cx="180086" cy="1710964"/>
            </a:xfrm>
            <a:custGeom>
              <a:avLst/>
              <a:gdLst/>
              <a:ahLst/>
              <a:cxnLst/>
              <a:rect r="r" b="b" t="t" l="l"/>
              <a:pathLst>
                <a:path h="1710964" w="180086">
                  <a:moveTo>
                    <a:pt x="0" y="133334"/>
                  </a:moveTo>
                  <a:cubicBezTo>
                    <a:pt x="0" y="59803"/>
                    <a:pt x="40386" y="0"/>
                    <a:pt x="90043" y="0"/>
                  </a:cubicBezTo>
                  <a:cubicBezTo>
                    <a:pt x="139700" y="0"/>
                    <a:pt x="180086" y="59803"/>
                    <a:pt x="180086" y="133334"/>
                  </a:cubicBezTo>
                  <a:lnTo>
                    <a:pt x="180086" y="1577630"/>
                  </a:lnTo>
                  <a:cubicBezTo>
                    <a:pt x="180086" y="1651349"/>
                    <a:pt x="139700" y="1710964"/>
                    <a:pt x="90043" y="1710964"/>
                  </a:cubicBezTo>
                  <a:cubicBezTo>
                    <a:pt x="40386" y="1710964"/>
                    <a:pt x="0" y="1651349"/>
                    <a:pt x="0" y="1577630"/>
                  </a:cubicBezTo>
                  <a:close/>
                </a:path>
              </a:pathLst>
            </a:custGeom>
            <a:solidFill>
              <a:srgbClr val="0F766E"/>
            </a:solidFill>
            <a:ln w="25400" cap="sq">
              <a:solidFill>
                <a:srgbClr val="0F766E"/>
              </a:solidFill>
              <a:prstDash val="solid"/>
              <a:miter/>
            </a:ln>
          </p:spPr>
        </p:sp>
      </p:grpSp>
      <p:grpSp>
        <p:nvGrpSpPr>
          <p:cNvPr name="Group 25" id="25"/>
          <p:cNvGrpSpPr/>
          <p:nvPr/>
        </p:nvGrpSpPr>
        <p:grpSpPr>
          <a:xfrm rot="0">
            <a:off x="914400" y="4987839"/>
            <a:ext cx="7223760" cy="1191544"/>
            <a:chOff x="0" y="0"/>
            <a:chExt cx="9631680" cy="1588725"/>
          </a:xfrm>
        </p:grpSpPr>
        <p:sp>
          <p:nvSpPr>
            <p:cNvPr name="Freeform 26" id="26"/>
            <p:cNvSpPr/>
            <p:nvPr/>
          </p:nvSpPr>
          <p:spPr>
            <a:xfrm flipH="false" flipV="false" rot="0">
              <a:off x="0" y="0"/>
              <a:ext cx="9631680" cy="1588725"/>
            </a:xfrm>
            <a:custGeom>
              <a:avLst/>
              <a:gdLst/>
              <a:ahLst/>
              <a:cxnLst/>
              <a:rect r="r" b="b" t="t" l="l"/>
              <a:pathLst>
                <a:path h="1588725" w="9631680">
                  <a:moveTo>
                    <a:pt x="0" y="0"/>
                  </a:moveTo>
                  <a:lnTo>
                    <a:pt x="9631680" y="0"/>
                  </a:lnTo>
                  <a:lnTo>
                    <a:pt x="9631680" y="1588725"/>
                  </a:lnTo>
                  <a:lnTo>
                    <a:pt x="0" y="1588725"/>
                  </a:lnTo>
                  <a:close/>
                </a:path>
              </a:pathLst>
            </a:custGeom>
            <a:blipFill>
              <a:blip r:embed="rId3">
                <a:alphaModFix amt="0"/>
              </a:blip>
              <a:stretch>
                <a:fillRect l="0" t="-84362" r="0" b="-51894"/>
              </a:stretch>
            </a:blipFill>
          </p:spPr>
        </p:sp>
        <p:sp>
          <p:nvSpPr>
            <p:cNvPr name="TextBox 27" id="27"/>
            <p:cNvSpPr txBox="true"/>
            <p:nvPr/>
          </p:nvSpPr>
          <p:spPr>
            <a:xfrm>
              <a:off x="0" y="0"/>
              <a:ext cx="9631680" cy="1588725"/>
            </a:xfrm>
            <a:prstGeom prst="rect">
              <a:avLst/>
            </a:prstGeom>
          </p:spPr>
          <p:txBody>
            <a:bodyPr anchor="ctr" rtlCol="false" tIns="0" lIns="0" bIns="0" rIns="0"/>
            <a:lstStyle/>
            <a:p>
              <a:pPr algn="l">
                <a:lnSpc>
                  <a:spcPts val="2760"/>
                </a:lnSpc>
              </a:pPr>
              <a:r>
                <a:rPr lang="en-US" sz="2300">
                  <a:solidFill>
                    <a:srgbClr val="1E293B"/>
                  </a:solidFill>
                  <a:latin typeface="Proxima Nova"/>
                  <a:ea typeface="Proxima Nova"/>
                  <a:cs typeface="Proxima Nova"/>
                  <a:sym typeface="Proxima Nova"/>
                </a:rPr>
                <a:t>Significant market recovery observed after corrections</a:t>
              </a:r>
            </a:p>
          </p:txBody>
        </p:sp>
      </p:grpSp>
      <p:grpSp>
        <p:nvGrpSpPr>
          <p:cNvPr name="Group 28" id="28"/>
          <p:cNvGrpSpPr/>
          <p:nvPr/>
        </p:nvGrpSpPr>
        <p:grpSpPr>
          <a:xfrm rot="0">
            <a:off x="627383" y="6458468"/>
            <a:ext cx="7706363" cy="1283322"/>
            <a:chOff x="0" y="0"/>
            <a:chExt cx="10275151" cy="1711095"/>
          </a:xfrm>
        </p:grpSpPr>
        <p:sp>
          <p:nvSpPr>
            <p:cNvPr name="Freeform 29" id="29"/>
            <p:cNvSpPr/>
            <p:nvPr/>
          </p:nvSpPr>
          <p:spPr>
            <a:xfrm flipH="false" flipV="false" rot="0">
              <a:off x="0" y="0"/>
              <a:ext cx="10275062" cy="1710964"/>
            </a:xfrm>
            <a:custGeom>
              <a:avLst/>
              <a:gdLst/>
              <a:ahLst/>
              <a:cxnLst/>
              <a:rect r="r" b="b" t="t" l="l"/>
              <a:pathLst>
                <a:path h="1710964" w="10275062">
                  <a:moveTo>
                    <a:pt x="0" y="297510"/>
                  </a:moveTo>
                  <a:cubicBezTo>
                    <a:pt x="0" y="133146"/>
                    <a:pt x="89916" y="0"/>
                    <a:pt x="200914" y="0"/>
                  </a:cubicBezTo>
                  <a:lnTo>
                    <a:pt x="10074148" y="0"/>
                  </a:lnTo>
                  <a:cubicBezTo>
                    <a:pt x="10185146" y="0"/>
                    <a:pt x="10275062" y="133146"/>
                    <a:pt x="10275062" y="297510"/>
                  </a:cubicBezTo>
                  <a:lnTo>
                    <a:pt x="10275062" y="1413454"/>
                  </a:lnTo>
                  <a:cubicBezTo>
                    <a:pt x="10275062" y="1577818"/>
                    <a:pt x="10185146" y="1710964"/>
                    <a:pt x="10074148" y="1710964"/>
                  </a:cubicBezTo>
                  <a:lnTo>
                    <a:pt x="200914" y="1710964"/>
                  </a:lnTo>
                  <a:cubicBezTo>
                    <a:pt x="89916" y="1711134"/>
                    <a:pt x="0" y="1577818"/>
                    <a:pt x="0" y="1413454"/>
                  </a:cubicBezTo>
                  <a:close/>
                </a:path>
              </a:pathLst>
            </a:custGeom>
            <a:solidFill>
              <a:srgbClr val="FFFFFF"/>
            </a:solidFill>
            <a:ln w="25400" cap="sq">
              <a:solidFill>
                <a:srgbClr val="CBD5E1"/>
              </a:solidFill>
              <a:prstDash val="solid"/>
              <a:miter/>
            </a:ln>
          </p:spPr>
        </p:sp>
      </p:grpSp>
      <p:grpSp>
        <p:nvGrpSpPr>
          <p:cNvPr name="Group 30" id="30"/>
          <p:cNvGrpSpPr/>
          <p:nvPr/>
        </p:nvGrpSpPr>
        <p:grpSpPr>
          <a:xfrm rot="0">
            <a:off x="627383" y="6458468"/>
            <a:ext cx="135131" cy="1283322"/>
            <a:chOff x="0" y="0"/>
            <a:chExt cx="180175" cy="1711095"/>
          </a:xfrm>
        </p:grpSpPr>
        <p:sp>
          <p:nvSpPr>
            <p:cNvPr name="Freeform 31" id="31"/>
            <p:cNvSpPr/>
            <p:nvPr/>
          </p:nvSpPr>
          <p:spPr>
            <a:xfrm flipH="false" flipV="false" rot="0">
              <a:off x="0" y="0"/>
              <a:ext cx="180086" cy="1710964"/>
            </a:xfrm>
            <a:custGeom>
              <a:avLst/>
              <a:gdLst/>
              <a:ahLst/>
              <a:cxnLst/>
              <a:rect r="r" b="b" t="t" l="l"/>
              <a:pathLst>
                <a:path h="1710964" w="180086">
                  <a:moveTo>
                    <a:pt x="0" y="133334"/>
                  </a:moveTo>
                  <a:cubicBezTo>
                    <a:pt x="0" y="59803"/>
                    <a:pt x="40386" y="0"/>
                    <a:pt x="90043" y="0"/>
                  </a:cubicBezTo>
                  <a:cubicBezTo>
                    <a:pt x="139700" y="0"/>
                    <a:pt x="180086" y="59803"/>
                    <a:pt x="180086" y="133334"/>
                  </a:cubicBezTo>
                  <a:lnTo>
                    <a:pt x="180086" y="1577630"/>
                  </a:lnTo>
                  <a:cubicBezTo>
                    <a:pt x="180086" y="1651349"/>
                    <a:pt x="139700" y="1710964"/>
                    <a:pt x="90043" y="1710964"/>
                  </a:cubicBezTo>
                  <a:cubicBezTo>
                    <a:pt x="40386" y="1710964"/>
                    <a:pt x="0" y="1651349"/>
                    <a:pt x="0" y="1577630"/>
                  </a:cubicBezTo>
                  <a:close/>
                </a:path>
              </a:pathLst>
            </a:custGeom>
            <a:solidFill>
              <a:srgbClr val="0891B2"/>
            </a:solidFill>
            <a:ln w="25400" cap="sq">
              <a:solidFill>
                <a:srgbClr val="0891B2"/>
              </a:solidFill>
              <a:prstDash val="solid"/>
              <a:miter/>
            </a:ln>
          </p:spPr>
        </p:sp>
      </p:grpSp>
      <p:grpSp>
        <p:nvGrpSpPr>
          <p:cNvPr name="Group 32" id="32"/>
          <p:cNvGrpSpPr/>
          <p:nvPr/>
        </p:nvGrpSpPr>
        <p:grpSpPr>
          <a:xfrm rot="0">
            <a:off x="914400" y="6504350"/>
            <a:ext cx="7223760" cy="1191544"/>
            <a:chOff x="0" y="0"/>
            <a:chExt cx="9631680" cy="1588725"/>
          </a:xfrm>
        </p:grpSpPr>
        <p:sp>
          <p:nvSpPr>
            <p:cNvPr name="Freeform 33" id="33"/>
            <p:cNvSpPr/>
            <p:nvPr/>
          </p:nvSpPr>
          <p:spPr>
            <a:xfrm flipH="false" flipV="false" rot="0">
              <a:off x="0" y="0"/>
              <a:ext cx="9631680" cy="1588725"/>
            </a:xfrm>
            <a:custGeom>
              <a:avLst/>
              <a:gdLst/>
              <a:ahLst/>
              <a:cxnLst/>
              <a:rect r="r" b="b" t="t" l="l"/>
              <a:pathLst>
                <a:path h="1588725" w="9631680">
                  <a:moveTo>
                    <a:pt x="0" y="0"/>
                  </a:moveTo>
                  <a:lnTo>
                    <a:pt x="9631680" y="0"/>
                  </a:lnTo>
                  <a:lnTo>
                    <a:pt x="9631680" y="1588725"/>
                  </a:lnTo>
                  <a:lnTo>
                    <a:pt x="0" y="1588725"/>
                  </a:lnTo>
                  <a:close/>
                </a:path>
              </a:pathLst>
            </a:custGeom>
            <a:blipFill>
              <a:blip r:embed="rId3">
                <a:alphaModFix amt="0"/>
              </a:blip>
              <a:stretch>
                <a:fillRect l="0" t="-84362" r="0" b="-51894"/>
              </a:stretch>
            </a:blipFill>
          </p:spPr>
        </p:sp>
        <p:sp>
          <p:nvSpPr>
            <p:cNvPr name="TextBox 34" id="34"/>
            <p:cNvSpPr txBox="true"/>
            <p:nvPr/>
          </p:nvSpPr>
          <p:spPr>
            <a:xfrm>
              <a:off x="0" y="0"/>
              <a:ext cx="9631680" cy="1588725"/>
            </a:xfrm>
            <a:prstGeom prst="rect">
              <a:avLst/>
            </a:prstGeom>
          </p:spPr>
          <p:txBody>
            <a:bodyPr anchor="ctr" rtlCol="false" tIns="0" lIns="0" bIns="0" rIns="0"/>
            <a:lstStyle/>
            <a:p>
              <a:pPr algn="l">
                <a:lnSpc>
                  <a:spcPts val="2760"/>
                </a:lnSpc>
              </a:pPr>
              <a:r>
                <a:rPr lang="en-US" sz="2300">
                  <a:solidFill>
                    <a:srgbClr val="1E293B"/>
                  </a:solidFill>
                  <a:latin typeface="Proxima Nova"/>
                  <a:ea typeface="Proxima Nova"/>
                  <a:cs typeface="Proxima Nova"/>
                  <a:sym typeface="Proxima Nova"/>
                </a:rPr>
                <a:t>Large-cap funds exhibited relatively stable NAV trends</a:t>
              </a:r>
            </a:p>
          </p:txBody>
        </p:sp>
      </p:grpSp>
      <p:grpSp>
        <p:nvGrpSpPr>
          <p:cNvPr name="Group 35" id="35"/>
          <p:cNvGrpSpPr/>
          <p:nvPr/>
        </p:nvGrpSpPr>
        <p:grpSpPr>
          <a:xfrm rot="0">
            <a:off x="627383" y="7974978"/>
            <a:ext cx="7706363" cy="1283322"/>
            <a:chOff x="0" y="0"/>
            <a:chExt cx="10275151" cy="1711095"/>
          </a:xfrm>
        </p:grpSpPr>
        <p:sp>
          <p:nvSpPr>
            <p:cNvPr name="Freeform 36" id="36"/>
            <p:cNvSpPr/>
            <p:nvPr/>
          </p:nvSpPr>
          <p:spPr>
            <a:xfrm flipH="false" flipV="false" rot="0">
              <a:off x="0" y="0"/>
              <a:ext cx="10275062" cy="1710964"/>
            </a:xfrm>
            <a:custGeom>
              <a:avLst/>
              <a:gdLst/>
              <a:ahLst/>
              <a:cxnLst/>
              <a:rect r="r" b="b" t="t" l="l"/>
              <a:pathLst>
                <a:path h="1710964" w="10275062">
                  <a:moveTo>
                    <a:pt x="0" y="297510"/>
                  </a:moveTo>
                  <a:cubicBezTo>
                    <a:pt x="0" y="133146"/>
                    <a:pt x="89916" y="0"/>
                    <a:pt x="200914" y="0"/>
                  </a:cubicBezTo>
                  <a:lnTo>
                    <a:pt x="10074148" y="0"/>
                  </a:lnTo>
                  <a:cubicBezTo>
                    <a:pt x="10185146" y="0"/>
                    <a:pt x="10275062" y="133146"/>
                    <a:pt x="10275062" y="297510"/>
                  </a:cubicBezTo>
                  <a:lnTo>
                    <a:pt x="10275062" y="1413454"/>
                  </a:lnTo>
                  <a:cubicBezTo>
                    <a:pt x="10275062" y="1577818"/>
                    <a:pt x="10185146" y="1710964"/>
                    <a:pt x="10074148" y="1710964"/>
                  </a:cubicBezTo>
                  <a:lnTo>
                    <a:pt x="200914" y="1710964"/>
                  </a:lnTo>
                  <a:cubicBezTo>
                    <a:pt x="89916" y="1711134"/>
                    <a:pt x="0" y="1577818"/>
                    <a:pt x="0" y="1413454"/>
                  </a:cubicBezTo>
                  <a:close/>
                </a:path>
              </a:pathLst>
            </a:custGeom>
            <a:solidFill>
              <a:srgbClr val="FFFFFF"/>
            </a:solidFill>
            <a:ln w="25400" cap="sq">
              <a:solidFill>
                <a:srgbClr val="CBD5E1"/>
              </a:solidFill>
              <a:prstDash val="solid"/>
              <a:miter/>
            </a:ln>
          </p:spPr>
        </p:sp>
      </p:grpSp>
      <p:grpSp>
        <p:nvGrpSpPr>
          <p:cNvPr name="Group 37" id="37"/>
          <p:cNvGrpSpPr/>
          <p:nvPr/>
        </p:nvGrpSpPr>
        <p:grpSpPr>
          <a:xfrm rot="0">
            <a:off x="627383" y="7974978"/>
            <a:ext cx="135131" cy="1283322"/>
            <a:chOff x="0" y="0"/>
            <a:chExt cx="180175" cy="1711095"/>
          </a:xfrm>
        </p:grpSpPr>
        <p:sp>
          <p:nvSpPr>
            <p:cNvPr name="Freeform 38" id="38"/>
            <p:cNvSpPr/>
            <p:nvPr/>
          </p:nvSpPr>
          <p:spPr>
            <a:xfrm flipH="false" flipV="false" rot="0">
              <a:off x="0" y="0"/>
              <a:ext cx="180086" cy="1710964"/>
            </a:xfrm>
            <a:custGeom>
              <a:avLst/>
              <a:gdLst/>
              <a:ahLst/>
              <a:cxnLst/>
              <a:rect r="r" b="b" t="t" l="l"/>
              <a:pathLst>
                <a:path h="1710964" w="180086">
                  <a:moveTo>
                    <a:pt x="0" y="133334"/>
                  </a:moveTo>
                  <a:cubicBezTo>
                    <a:pt x="0" y="59803"/>
                    <a:pt x="40386" y="0"/>
                    <a:pt x="90043" y="0"/>
                  </a:cubicBezTo>
                  <a:cubicBezTo>
                    <a:pt x="139700" y="0"/>
                    <a:pt x="180086" y="59803"/>
                    <a:pt x="180086" y="133334"/>
                  </a:cubicBezTo>
                  <a:lnTo>
                    <a:pt x="180086" y="1577630"/>
                  </a:lnTo>
                  <a:cubicBezTo>
                    <a:pt x="180086" y="1651349"/>
                    <a:pt x="139700" y="1710964"/>
                    <a:pt x="90043" y="1710964"/>
                  </a:cubicBezTo>
                  <a:cubicBezTo>
                    <a:pt x="40386" y="1710964"/>
                    <a:pt x="0" y="1651349"/>
                    <a:pt x="0" y="1577630"/>
                  </a:cubicBezTo>
                  <a:close/>
                </a:path>
              </a:pathLst>
            </a:custGeom>
            <a:solidFill>
              <a:srgbClr val="0D1B2A"/>
            </a:solidFill>
            <a:ln w="25400" cap="sq">
              <a:solidFill>
                <a:srgbClr val="0D1B2A"/>
              </a:solidFill>
              <a:prstDash val="solid"/>
              <a:miter/>
            </a:ln>
          </p:spPr>
        </p:sp>
      </p:grpSp>
      <p:grpSp>
        <p:nvGrpSpPr>
          <p:cNvPr name="Group 39" id="39"/>
          <p:cNvGrpSpPr/>
          <p:nvPr/>
        </p:nvGrpSpPr>
        <p:grpSpPr>
          <a:xfrm rot="0">
            <a:off x="914400" y="8020860"/>
            <a:ext cx="7223760" cy="1221840"/>
            <a:chOff x="0" y="0"/>
            <a:chExt cx="9631680" cy="1629120"/>
          </a:xfrm>
        </p:grpSpPr>
        <p:sp>
          <p:nvSpPr>
            <p:cNvPr name="Freeform 40" id="40"/>
            <p:cNvSpPr/>
            <p:nvPr/>
          </p:nvSpPr>
          <p:spPr>
            <a:xfrm flipH="false" flipV="false" rot="0">
              <a:off x="0" y="0"/>
              <a:ext cx="9631680" cy="1629120"/>
            </a:xfrm>
            <a:custGeom>
              <a:avLst/>
              <a:gdLst/>
              <a:ahLst/>
              <a:cxnLst/>
              <a:rect r="r" b="b" t="t" l="l"/>
              <a:pathLst>
                <a:path h="1629120" w="9631680">
                  <a:moveTo>
                    <a:pt x="0" y="0"/>
                  </a:moveTo>
                  <a:lnTo>
                    <a:pt x="9631680" y="0"/>
                  </a:lnTo>
                  <a:lnTo>
                    <a:pt x="9631680" y="1629120"/>
                  </a:lnTo>
                  <a:lnTo>
                    <a:pt x="0" y="1629120"/>
                  </a:lnTo>
                  <a:close/>
                </a:path>
              </a:pathLst>
            </a:custGeom>
            <a:blipFill>
              <a:blip r:embed="rId3">
                <a:alphaModFix amt="0"/>
              </a:blip>
              <a:stretch>
                <a:fillRect l="0" t="-82270" r="0" b="-48128"/>
              </a:stretch>
            </a:blipFill>
          </p:spPr>
        </p:sp>
        <p:sp>
          <p:nvSpPr>
            <p:cNvPr name="TextBox 41" id="41"/>
            <p:cNvSpPr txBox="true"/>
            <p:nvPr/>
          </p:nvSpPr>
          <p:spPr>
            <a:xfrm>
              <a:off x="0" y="0"/>
              <a:ext cx="9631680" cy="1629120"/>
            </a:xfrm>
            <a:prstGeom prst="rect">
              <a:avLst/>
            </a:prstGeom>
          </p:spPr>
          <p:txBody>
            <a:bodyPr anchor="ctr" rtlCol="false" tIns="0" lIns="0" bIns="0" rIns="0"/>
            <a:lstStyle/>
            <a:p>
              <a:pPr algn="l">
                <a:lnSpc>
                  <a:spcPts val="2760"/>
                </a:lnSpc>
              </a:pPr>
              <a:r>
                <a:rPr lang="en-US" sz="2300">
                  <a:solidFill>
                    <a:srgbClr val="1E293B"/>
                  </a:solidFill>
                  <a:latin typeface="Proxima Nova"/>
                  <a:ea typeface="Proxima Nova"/>
                  <a:cs typeface="Proxima Nova"/>
                  <a:sym typeface="Proxima Nova"/>
                </a:rPr>
                <a:t>Small-cap funds showed higher volatility compared to large-cap peers</a:t>
              </a:r>
            </a:p>
          </p:txBody>
        </p:sp>
      </p:grpSp>
      <p:grpSp>
        <p:nvGrpSpPr>
          <p:cNvPr name="Group 42" id="42"/>
          <p:cNvGrpSpPr/>
          <p:nvPr/>
        </p:nvGrpSpPr>
        <p:grpSpPr>
          <a:xfrm rot="0">
            <a:off x="8790946" y="9549228"/>
            <a:ext cx="8869680" cy="731520"/>
            <a:chOff x="0" y="0"/>
            <a:chExt cx="11826240" cy="975360"/>
          </a:xfrm>
        </p:grpSpPr>
        <p:sp>
          <p:nvSpPr>
            <p:cNvPr name="Freeform 43" id="43"/>
            <p:cNvSpPr/>
            <p:nvPr/>
          </p:nvSpPr>
          <p:spPr>
            <a:xfrm flipH="false" flipV="false" rot="0">
              <a:off x="0" y="0"/>
              <a:ext cx="11826240" cy="975360"/>
            </a:xfrm>
            <a:custGeom>
              <a:avLst/>
              <a:gdLst/>
              <a:ahLst/>
              <a:cxnLst/>
              <a:rect r="r" b="b" t="t" l="l"/>
              <a:pathLst>
                <a:path h="975360" w="11826240">
                  <a:moveTo>
                    <a:pt x="0" y="0"/>
                  </a:moveTo>
                  <a:lnTo>
                    <a:pt x="11826240" y="0"/>
                  </a:lnTo>
                  <a:lnTo>
                    <a:pt x="11826240" y="975360"/>
                  </a:lnTo>
                  <a:lnTo>
                    <a:pt x="0" y="975360"/>
                  </a:lnTo>
                  <a:close/>
                </a:path>
              </a:pathLst>
            </a:custGeom>
            <a:blipFill>
              <a:blip r:embed="rId3">
                <a:alphaModFix amt="0"/>
              </a:blip>
              <a:stretch>
                <a:fillRect l="0" t="-186256" r="0" b="-186256"/>
              </a:stretch>
            </a:blipFill>
          </p:spPr>
        </p:sp>
        <p:sp>
          <p:nvSpPr>
            <p:cNvPr name="TextBox 44" id="44"/>
            <p:cNvSpPr txBox="true"/>
            <p:nvPr/>
          </p:nvSpPr>
          <p:spPr>
            <a:xfrm>
              <a:off x="0" y="-9525"/>
              <a:ext cx="11826240" cy="984885"/>
            </a:xfrm>
            <a:prstGeom prst="rect">
              <a:avLst/>
            </a:prstGeom>
          </p:spPr>
          <p:txBody>
            <a:bodyPr anchor="ctr" rtlCol="false" tIns="0" lIns="0" bIns="0" rIns="0"/>
            <a:lstStyle/>
            <a:p>
              <a:pPr algn="ctr">
                <a:lnSpc>
                  <a:spcPts val="3120"/>
                </a:lnSpc>
              </a:pPr>
              <a:r>
                <a:rPr lang="en-US" sz="2600" b="true">
                  <a:solidFill>
                    <a:srgbClr val="64748B"/>
                  </a:solidFill>
                  <a:latin typeface="Proxima Nova Bold"/>
                  <a:ea typeface="Proxima Nova Bold"/>
                  <a:cs typeface="Proxima Nova Bold"/>
                  <a:sym typeface="Proxima Nova Bold"/>
                </a:rPr>
                <a:t>NAV Trend Chart</a:t>
              </a:r>
            </a:p>
          </p:txBody>
        </p:sp>
      </p:grpSp>
      <p:sp>
        <p:nvSpPr>
          <p:cNvPr name="Freeform 45" id="45"/>
          <p:cNvSpPr/>
          <p:nvPr/>
        </p:nvSpPr>
        <p:spPr>
          <a:xfrm flipH="false" flipV="false" rot="0">
            <a:off x="8789942" y="3569341"/>
            <a:ext cx="9235496" cy="5979887"/>
          </a:xfrm>
          <a:custGeom>
            <a:avLst/>
            <a:gdLst/>
            <a:ahLst/>
            <a:cxnLst/>
            <a:rect r="r" b="b" t="t" l="l"/>
            <a:pathLst>
              <a:path h="5979887" w="9235496">
                <a:moveTo>
                  <a:pt x="0" y="0"/>
                </a:moveTo>
                <a:lnTo>
                  <a:pt x="9235496" y="0"/>
                </a:lnTo>
                <a:lnTo>
                  <a:pt x="9235496" y="5979887"/>
                </a:lnTo>
                <a:lnTo>
                  <a:pt x="0" y="5979887"/>
                </a:lnTo>
                <a:lnTo>
                  <a:pt x="0" y="0"/>
                </a:lnTo>
                <a:close/>
              </a:path>
            </a:pathLst>
          </a:custGeom>
          <a:blipFill>
            <a:blip r:embed="rId4"/>
            <a:stretch>
              <a:fillRect l="0" t="-3765" r="0" b="-6551"/>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945643"/>
            <a:chOff x="0" y="0"/>
            <a:chExt cx="24417871" cy="2594191"/>
          </a:xfrm>
        </p:grpSpPr>
        <p:sp>
          <p:nvSpPr>
            <p:cNvPr name="Freeform 3" id="3"/>
            <p:cNvSpPr/>
            <p:nvPr/>
          </p:nvSpPr>
          <p:spPr>
            <a:xfrm flipH="false" flipV="false" rot="0">
              <a:off x="0" y="0"/>
              <a:ext cx="24417910" cy="2594229"/>
            </a:xfrm>
            <a:custGeom>
              <a:avLst/>
              <a:gdLst/>
              <a:ahLst/>
              <a:cxnLst/>
              <a:rect r="r" b="b" t="t" l="l"/>
              <a:pathLst>
                <a:path h="2594229" w="24417910">
                  <a:moveTo>
                    <a:pt x="0" y="0"/>
                  </a:moveTo>
                  <a:lnTo>
                    <a:pt x="24417910" y="0"/>
                  </a:lnTo>
                  <a:lnTo>
                    <a:pt x="24417910" y="2594229"/>
                  </a:lnTo>
                  <a:lnTo>
                    <a:pt x="0" y="2594229"/>
                  </a:lnTo>
                  <a:close/>
                </a:path>
              </a:pathLst>
            </a:custGeom>
            <a:solidFill>
              <a:srgbClr val="0D1B2A"/>
            </a:solidFill>
            <a:ln w="25400" cap="sq">
              <a:solidFill>
                <a:srgbClr val="0D1B2A"/>
              </a:solidFill>
              <a:prstDash val="solid"/>
              <a:miter/>
            </a:ln>
          </p:spPr>
        </p:sp>
      </p:grpSp>
      <p:grpSp>
        <p:nvGrpSpPr>
          <p:cNvPr name="Group 4" id="4"/>
          <p:cNvGrpSpPr/>
          <p:nvPr/>
        </p:nvGrpSpPr>
        <p:grpSpPr>
          <a:xfrm rot="0">
            <a:off x="-12697" y="1907543"/>
            <a:ext cx="18313403" cy="153419"/>
            <a:chOff x="0" y="0"/>
            <a:chExt cx="24417871" cy="204559"/>
          </a:xfrm>
        </p:grpSpPr>
        <p:sp>
          <p:nvSpPr>
            <p:cNvPr name="Freeform 5" id="5"/>
            <p:cNvSpPr/>
            <p:nvPr/>
          </p:nvSpPr>
          <p:spPr>
            <a:xfrm flipH="false" flipV="false" rot="0">
              <a:off x="0" y="0"/>
              <a:ext cx="24417910" cy="204597"/>
            </a:xfrm>
            <a:custGeom>
              <a:avLst/>
              <a:gdLst/>
              <a:ahLst/>
              <a:cxnLst/>
              <a:rect r="r" b="b" t="t" l="l"/>
              <a:pathLst>
                <a:path h="204597" w="24417910">
                  <a:moveTo>
                    <a:pt x="0" y="0"/>
                  </a:moveTo>
                  <a:lnTo>
                    <a:pt x="24417910" y="0"/>
                  </a:lnTo>
                  <a:lnTo>
                    <a:pt x="24417910" y="204597"/>
                  </a:lnTo>
                  <a:lnTo>
                    <a:pt x="0" y="204597"/>
                  </a:lnTo>
                  <a:close/>
                </a:path>
              </a:pathLst>
            </a:custGeom>
            <a:solidFill>
              <a:srgbClr val="0D9488"/>
            </a:solidFill>
            <a:ln w="25400" cap="sq">
              <a:solidFill>
                <a:srgbClr val="0D9488"/>
              </a:solidFill>
              <a:prstDash val="solid"/>
              <a:miter/>
            </a:ln>
          </p:spPr>
        </p:sp>
      </p:grpSp>
      <p:grpSp>
        <p:nvGrpSpPr>
          <p:cNvPr name="Group 6" id="6"/>
          <p:cNvGrpSpPr/>
          <p:nvPr/>
        </p:nvGrpSpPr>
        <p:grpSpPr>
          <a:xfrm rot="0">
            <a:off x="822960" y="402336"/>
            <a:ext cx="16642080" cy="1097280"/>
            <a:chOff x="0" y="0"/>
            <a:chExt cx="22189440" cy="1463040"/>
          </a:xfrm>
        </p:grpSpPr>
        <p:sp>
          <p:nvSpPr>
            <p:cNvPr name="Freeform 7" id="7"/>
            <p:cNvSpPr/>
            <p:nvPr/>
          </p:nvSpPr>
          <p:spPr>
            <a:xfrm flipH="false" flipV="false" rot="0">
              <a:off x="0" y="0"/>
              <a:ext cx="22189439" cy="1463040"/>
            </a:xfrm>
            <a:custGeom>
              <a:avLst/>
              <a:gdLst/>
              <a:ahLst/>
              <a:cxnLst/>
              <a:rect r="r" b="b" t="t" l="l"/>
              <a:pathLst>
                <a:path h="1463040" w="22189439">
                  <a:moveTo>
                    <a:pt x="0" y="0"/>
                  </a:moveTo>
                  <a:lnTo>
                    <a:pt x="22189439" y="0"/>
                  </a:lnTo>
                  <a:lnTo>
                    <a:pt x="22189439" y="1463040"/>
                  </a:lnTo>
                  <a:lnTo>
                    <a:pt x="0" y="1463040"/>
                  </a:lnTo>
                  <a:close/>
                </a:path>
              </a:pathLst>
            </a:custGeom>
            <a:blipFill>
              <a:blip r:embed="rId3">
                <a:alphaModFix amt="0"/>
              </a:blip>
              <a:stretch>
                <a:fillRect l="0" t="-245523" r="0" b="-245523"/>
              </a:stretch>
            </a:blipFill>
          </p:spPr>
        </p:sp>
        <p:sp>
          <p:nvSpPr>
            <p:cNvPr name="TextBox 8" id="8"/>
            <p:cNvSpPr txBox="true"/>
            <p:nvPr/>
          </p:nvSpPr>
          <p:spPr>
            <a:xfrm>
              <a:off x="0" y="9525"/>
              <a:ext cx="22189440" cy="1453515"/>
            </a:xfrm>
            <a:prstGeom prst="rect">
              <a:avLst/>
            </a:prstGeom>
          </p:spPr>
          <p:txBody>
            <a:bodyPr anchor="ctr" rtlCol="false" tIns="0" lIns="0" bIns="0" rIns="0"/>
            <a:lstStyle/>
            <a:p>
              <a:pPr algn="l">
                <a:lnSpc>
                  <a:spcPts val="6240"/>
                </a:lnSpc>
              </a:pPr>
              <a:r>
                <a:rPr lang="en-US" sz="5200" b="true">
                  <a:solidFill>
                    <a:srgbClr val="FFFFFF"/>
                  </a:solidFill>
                  <a:latin typeface="Montserrat Bold"/>
                  <a:ea typeface="Montserrat Bold"/>
                  <a:cs typeface="Montserrat Bold"/>
                  <a:sym typeface="Montserrat Bold"/>
                </a:rPr>
                <a:t>EDA Highlights – SIP &amp; Industry Growth</a:t>
              </a:r>
            </a:p>
          </p:txBody>
        </p:sp>
      </p:grpSp>
      <p:grpSp>
        <p:nvGrpSpPr>
          <p:cNvPr name="Group 9" id="9"/>
          <p:cNvGrpSpPr/>
          <p:nvPr/>
        </p:nvGrpSpPr>
        <p:grpSpPr>
          <a:xfrm rot="0">
            <a:off x="627383" y="2328167"/>
            <a:ext cx="17033243" cy="793499"/>
            <a:chOff x="0" y="0"/>
            <a:chExt cx="22710991" cy="1057999"/>
          </a:xfrm>
        </p:grpSpPr>
        <p:sp>
          <p:nvSpPr>
            <p:cNvPr name="Freeform 10" id="10"/>
            <p:cNvSpPr/>
            <p:nvPr/>
          </p:nvSpPr>
          <p:spPr>
            <a:xfrm flipH="false" flipV="false" rot="0">
              <a:off x="0" y="0"/>
              <a:ext cx="22711029" cy="1058037"/>
            </a:xfrm>
            <a:custGeom>
              <a:avLst/>
              <a:gdLst/>
              <a:ahLst/>
              <a:cxnLst/>
              <a:rect r="r" b="b" t="t" l="l"/>
              <a:pathLst>
                <a:path h="1058037" w="22711029">
                  <a:moveTo>
                    <a:pt x="0" y="201549"/>
                  </a:moveTo>
                  <a:cubicBezTo>
                    <a:pt x="0" y="90170"/>
                    <a:pt x="90170" y="0"/>
                    <a:pt x="201549" y="0"/>
                  </a:cubicBezTo>
                  <a:lnTo>
                    <a:pt x="22509480" y="0"/>
                  </a:lnTo>
                  <a:cubicBezTo>
                    <a:pt x="22620732" y="0"/>
                    <a:pt x="22711029" y="90170"/>
                    <a:pt x="22711029" y="201549"/>
                  </a:cubicBezTo>
                  <a:lnTo>
                    <a:pt x="22711029" y="856488"/>
                  </a:lnTo>
                  <a:cubicBezTo>
                    <a:pt x="22711029" y="967740"/>
                    <a:pt x="22620860" y="1058037"/>
                    <a:pt x="22509480" y="1058037"/>
                  </a:cubicBezTo>
                  <a:lnTo>
                    <a:pt x="201549" y="1058037"/>
                  </a:lnTo>
                  <a:cubicBezTo>
                    <a:pt x="90170" y="1058037"/>
                    <a:pt x="0" y="967740"/>
                    <a:pt x="0" y="856488"/>
                  </a:cubicBezTo>
                  <a:close/>
                </a:path>
              </a:pathLst>
            </a:custGeom>
            <a:solidFill>
              <a:srgbClr val="CCFBF1"/>
            </a:solidFill>
            <a:ln w="25400" cap="sq">
              <a:solidFill>
                <a:srgbClr val="0D9488"/>
              </a:solidFill>
              <a:prstDash val="solid"/>
              <a:miter/>
            </a:ln>
          </p:spPr>
        </p:sp>
      </p:grpSp>
      <p:grpSp>
        <p:nvGrpSpPr>
          <p:cNvPr name="Group 11" id="11"/>
          <p:cNvGrpSpPr/>
          <p:nvPr/>
        </p:nvGrpSpPr>
        <p:grpSpPr>
          <a:xfrm rot="0">
            <a:off x="914400" y="2377440"/>
            <a:ext cx="16459200" cy="694944"/>
            <a:chOff x="0" y="0"/>
            <a:chExt cx="21945600" cy="926592"/>
          </a:xfrm>
        </p:grpSpPr>
        <p:sp>
          <p:nvSpPr>
            <p:cNvPr name="Freeform 12" id="12"/>
            <p:cNvSpPr/>
            <p:nvPr/>
          </p:nvSpPr>
          <p:spPr>
            <a:xfrm flipH="false" flipV="false" rot="0">
              <a:off x="0" y="0"/>
              <a:ext cx="21945600" cy="926592"/>
            </a:xfrm>
            <a:custGeom>
              <a:avLst/>
              <a:gdLst/>
              <a:ahLst/>
              <a:cxnLst/>
              <a:rect r="r" b="b" t="t" l="l"/>
              <a:pathLst>
                <a:path h="926592" w="21945600">
                  <a:moveTo>
                    <a:pt x="0" y="0"/>
                  </a:moveTo>
                  <a:lnTo>
                    <a:pt x="21945600" y="0"/>
                  </a:lnTo>
                  <a:lnTo>
                    <a:pt x="21945600" y="926592"/>
                  </a:lnTo>
                  <a:lnTo>
                    <a:pt x="0" y="926592"/>
                  </a:lnTo>
                  <a:close/>
                </a:path>
              </a:pathLst>
            </a:custGeom>
            <a:blipFill>
              <a:blip r:embed="rId3">
                <a:alphaModFix amt="0"/>
              </a:blip>
              <a:stretch>
                <a:fillRect l="0" t="-411487" r="0" b="-411487"/>
              </a:stretch>
            </a:blipFill>
          </p:spPr>
        </p:sp>
        <p:sp>
          <p:nvSpPr>
            <p:cNvPr name="TextBox 13" id="13"/>
            <p:cNvSpPr txBox="true"/>
            <p:nvPr/>
          </p:nvSpPr>
          <p:spPr>
            <a:xfrm>
              <a:off x="0" y="0"/>
              <a:ext cx="21945600" cy="926592"/>
            </a:xfrm>
            <a:prstGeom prst="rect">
              <a:avLst/>
            </a:prstGeom>
          </p:spPr>
          <p:txBody>
            <a:bodyPr anchor="ctr" rtlCol="false" tIns="0" lIns="0" bIns="0" rIns="0"/>
            <a:lstStyle/>
            <a:p>
              <a:pPr algn="l">
                <a:lnSpc>
                  <a:spcPts val="2760"/>
                </a:lnSpc>
              </a:pPr>
              <a:r>
                <a:rPr lang="en-US" sz="2300" i="true">
                  <a:solidFill>
                    <a:srgbClr val="0F766E"/>
                  </a:solidFill>
                  <a:latin typeface="Proxima Nova Italics"/>
                  <a:ea typeface="Proxima Nova Italics"/>
                  <a:cs typeface="Proxima Nova Italics"/>
                  <a:sym typeface="Proxima Nova Italics"/>
                </a:rPr>
                <a:t>Objective:  Study investor participation and SIP growth trends from 2022 to 2026.</a:t>
              </a:r>
            </a:p>
          </p:txBody>
        </p:sp>
      </p:grpSp>
      <p:grpSp>
        <p:nvGrpSpPr>
          <p:cNvPr name="Group 14" id="14"/>
          <p:cNvGrpSpPr/>
          <p:nvPr/>
        </p:nvGrpSpPr>
        <p:grpSpPr>
          <a:xfrm rot="0">
            <a:off x="627383" y="3425447"/>
            <a:ext cx="7980683" cy="720347"/>
            <a:chOff x="0" y="0"/>
            <a:chExt cx="10640911" cy="960463"/>
          </a:xfrm>
        </p:grpSpPr>
        <p:sp>
          <p:nvSpPr>
            <p:cNvPr name="Freeform 15" id="15"/>
            <p:cNvSpPr/>
            <p:nvPr/>
          </p:nvSpPr>
          <p:spPr>
            <a:xfrm flipH="false" flipV="false" rot="0">
              <a:off x="0" y="0"/>
              <a:ext cx="10640949" cy="960501"/>
            </a:xfrm>
            <a:custGeom>
              <a:avLst/>
              <a:gdLst/>
              <a:ahLst/>
              <a:cxnLst/>
              <a:rect r="r" b="b" t="t" l="l"/>
              <a:pathLst>
                <a:path h="960501" w="10640949">
                  <a:moveTo>
                    <a:pt x="0" y="202184"/>
                  </a:moveTo>
                  <a:cubicBezTo>
                    <a:pt x="0" y="90551"/>
                    <a:pt x="90551" y="0"/>
                    <a:pt x="202184" y="0"/>
                  </a:cubicBezTo>
                  <a:lnTo>
                    <a:pt x="10438765" y="0"/>
                  </a:lnTo>
                  <a:cubicBezTo>
                    <a:pt x="10550398" y="0"/>
                    <a:pt x="10640949" y="90551"/>
                    <a:pt x="10640949" y="202184"/>
                  </a:cubicBezTo>
                  <a:lnTo>
                    <a:pt x="10640949" y="758317"/>
                  </a:lnTo>
                  <a:cubicBezTo>
                    <a:pt x="10640949" y="869950"/>
                    <a:pt x="10550398" y="960501"/>
                    <a:pt x="10438765" y="960501"/>
                  </a:cubicBezTo>
                  <a:lnTo>
                    <a:pt x="202184" y="960501"/>
                  </a:lnTo>
                  <a:cubicBezTo>
                    <a:pt x="90551" y="960501"/>
                    <a:pt x="0" y="869950"/>
                    <a:pt x="0" y="758317"/>
                  </a:cubicBezTo>
                  <a:close/>
                </a:path>
              </a:pathLst>
            </a:custGeom>
            <a:solidFill>
              <a:srgbClr val="FFFFFF"/>
            </a:solidFill>
            <a:ln w="25400" cap="sq">
              <a:solidFill>
                <a:srgbClr val="CBD5E1"/>
              </a:solidFill>
              <a:prstDash val="solid"/>
              <a:miter/>
            </a:ln>
          </p:spPr>
        </p:sp>
      </p:grpSp>
      <p:grpSp>
        <p:nvGrpSpPr>
          <p:cNvPr name="Group 16" id="16"/>
          <p:cNvGrpSpPr/>
          <p:nvPr/>
        </p:nvGrpSpPr>
        <p:grpSpPr>
          <a:xfrm rot="0">
            <a:off x="768096" y="3438144"/>
            <a:ext cx="548640" cy="694944"/>
            <a:chOff x="0" y="0"/>
            <a:chExt cx="731520" cy="926592"/>
          </a:xfrm>
        </p:grpSpPr>
        <p:sp>
          <p:nvSpPr>
            <p:cNvPr name="Freeform 17" id="17"/>
            <p:cNvSpPr/>
            <p:nvPr/>
          </p:nvSpPr>
          <p:spPr>
            <a:xfrm flipH="false" flipV="false" rot="0">
              <a:off x="0" y="0"/>
              <a:ext cx="731520" cy="926592"/>
            </a:xfrm>
            <a:custGeom>
              <a:avLst/>
              <a:gdLst/>
              <a:ahLst/>
              <a:cxnLst/>
              <a:rect r="r" b="b" t="t" l="l"/>
              <a:pathLst>
                <a:path h="926592" w="731520">
                  <a:moveTo>
                    <a:pt x="0" y="0"/>
                  </a:moveTo>
                  <a:lnTo>
                    <a:pt x="731520" y="0"/>
                  </a:lnTo>
                  <a:lnTo>
                    <a:pt x="731520" y="926592"/>
                  </a:lnTo>
                  <a:lnTo>
                    <a:pt x="0" y="926592"/>
                  </a:lnTo>
                  <a:close/>
                </a:path>
              </a:pathLst>
            </a:custGeom>
            <a:blipFill>
              <a:blip r:embed="rId3">
                <a:alphaModFix amt="0"/>
              </a:blip>
              <a:stretch>
                <a:fillRect l="-112517" t="0" r="-112517" b="0"/>
              </a:stretch>
            </a:blipFill>
          </p:spPr>
        </p:sp>
        <p:sp>
          <p:nvSpPr>
            <p:cNvPr name="TextBox 18" id="18"/>
            <p:cNvSpPr txBox="true"/>
            <p:nvPr/>
          </p:nvSpPr>
          <p:spPr>
            <a:xfrm>
              <a:off x="0" y="-9525"/>
              <a:ext cx="731520" cy="936117"/>
            </a:xfrm>
            <a:prstGeom prst="rect">
              <a:avLst/>
            </a:prstGeom>
          </p:spPr>
          <p:txBody>
            <a:bodyPr anchor="ctr" rtlCol="false" tIns="0" lIns="0" bIns="0" rIns="0"/>
            <a:lstStyle/>
            <a:p>
              <a:pPr algn="l">
                <a:lnSpc>
                  <a:spcPts val="2400"/>
                </a:lnSpc>
              </a:pPr>
              <a:r>
                <a:rPr lang="en-US" sz="2000">
                  <a:solidFill>
                    <a:srgbClr val="0D9488"/>
                  </a:solidFill>
                  <a:latin typeface="Proxima Nova"/>
                  <a:ea typeface="Proxima Nova"/>
                  <a:cs typeface="Proxima Nova"/>
                  <a:sym typeface="Proxima Nova"/>
                </a:rPr>
                <a:t>✦</a:t>
              </a:r>
            </a:p>
          </p:txBody>
        </p:sp>
      </p:grpSp>
      <p:grpSp>
        <p:nvGrpSpPr>
          <p:cNvPr name="Group 19" id="19"/>
          <p:cNvGrpSpPr/>
          <p:nvPr/>
        </p:nvGrpSpPr>
        <p:grpSpPr>
          <a:xfrm rot="0">
            <a:off x="1316736" y="3438144"/>
            <a:ext cx="7040880" cy="694944"/>
            <a:chOff x="0" y="0"/>
            <a:chExt cx="9387840" cy="926592"/>
          </a:xfrm>
        </p:grpSpPr>
        <p:sp>
          <p:nvSpPr>
            <p:cNvPr name="Freeform 20" id="20"/>
            <p:cNvSpPr/>
            <p:nvPr/>
          </p:nvSpPr>
          <p:spPr>
            <a:xfrm flipH="false" flipV="false" rot="0">
              <a:off x="0" y="0"/>
              <a:ext cx="9387840" cy="926592"/>
            </a:xfrm>
            <a:custGeom>
              <a:avLst/>
              <a:gdLst/>
              <a:ahLst/>
              <a:cxnLst/>
              <a:rect r="r" b="b" t="t" l="l"/>
              <a:pathLst>
                <a:path h="926592" w="9387840">
                  <a:moveTo>
                    <a:pt x="0" y="0"/>
                  </a:moveTo>
                  <a:lnTo>
                    <a:pt x="9387840" y="0"/>
                  </a:lnTo>
                  <a:lnTo>
                    <a:pt x="9387840" y="926592"/>
                  </a:lnTo>
                  <a:lnTo>
                    <a:pt x="0" y="926592"/>
                  </a:lnTo>
                  <a:close/>
                </a:path>
              </a:pathLst>
            </a:custGeom>
            <a:blipFill>
              <a:blip r:embed="rId3">
                <a:alphaModFix amt="0"/>
              </a:blip>
              <a:stretch>
                <a:fillRect l="0" t="-147414" r="0" b="-147414"/>
              </a:stretch>
            </a:blipFill>
          </p:spPr>
        </p:sp>
        <p:sp>
          <p:nvSpPr>
            <p:cNvPr name="TextBox 21" id="21"/>
            <p:cNvSpPr txBox="true"/>
            <p:nvPr/>
          </p:nvSpPr>
          <p:spPr>
            <a:xfrm>
              <a:off x="0" y="0"/>
              <a:ext cx="9387840" cy="926592"/>
            </a:xfrm>
            <a:prstGeom prst="rect">
              <a:avLst/>
            </a:prstGeom>
          </p:spPr>
          <p:txBody>
            <a:bodyPr anchor="ctr" rtlCol="false" tIns="0" lIns="0" bIns="0" rIns="0"/>
            <a:lstStyle/>
            <a:p>
              <a:pPr algn="l">
                <a:lnSpc>
                  <a:spcPts val="2760"/>
                </a:lnSpc>
              </a:pPr>
              <a:r>
                <a:rPr lang="en-US" sz="2300">
                  <a:solidFill>
                    <a:srgbClr val="1E293B"/>
                  </a:solidFill>
                  <a:latin typeface="Proxima Nova"/>
                  <a:ea typeface="Proxima Nova"/>
                  <a:cs typeface="Proxima Nova"/>
                  <a:sym typeface="Proxima Nova"/>
                </a:rPr>
                <a:t>SIP inflows increased significantly from 2022 to 2025</a:t>
              </a:r>
            </a:p>
          </p:txBody>
        </p:sp>
      </p:grpSp>
      <p:grpSp>
        <p:nvGrpSpPr>
          <p:cNvPr name="Group 22" id="22"/>
          <p:cNvGrpSpPr/>
          <p:nvPr/>
        </p:nvGrpSpPr>
        <p:grpSpPr>
          <a:xfrm rot="0">
            <a:off x="627383" y="4284983"/>
            <a:ext cx="7980683" cy="720347"/>
            <a:chOff x="0" y="0"/>
            <a:chExt cx="10640911" cy="960463"/>
          </a:xfrm>
        </p:grpSpPr>
        <p:sp>
          <p:nvSpPr>
            <p:cNvPr name="Freeform 23" id="23"/>
            <p:cNvSpPr/>
            <p:nvPr/>
          </p:nvSpPr>
          <p:spPr>
            <a:xfrm flipH="false" flipV="false" rot="0">
              <a:off x="0" y="0"/>
              <a:ext cx="10640949" cy="960501"/>
            </a:xfrm>
            <a:custGeom>
              <a:avLst/>
              <a:gdLst/>
              <a:ahLst/>
              <a:cxnLst/>
              <a:rect r="r" b="b" t="t" l="l"/>
              <a:pathLst>
                <a:path h="960501" w="10640949">
                  <a:moveTo>
                    <a:pt x="0" y="202184"/>
                  </a:moveTo>
                  <a:cubicBezTo>
                    <a:pt x="0" y="90551"/>
                    <a:pt x="90551" y="0"/>
                    <a:pt x="202184" y="0"/>
                  </a:cubicBezTo>
                  <a:lnTo>
                    <a:pt x="10438765" y="0"/>
                  </a:lnTo>
                  <a:cubicBezTo>
                    <a:pt x="10550398" y="0"/>
                    <a:pt x="10640949" y="90551"/>
                    <a:pt x="10640949" y="202184"/>
                  </a:cubicBezTo>
                  <a:lnTo>
                    <a:pt x="10640949" y="758317"/>
                  </a:lnTo>
                  <a:cubicBezTo>
                    <a:pt x="10640949" y="869950"/>
                    <a:pt x="10550398" y="960501"/>
                    <a:pt x="10438765" y="960501"/>
                  </a:cubicBezTo>
                  <a:lnTo>
                    <a:pt x="202184" y="960501"/>
                  </a:lnTo>
                  <a:cubicBezTo>
                    <a:pt x="90551" y="960501"/>
                    <a:pt x="0" y="869950"/>
                    <a:pt x="0" y="758317"/>
                  </a:cubicBezTo>
                  <a:close/>
                </a:path>
              </a:pathLst>
            </a:custGeom>
            <a:solidFill>
              <a:srgbClr val="FFFFFF"/>
            </a:solidFill>
            <a:ln w="25400" cap="sq">
              <a:solidFill>
                <a:srgbClr val="CBD5E1"/>
              </a:solidFill>
              <a:prstDash val="solid"/>
              <a:miter/>
            </a:ln>
          </p:spPr>
        </p:sp>
      </p:grpSp>
      <p:grpSp>
        <p:nvGrpSpPr>
          <p:cNvPr name="Group 24" id="24"/>
          <p:cNvGrpSpPr/>
          <p:nvPr/>
        </p:nvGrpSpPr>
        <p:grpSpPr>
          <a:xfrm rot="0">
            <a:off x="768096" y="4297680"/>
            <a:ext cx="548640" cy="694944"/>
            <a:chOff x="0" y="0"/>
            <a:chExt cx="731520" cy="926592"/>
          </a:xfrm>
        </p:grpSpPr>
        <p:sp>
          <p:nvSpPr>
            <p:cNvPr name="Freeform 25" id="25"/>
            <p:cNvSpPr/>
            <p:nvPr/>
          </p:nvSpPr>
          <p:spPr>
            <a:xfrm flipH="false" flipV="false" rot="0">
              <a:off x="0" y="0"/>
              <a:ext cx="731520" cy="926592"/>
            </a:xfrm>
            <a:custGeom>
              <a:avLst/>
              <a:gdLst/>
              <a:ahLst/>
              <a:cxnLst/>
              <a:rect r="r" b="b" t="t" l="l"/>
              <a:pathLst>
                <a:path h="926592" w="731520">
                  <a:moveTo>
                    <a:pt x="0" y="0"/>
                  </a:moveTo>
                  <a:lnTo>
                    <a:pt x="731520" y="0"/>
                  </a:lnTo>
                  <a:lnTo>
                    <a:pt x="731520" y="926592"/>
                  </a:lnTo>
                  <a:lnTo>
                    <a:pt x="0" y="926592"/>
                  </a:lnTo>
                  <a:close/>
                </a:path>
              </a:pathLst>
            </a:custGeom>
            <a:blipFill>
              <a:blip r:embed="rId3">
                <a:alphaModFix amt="0"/>
              </a:blip>
              <a:stretch>
                <a:fillRect l="-112517" t="0" r="-112517" b="0"/>
              </a:stretch>
            </a:blipFill>
          </p:spPr>
        </p:sp>
        <p:sp>
          <p:nvSpPr>
            <p:cNvPr name="TextBox 26" id="26"/>
            <p:cNvSpPr txBox="true"/>
            <p:nvPr/>
          </p:nvSpPr>
          <p:spPr>
            <a:xfrm>
              <a:off x="0" y="-9525"/>
              <a:ext cx="731520" cy="936117"/>
            </a:xfrm>
            <a:prstGeom prst="rect">
              <a:avLst/>
            </a:prstGeom>
          </p:spPr>
          <p:txBody>
            <a:bodyPr anchor="ctr" rtlCol="false" tIns="0" lIns="0" bIns="0" rIns="0"/>
            <a:lstStyle/>
            <a:p>
              <a:pPr algn="l">
                <a:lnSpc>
                  <a:spcPts val="2400"/>
                </a:lnSpc>
              </a:pPr>
              <a:r>
                <a:rPr lang="en-US" sz="2000">
                  <a:solidFill>
                    <a:srgbClr val="0D9488"/>
                  </a:solidFill>
                  <a:latin typeface="Proxima Nova"/>
                  <a:ea typeface="Proxima Nova"/>
                  <a:cs typeface="Proxima Nova"/>
                  <a:sym typeface="Proxima Nova"/>
                </a:rPr>
                <a:t>✦</a:t>
              </a:r>
            </a:p>
          </p:txBody>
        </p:sp>
      </p:grpSp>
      <p:grpSp>
        <p:nvGrpSpPr>
          <p:cNvPr name="Group 27" id="27"/>
          <p:cNvGrpSpPr/>
          <p:nvPr/>
        </p:nvGrpSpPr>
        <p:grpSpPr>
          <a:xfrm rot="0">
            <a:off x="1316736" y="4297680"/>
            <a:ext cx="7040880" cy="694944"/>
            <a:chOff x="0" y="0"/>
            <a:chExt cx="9387840" cy="926592"/>
          </a:xfrm>
        </p:grpSpPr>
        <p:sp>
          <p:nvSpPr>
            <p:cNvPr name="Freeform 28" id="28"/>
            <p:cNvSpPr/>
            <p:nvPr/>
          </p:nvSpPr>
          <p:spPr>
            <a:xfrm flipH="false" flipV="false" rot="0">
              <a:off x="0" y="0"/>
              <a:ext cx="9387840" cy="926592"/>
            </a:xfrm>
            <a:custGeom>
              <a:avLst/>
              <a:gdLst/>
              <a:ahLst/>
              <a:cxnLst/>
              <a:rect r="r" b="b" t="t" l="l"/>
              <a:pathLst>
                <a:path h="926592" w="9387840">
                  <a:moveTo>
                    <a:pt x="0" y="0"/>
                  </a:moveTo>
                  <a:lnTo>
                    <a:pt x="9387840" y="0"/>
                  </a:lnTo>
                  <a:lnTo>
                    <a:pt x="9387840" y="926592"/>
                  </a:lnTo>
                  <a:lnTo>
                    <a:pt x="0" y="926592"/>
                  </a:lnTo>
                  <a:close/>
                </a:path>
              </a:pathLst>
            </a:custGeom>
            <a:blipFill>
              <a:blip r:embed="rId3">
                <a:alphaModFix amt="0"/>
              </a:blip>
              <a:stretch>
                <a:fillRect l="0" t="-147414" r="0" b="-147414"/>
              </a:stretch>
            </a:blipFill>
          </p:spPr>
        </p:sp>
        <p:sp>
          <p:nvSpPr>
            <p:cNvPr name="TextBox 29" id="29"/>
            <p:cNvSpPr txBox="true"/>
            <p:nvPr/>
          </p:nvSpPr>
          <p:spPr>
            <a:xfrm>
              <a:off x="0" y="0"/>
              <a:ext cx="9387840" cy="926592"/>
            </a:xfrm>
            <a:prstGeom prst="rect">
              <a:avLst/>
            </a:prstGeom>
          </p:spPr>
          <p:txBody>
            <a:bodyPr anchor="ctr" rtlCol="false" tIns="0" lIns="0" bIns="0" rIns="0"/>
            <a:lstStyle/>
            <a:p>
              <a:pPr algn="l">
                <a:lnSpc>
                  <a:spcPts val="2760"/>
                </a:lnSpc>
              </a:pPr>
              <a:r>
                <a:rPr lang="en-US" sz="2300">
                  <a:solidFill>
                    <a:srgbClr val="1E293B"/>
                  </a:solidFill>
                  <a:latin typeface="Proxima Nova"/>
                  <a:ea typeface="Proxima Nova"/>
                  <a:cs typeface="Proxima Nova"/>
                  <a:sym typeface="Proxima Nova"/>
                </a:rPr>
                <a:t>Retail investor participation expanded rapidly</a:t>
              </a:r>
            </a:p>
          </p:txBody>
        </p:sp>
      </p:grpSp>
      <p:grpSp>
        <p:nvGrpSpPr>
          <p:cNvPr name="Group 30" id="30"/>
          <p:cNvGrpSpPr/>
          <p:nvPr/>
        </p:nvGrpSpPr>
        <p:grpSpPr>
          <a:xfrm rot="0">
            <a:off x="9392917" y="3438144"/>
            <a:ext cx="8267710" cy="720347"/>
            <a:chOff x="0" y="0"/>
            <a:chExt cx="11023613" cy="960463"/>
          </a:xfrm>
        </p:grpSpPr>
        <p:sp>
          <p:nvSpPr>
            <p:cNvPr name="Freeform 31" id="31"/>
            <p:cNvSpPr/>
            <p:nvPr/>
          </p:nvSpPr>
          <p:spPr>
            <a:xfrm flipH="false" flipV="false" rot="0">
              <a:off x="0" y="0"/>
              <a:ext cx="11023650" cy="960501"/>
            </a:xfrm>
            <a:custGeom>
              <a:avLst/>
              <a:gdLst/>
              <a:ahLst/>
              <a:cxnLst/>
              <a:rect r="r" b="b" t="t" l="l"/>
              <a:pathLst>
                <a:path h="960501" w="11023650">
                  <a:moveTo>
                    <a:pt x="0" y="202184"/>
                  </a:moveTo>
                  <a:cubicBezTo>
                    <a:pt x="0" y="90551"/>
                    <a:pt x="93808" y="0"/>
                    <a:pt x="209456" y="0"/>
                  </a:cubicBezTo>
                  <a:lnTo>
                    <a:pt x="10814197" y="0"/>
                  </a:lnTo>
                  <a:cubicBezTo>
                    <a:pt x="10929844" y="0"/>
                    <a:pt x="11023650" y="90551"/>
                    <a:pt x="11023650" y="202184"/>
                  </a:cubicBezTo>
                  <a:lnTo>
                    <a:pt x="11023650" y="758317"/>
                  </a:lnTo>
                  <a:cubicBezTo>
                    <a:pt x="11023650" y="869950"/>
                    <a:pt x="10929844" y="960501"/>
                    <a:pt x="10814197" y="960501"/>
                  </a:cubicBezTo>
                  <a:lnTo>
                    <a:pt x="209456" y="960501"/>
                  </a:lnTo>
                  <a:cubicBezTo>
                    <a:pt x="93808" y="960501"/>
                    <a:pt x="0" y="869950"/>
                    <a:pt x="0" y="758317"/>
                  </a:cubicBezTo>
                  <a:close/>
                </a:path>
              </a:pathLst>
            </a:custGeom>
            <a:solidFill>
              <a:srgbClr val="FFFFFF"/>
            </a:solidFill>
            <a:ln w="25400" cap="sq">
              <a:solidFill>
                <a:srgbClr val="CBD5E1"/>
              </a:solidFill>
              <a:prstDash val="solid"/>
              <a:miter/>
            </a:ln>
          </p:spPr>
        </p:sp>
      </p:grpSp>
      <p:grpSp>
        <p:nvGrpSpPr>
          <p:cNvPr name="Group 32" id="32"/>
          <p:cNvGrpSpPr/>
          <p:nvPr/>
        </p:nvGrpSpPr>
        <p:grpSpPr>
          <a:xfrm rot="0">
            <a:off x="9533630" y="3450841"/>
            <a:ext cx="548640" cy="694944"/>
            <a:chOff x="0" y="0"/>
            <a:chExt cx="731520" cy="926592"/>
          </a:xfrm>
        </p:grpSpPr>
        <p:sp>
          <p:nvSpPr>
            <p:cNvPr name="Freeform 33" id="33"/>
            <p:cNvSpPr/>
            <p:nvPr/>
          </p:nvSpPr>
          <p:spPr>
            <a:xfrm flipH="false" flipV="false" rot="0">
              <a:off x="0" y="0"/>
              <a:ext cx="731520" cy="926592"/>
            </a:xfrm>
            <a:custGeom>
              <a:avLst/>
              <a:gdLst/>
              <a:ahLst/>
              <a:cxnLst/>
              <a:rect r="r" b="b" t="t" l="l"/>
              <a:pathLst>
                <a:path h="926592" w="731520">
                  <a:moveTo>
                    <a:pt x="0" y="0"/>
                  </a:moveTo>
                  <a:lnTo>
                    <a:pt x="731520" y="0"/>
                  </a:lnTo>
                  <a:lnTo>
                    <a:pt x="731520" y="926592"/>
                  </a:lnTo>
                  <a:lnTo>
                    <a:pt x="0" y="926592"/>
                  </a:lnTo>
                  <a:close/>
                </a:path>
              </a:pathLst>
            </a:custGeom>
            <a:blipFill>
              <a:blip r:embed="rId3">
                <a:alphaModFix amt="0"/>
              </a:blip>
              <a:stretch>
                <a:fillRect l="-112517" t="0" r="-112517" b="0"/>
              </a:stretch>
            </a:blipFill>
          </p:spPr>
        </p:sp>
        <p:sp>
          <p:nvSpPr>
            <p:cNvPr name="TextBox 34" id="34"/>
            <p:cNvSpPr txBox="true"/>
            <p:nvPr/>
          </p:nvSpPr>
          <p:spPr>
            <a:xfrm>
              <a:off x="0" y="-9525"/>
              <a:ext cx="731520" cy="936117"/>
            </a:xfrm>
            <a:prstGeom prst="rect">
              <a:avLst/>
            </a:prstGeom>
          </p:spPr>
          <p:txBody>
            <a:bodyPr anchor="ctr" rtlCol="false" tIns="0" lIns="0" bIns="0" rIns="0"/>
            <a:lstStyle/>
            <a:p>
              <a:pPr algn="l">
                <a:lnSpc>
                  <a:spcPts val="2400"/>
                </a:lnSpc>
              </a:pPr>
              <a:r>
                <a:rPr lang="en-US" sz="2000">
                  <a:solidFill>
                    <a:srgbClr val="0D9488"/>
                  </a:solidFill>
                  <a:latin typeface="Proxima Nova"/>
                  <a:ea typeface="Proxima Nova"/>
                  <a:cs typeface="Proxima Nova"/>
                  <a:sym typeface="Proxima Nova"/>
                </a:rPr>
                <a:t>✦</a:t>
              </a:r>
            </a:p>
          </p:txBody>
        </p:sp>
      </p:grpSp>
      <p:grpSp>
        <p:nvGrpSpPr>
          <p:cNvPr name="Group 35" id="35"/>
          <p:cNvGrpSpPr/>
          <p:nvPr/>
        </p:nvGrpSpPr>
        <p:grpSpPr>
          <a:xfrm rot="0">
            <a:off x="10082270" y="3450841"/>
            <a:ext cx="7040880" cy="825132"/>
            <a:chOff x="0" y="0"/>
            <a:chExt cx="9387840" cy="1100176"/>
          </a:xfrm>
        </p:grpSpPr>
        <p:sp>
          <p:nvSpPr>
            <p:cNvPr name="Freeform 36" id="36"/>
            <p:cNvSpPr/>
            <p:nvPr/>
          </p:nvSpPr>
          <p:spPr>
            <a:xfrm flipH="false" flipV="false" rot="0">
              <a:off x="0" y="0"/>
              <a:ext cx="9387840" cy="1100176"/>
            </a:xfrm>
            <a:custGeom>
              <a:avLst/>
              <a:gdLst/>
              <a:ahLst/>
              <a:cxnLst/>
              <a:rect r="r" b="b" t="t" l="l"/>
              <a:pathLst>
                <a:path h="1100176" w="9387840">
                  <a:moveTo>
                    <a:pt x="0" y="0"/>
                  </a:moveTo>
                  <a:lnTo>
                    <a:pt x="9387840" y="0"/>
                  </a:lnTo>
                  <a:lnTo>
                    <a:pt x="9387840" y="1100176"/>
                  </a:lnTo>
                  <a:lnTo>
                    <a:pt x="0" y="1100176"/>
                  </a:lnTo>
                  <a:close/>
                </a:path>
              </a:pathLst>
            </a:custGeom>
            <a:blipFill>
              <a:blip r:embed="rId3">
                <a:alphaModFix amt="0"/>
              </a:blip>
              <a:stretch>
                <a:fillRect l="0" t="-124155" r="0" b="-108377"/>
              </a:stretch>
            </a:blipFill>
          </p:spPr>
        </p:sp>
        <p:sp>
          <p:nvSpPr>
            <p:cNvPr name="TextBox 37" id="37"/>
            <p:cNvSpPr txBox="true"/>
            <p:nvPr/>
          </p:nvSpPr>
          <p:spPr>
            <a:xfrm>
              <a:off x="0" y="0"/>
              <a:ext cx="9387840" cy="1100176"/>
            </a:xfrm>
            <a:prstGeom prst="rect">
              <a:avLst/>
            </a:prstGeom>
          </p:spPr>
          <p:txBody>
            <a:bodyPr anchor="ctr" rtlCol="false" tIns="0" lIns="0" bIns="0" rIns="0"/>
            <a:lstStyle/>
            <a:p>
              <a:pPr algn="l">
                <a:lnSpc>
                  <a:spcPts val="2760"/>
                </a:lnSpc>
              </a:pPr>
              <a:r>
                <a:rPr lang="en-US" sz="2300">
                  <a:solidFill>
                    <a:srgbClr val="1E293B"/>
                  </a:solidFill>
                  <a:latin typeface="Proxima Nova"/>
                  <a:ea typeface="Proxima Nova"/>
                  <a:cs typeface="Proxima Nova"/>
                  <a:sym typeface="Proxima Nova"/>
                </a:rPr>
                <a:t>Industry folio count nearly doubled during the analysis period</a:t>
              </a:r>
            </a:p>
          </p:txBody>
        </p:sp>
      </p:grpSp>
      <p:grpSp>
        <p:nvGrpSpPr>
          <p:cNvPr name="Group 38" id="38"/>
          <p:cNvGrpSpPr/>
          <p:nvPr/>
        </p:nvGrpSpPr>
        <p:grpSpPr>
          <a:xfrm rot="0">
            <a:off x="9392917" y="4297680"/>
            <a:ext cx="8267710" cy="720347"/>
            <a:chOff x="0" y="0"/>
            <a:chExt cx="11023613" cy="960463"/>
          </a:xfrm>
        </p:grpSpPr>
        <p:sp>
          <p:nvSpPr>
            <p:cNvPr name="Freeform 39" id="39"/>
            <p:cNvSpPr/>
            <p:nvPr/>
          </p:nvSpPr>
          <p:spPr>
            <a:xfrm flipH="false" flipV="false" rot="0">
              <a:off x="0" y="0"/>
              <a:ext cx="11023650" cy="960501"/>
            </a:xfrm>
            <a:custGeom>
              <a:avLst/>
              <a:gdLst/>
              <a:ahLst/>
              <a:cxnLst/>
              <a:rect r="r" b="b" t="t" l="l"/>
              <a:pathLst>
                <a:path h="960501" w="11023650">
                  <a:moveTo>
                    <a:pt x="0" y="202184"/>
                  </a:moveTo>
                  <a:cubicBezTo>
                    <a:pt x="0" y="90551"/>
                    <a:pt x="93808" y="0"/>
                    <a:pt x="209456" y="0"/>
                  </a:cubicBezTo>
                  <a:lnTo>
                    <a:pt x="10814197" y="0"/>
                  </a:lnTo>
                  <a:cubicBezTo>
                    <a:pt x="10929844" y="0"/>
                    <a:pt x="11023650" y="90551"/>
                    <a:pt x="11023650" y="202184"/>
                  </a:cubicBezTo>
                  <a:lnTo>
                    <a:pt x="11023650" y="758317"/>
                  </a:lnTo>
                  <a:cubicBezTo>
                    <a:pt x="11023650" y="869950"/>
                    <a:pt x="10929844" y="960501"/>
                    <a:pt x="10814197" y="960501"/>
                  </a:cubicBezTo>
                  <a:lnTo>
                    <a:pt x="209456" y="960501"/>
                  </a:lnTo>
                  <a:cubicBezTo>
                    <a:pt x="93808" y="960501"/>
                    <a:pt x="0" y="869950"/>
                    <a:pt x="0" y="758317"/>
                  </a:cubicBezTo>
                  <a:close/>
                </a:path>
              </a:pathLst>
            </a:custGeom>
            <a:solidFill>
              <a:srgbClr val="FFFFFF"/>
            </a:solidFill>
            <a:ln w="25400" cap="sq">
              <a:solidFill>
                <a:srgbClr val="CBD5E1"/>
              </a:solidFill>
              <a:prstDash val="solid"/>
              <a:miter/>
            </a:ln>
          </p:spPr>
        </p:sp>
      </p:grpSp>
      <p:grpSp>
        <p:nvGrpSpPr>
          <p:cNvPr name="Group 40" id="40"/>
          <p:cNvGrpSpPr/>
          <p:nvPr/>
        </p:nvGrpSpPr>
        <p:grpSpPr>
          <a:xfrm rot="0">
            <a:off x="9533630" y="4310377"/>
            <a:ext cx="548640" cy="694944"/>
            <a:chOff x="0" y="0"/>
            <a:chExt cx="731520" cy="926592"/>
          </a:xfrm>
        </p:grpSpPr>
        <p:sp>
          <p:nvSpPr>
            <p:cNvPr name="Freeform 41" id="41"/>
            <p:cNvSpPr/>
            <p:nvPr/>
          </p:nvSpPr>
          <p:spPr>
            <a:xfrm flipH="false" flipV="false" rot="0">
              <a:off x="0" y="0"/>
              <a:ext cx="731520" cy="926592"/>
            </a:xfrm>
            <a:custGeom>
              <a:avLst/>
              <a:gdLst/>
              <a:ahLst/>
              <a:cxnLst/>
              <a:rect r="r" b="b" t="t" l="l"/>
              <a:pathLst>
                <a:path h="926592" w="731520">
                  <a:moveTo>
                    <a:pt x="0" y="0"/>
                  </a:moveTo>
                  <a:lnTo>
                    <a:pt x="731520" y="0"/>
                  </a:lnTo>
                  <a:lnTo>
                    <a:pt x="731520" y="926592"/>
                  </a:lnTo>
                  <a:lnTo>
                    <a:pt x="0" y="926592"/>
                  </a:lnTo>
                  <a:close/>
                </a:path>
              </a:pathLst>
            </a:custGeom>
            <a:blipFill>
              <a:blip r:embed="rId3">
                <a:alphaModFix amt="0"/>
              </a:blip>
              <a:stretch>
                <a:fillRect l="-112517" t="0" r="-112517" b="0"/>
              </a:stretch>
            </a:blipFill>
          </p:spPr>
        </p:sp>
        <p:sp>
          <p:nvSpPr>
            <p:cNvPr name="TextBox 42" id="42"/>
            <p:cNvSpPr txBox="true"/>
            <p:nvPr/>
          </p:nvSpPr>
          <p:spPr>
            <a:xfrm>
              <a:off x="0" y="-9525"/>
              <a:ext cx="731520" cy="936117"/>
            </a:xfrm>
            <a:prstGeom prst="rect">
              <a:avLst/>
            </a:prstGeom>
          </p:spPr>
          <p:txBody>
            <a:bodyPr anchor="ctr" rtlCol="false" tIns="0" lIns="0" bIns="0" rIns="0"/>
            <a:lstStyle/>
            <a:p>
              <a:pPr algn="l">
                <a:lnSpc>
                  <a:spcPts val="2400"/>
                </a:lnSpc>
              </a:pPr>
              <a:r>
                <a:rPr lang="en-US" sz="2000">
                  <a:solidFill>
                    <a:srgbClr val="0D9488"/>
                  </a:solidFill>
                  <a:latin typeface="Proxima Nova"/>
                  <a:ea typeface="Proxima Nova"/>
                  <a:cs typeface="Proxima Nova"/>
                  <a:sym typeface="Proxima Nova"/>
                </a:rPr>
                <a:t>✦</a:t>
              </a:r>
            </a:p>
          </p:txBody>
        </p:sp>
      </p:grpSp>
      <p:grpSp>
        <p:nvGrpSpPr>
          <p:cNvPr name="Group 43" id="43"/>
          <p:cNvGrpSpPr/>
          <p:nvPr/>
        </p:nvGrpSpPr>
        <p:grpSpPr>
          <a:xfrm rot="0">
            <a:off x="10082270" y="4310377"/>
            <a:ext cx="7040880" cy="694944"/>
            <a:chOff x="0" y="0"/>
            <a:chExt cx="9387840" cy="926592"/>
          </a:xfrm>
        </p:grpSpPr>
        <p:sp>
          <p:nvSpPr>
            <p:cNvPr name="Freeform 44" id="44"/>
            <p:cNvSpPr/>
            <p:nvPr/>
          </p:nvSpPr>
          <p:spPr>
            <a:xfrm flipH="false" flipV="false" rot="0">
              <a:off x="0" y="0"/>
              <a:ext cx="9387840" cy="926592"/>
            </a:xfrm>
            <a:custGeom>
              <a:avLst/>
              <a:gdLst/>
              <a:ahLst/>
              <a:cxnLst/>
              <a:rect r="r" b="b" t="t" l="l"/>
              <a:pathLst>
                <a:path h="926592" w="9387840">
                  <a:moveTo>
                    <a:pt x="0" y="0"/>
                  </a:moveTo>
                  <a:lnTo>
                    <a:pt x="9387840" y="0"/>
                  </a:lnTo>
                  <a:lnTo>
                    <a:pt x="9387840" y="926592"/>
                  </a:lnTo>
                  <a:lnTo>
                    <a:pt x="0" y="926592"/>
                  </a:lnTo>
                  <a:close/>
                </a:path>
              </a:pathLst>
            </a:custGeom>
            <a:blipFill>
              <a:blip r:embed="rId3">
                <a:alphaModFix amt="0"/>
              </a:blip>
              <a:stretch>
                <a:fillRect l="0" t="-147414" r="0" b="-147414"/>
              </a:stretch>
            </a:blipFill>
          </p:spPr>
        </p:sp>
        <p:sp>
          <p:nvSpPr>
            <p:cNvPr name="TextBox 45" id="45"/>
            <p:cNvSpPr txBox="true"/>
            <p:nvPr/>
          </p:nvSpPr>
          <p:spPr>
            <a:xfrm>
              <a:off x="0" y="0"/>
              <a:ext cx="9387840" cy="926592"/>
            </a:xfrm>
            <a:prstGeom prst="rect">
              <a:avLst/>
            </a:prstGeom>
          </p:spPr>
          <p:txBody>
            <a:bodyPr anchor="ctr" rtlCol="false" tIns="0" lIns="0" bIns="0" rIns="0"/>
            <a:lstStyle/>
            <a:p>
              <a:pPr algn="l">
                <a:lnSpc>
                  <a:spcPts val="2760"/>
                </a:lnSpc>
              </a:pPr>
              <a:r>
                <a:rPr lang="en-US" sz="2300">
                  <a:solidFill>
                    <a:srgbClr val="1E293B"/>
                  </a:solidFill>
                  <a:latin typeface="Proxima Nova"/>
                  <a:ea typeface="Proxima Nova"/>
                  <a:cs typeface="Proxima Nova"/>
                  <a:sym typeface="Proxima Nova"/>
                </a:rPr>
                <a:t>Mutual fund penetration improved across India</a:t>
              </a:r>
            </a:p>
          </p:txBody>
        </p:sp>
      </p:grpSp>
      <p:grpSp>
        <p:nvGrpSpPr>
          <p:cNvPr name="Group 46" id="46"/>
          <p:cNvGrpSpPr/>
          <p:nvPr/>
        </p:nvGrpSpPr>
        <p:grpSpPr>
          <a:xfrm rot="0">
            <a:off x="-115310" y="9733616"/>
            <a:ext cx="8723376" cy="731520"/>
            <a:chOff x="0" y="0"/>
            <a:chExt cx="11631168" cy="975360"/>
          </a:xfrm>
        </p:grpSpPr>
        <p:sp>
          <p:nvSpPr>
            <p:cNvPr name="Freeform 47" id="47"/>
            <p:cNvSpPr/>
            <p:nvPr/>
          </p:nvSpPr>
          <p:spPr>
            <a:xfrm flipH="false" flipV="false" rot="0">
              <a:off x="0" y="0"/>
              <a:ext cx="11631168" cy="975360"/>
            </a:xfrm>
            <a:custGeom>
              <a:avLst/>
              <a:gdLst/>
              <a:ahLst/>
              <a:cxnLst/>
              <a:rect r="r" b="b" t="t" l="l"/>
              <a:pathLst>
                <a:path h="975360" w="11631168">
                  <a:moveTo>
                    <a:pt x="0" y="0"/>
                  </a:moveTo>
                  <a:lnTo>
                    <a:pt x="11631168" y="0"/>
                  </a:lnTo>
                  <a:lnTo>
                    <a:pt x="11631168" y="975360"/>
                  </a:lnTo>
                  <a:lnTo>
                    <a:pt x="0" y="975360"/>
                  </a:lnTo>
                  <a:close/>
                </a:path>
              </a:pathLst>
            </a:custGeom>
            <a:blipFill>
              <a:blip r:embed="rId3">
                <a:alphaModFix amt="0"/>
              </a:blip>
              <a:stretch>
                <a:fillRect l="0" t="-182359" r="0" b="-182359"/>
              </a:stretch>
            </a:blipFill>
          </p:spPr>
        </p:sp>
        <p:sp>
          <p:nvSpPr>
            <p:cNvPr name="TextBox 48" id="48"/>
            <p:cNvSpPr txBox="true"/>
            <p:nvPr/>
          </p:nvSpPr>
          <p:spPr>
            <a:xfrm>
              <a:off x="0" y="9525"/>
              <a:ext cx="11631168" cy="965835"/>
            </a:xfrm>
            <a:prstGeom prst="rect">
              <a:avLst/>
            </a:prstGeom>
          </p:spPr>
          <p:txBody>
            <a:bodyPr anchor="ctr" rtlCol="false" tIns="0" lIns="0" bIns="0" rIns="0"/>
            <a:lstStyle/>
            <a:p>
              <a:pPr algn="ctr">
                <a:lnSpc>
                  <a:spcPts val="2879"/>
                </a:lnSpc>
              </a:pPr>
              <a:r>
                <a:rPr lang="en-US" sz="2400" b="true">
                  <a:solidFill>
                    <a:srgbClr val="64748B"/>
                  </a:solidFill>
                  <a:latin typeface="Proxima Nova Bold"/>
                  <a:ea typeface="Proxima Nova Bold"/>
                  <a:cs typeface="Proxima Nova Bold"/>
                  <a:sym typeface="Proxima Nova Bold"/>
                </a:rPr>
                <a:t> SIP Trend Chart</a:t>
              </a:r>
            </a:p>
          </p:txBody>
        </p:sp>
      </p:grpSp>
      <p:grpSp>
        <p:nvGrpSpPr>
          <p:cNvPr name="Group 49" id="49"/>
          <p:cNvGrpSpPr/>
          <p:nvPr/>
        </p:nvGrpSpPr>
        <p:grpSpPr>
          <a:xfrm rot="0">
            <a:off x="9577330" y="9555480"/>
            <a:ext cx="8723376" cy="731520"/>
            <a:chOff x="0" y="0"/>
            <a:chExt cx="11631168" cy="975360"/>
          </a:xfrm>
        </p:grpSpPr>
        <p:sp>
          <p:nvSpPr>
            <p:cNvPr name="Freeform 50" id="50"/>
            <p:cNvSpPr/>
            <p:nvPr/>
          </p:nvSpPr>
          <p:spPr>
            <a:xfrm flipH="false" flipV="false" rot="0">
              <a:off x="0" y="0"/>
              <a:ext cx="11631168" cy="975360"/>
            </a:xfrm>
            <a:custGeom>
              <a:avLst/>
              <a:gdLst/>
              <a:ahLst/>
              <a:cxnLst/>
              <a:rect r="r" b="b" t="t" l="l"/>
              <a:pathLst>
                <a:path h="975360" w="11631168">
                  <a:moveTo>
                    <a:pt x="0" y="0"/>
                  </a:moveTo>
                  <a:lnTo>
                    <a:pt x="11631168" y="0"/>
                  </a:lnTo>
                  <a:lnTo>
                    <a:pt x="11631168" y="975360"/>
                  </a:lnTo>
                  <a:lnTo>
                    <a:pt x="0" y="975360"/>
                  </a:lnTo>
                  <a:close/>
                </a:path>
              </a:pathLst>
            </a:custGeom>
            <a:blipFill>
              <a:blip r:embed="rId3">
                <a:alphaModFix amt="0"/>
              </a:blip>
              <a:stretch>
                <a:fillRect l="0" t="-182359" r="0" b="-182359"/>
              </a:stretch>
            </a:blipFill>
          </p:spPr>
        </p:sp>
        <p:sp>
          <p:nvSpPr>
            <p:cNvPr name="TextBox 51" id="51"/>
            <p:cNvSpPr txBox="true"/>
            <p:nvPr/>
          </p:nvSpPr>
          <p:spPr>
            <a:xfrm>
              <a:off x="0" y="9525"/>
              <a:ext cx="11631168" cy="965835"/>
            </a:xfrm>
            <a:prstGeom prst="rect">
              <a:avLst/>
            </a:prstGeom>
          </p:spPr>
          <p:txBody>
            <a:bodyPr anchor="ctr" rtlCol="false" tIns="0" lIns="0" bIns="0" rIns="0"/>
            <a:lstStyle/>
            <a:p>
              <a:pPr algn="ctr">
                <a:lnSpc>
                  <a:spcPts val="2879"/>
                </a:lnSpc>
              </a:pPr>
              <a:r>
                <a:rPr lang="en-US" sz="2400" b="true">
                  <a:solidFill>
                    <a:srgbClr val="64748B"/>
                  </a:solidFill>
                  <a:latin typeface="Proxima Nova Bold"/>
                  <a:ea typeface="Proxima Nova Bold"/>
                  <a:cs typeface="Proxima Nova Bold"/>
                  <a:sym typeface="Proxima Nova Bold"/>
                </a:rPr>
                <a:t>  Folio Growth Chart</a:t>
              </a:r>
            </a:p>
          </p:txBody>
        </p:sp>
      </p:grpSp>
      <p:sp>
        <p:nvSpPr>
          <p:cNvPr name="Freeform 52" id="52"/>
          <p:cNvSpPr/>
          <p:nvPr/>
        </p:nvSpPr>
        <p:spPr>
          <a:xfrm flipH="false" flipV="false" rot="0">
            <a:off x="557215" y="5057627"/>
            <a:ext cx="8050851" cy="4675989"/>
          </a:xfrm>
          <a:custGeom>
            <a:avLst/>
            <a:gdLst/>
            <a:ahLst/>
            <a:cxnLst/>
            <a:rect r="r" b="b" t="t" l="l"/>
            <a:pathLst>
              <a:path h="4675989" w="8050851">
                <a:moveTo>
                  <a:pt x="0" y="0"/>
                </a:moveTo>
                <a:lnTo>
                  <a:pt x="8050851" y="0"/>
                </a:lnTo>
                <a:lnTo>
                  <a:pt x="8050851" y="4675989"/>
                </a:lnTo>
                <a:lnTo>
                  <a:pt x="0" y="4675989"/>
                </a:lnTo>
                <a:lnTo>
                  <a:pt x="0" y="0"/>
                </a:lnTo>
                <a:close/>
              </a:path>
            </a:pathLst>
          </a:custGeom>
          <a:blipFill>
            <a:blip r:embed="rId4"/>
            <a:stretch>
              <a:fillRect l="0" t="-18317" r="0" b="-4664"/>
            </a:stretch>
          </a:blipFill>
        </p:spPr>
      </p:sp>
      <p:sp>
        <p:nvSpPr>
          <p:cNvPr name="Freeform 53" id="53"/>
          <p:cNvSpPr/>
          <p:nvPr/>
        </p:nvSpPr>
        <p:spPr>
          <a:xfrm flipH="false" flipV="false" rot="0">
            <a:off x="9531958" y="5379977"/>
            <a:ext cx="7841642" cy="4254091"/>
          </a:xfrm>
          <a:custGeom>
            <a:avLst/>
            <a:gdLst/>
            <a:ahLst/>
            <a:cxnLst/>
            <a:rect r="r" b="b" t="t" l="l"/>
            <a:pathLst>
              <a:path h="4254091" w="7841642">
                <a:moveTo>
                  <a:pt x="0" y="0"/>
                </a:moveTo>
                <a:lnTo>
                  <a:pt x="7841642" y="0"/>
                </a:lnTo>
                <a:lnTo>
                  <a:pt x="7841642" y="4254091"/>
                </a:lnTo>
                <a:lnTo>
                  <a:pt x="0" y="4254091"/>
                </a:lnTo>
                <a:lnTo>
                  <a:pt x="0" y="0"/>
                </a:lnTo>
                <a:close/>
              </a:path>
            </a:pathLst>
          </a:custGeom>
          <a:blipFill>
            <a:blip r:embed="rId5"/>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945643"/>
            <a:chOff x="0" y="0"/>
            <a:chExt cx="24417871" cy="2594191"/>
          </a:xfrm>
        </p:grpSpPr>
        <p:sp>
          <p:nvSpPr>
            <p:cNvPr name="Freeform 3" id="3"/>
            <p:cNvSpPr/>
            <p:nvPr/>
          </p:nvSpPr>
          <p:spPr>
            <a:xfrm flipH="false" flipV="false" rot="0">
              <a:off x="0" y="0"/>
              <a:ext cx="24417910" cy="2594229"/>
            </a:xfrm>
            <a:custGeom>
              <a:avLst/>
              <a:gdLst/>
              <a:ahLst/>
              <a:cxnLst/>
              <a:rect r="r" b="b" t="t" l="l"/>
              <a:pathLst>
                <a:path h="2594229" w="24417910">
                  <a:moveTo>
                    <a:pt x="0" y="0"/>
                  </a:moveTo>
                  <a:lnTo>
                    <a:pt x="24417910" y="0"/>
                  </a:lnTo>
                  <a:lnTo>
                    <a:pt x="24417910" y="2594229"/>
                  </a:lnTo>
                  <a:lnTo>
                    <a:pt x="0" y="2594229"/>
                  </a:lnTo>
                  <a:close/>
                </a:path>
              </a:pathLst>
            </a:custGeom>
            <a:solidFill>
              <a:srgbClr val="0D1B2A"/>
            </a:solidFill>
            <a:ln w="25400" cap="sq">
              <a:solidFill>
                <a:srgbClr val="0D1B2A"/>
              </a:solidFill>
              <a:prstDash val="solid"/>
              <a:miter/>
            </a:ln>
          </p:spPr>
        </p:sp>
      </p:grpSp>
      <p:grpSp>
        <p:nvGrpSpPr>
          <p:cNvPr name="Group 4" id="4"/>
          <p:cNvGrpSpPr/>
          <p:nvPr/>
        </p:nvGrpSpPr>
        <p:grpSpPr>
          <a:xfrm rot="0">
            <a:off x="-12697" y="1907543"/>
            <a:ext cx="18313403" cy="153419"/>
            <a:chOff x="0" y="0"/>
            <a:chExt cx="24417871" cy="204559"/>
          </a:xfrm>
        </p:grpSpPr>
        <p:sp>
          <p:nvSpPr>
            <p:cNvPr name="Freeform 5" id="5"/>
            <p:cNvSpPr/>
            <p:nvPr/>
          </p:nvSpPr>
          <p:spPr>
            <a:xfrm flipH="false" flipV="false" rot="0">
              <a:off x="0" y="0"/>
              <a:ext cx="24417910" cy="204597"/>
            </a:xfrm>
            <a:custGeom>
              <a:avLst/>
              <a:gdLst/>
              <a:ahLst/>
              <a:cxnLst/>
              <a:rect r="r" b="b" t="t" l="l"/>
              <a:pathLst>
                <a:path h="204597" w="24417910">
                  <a:moveTo>
                    <a:pt x="0" y="0"/>
                  </a:moveTo>
                  <a:lnTo>
                    <a:pt x="24417910" y="0"/>
                  </a:lnTo>
                  <a:lnTo>
                    <a:pt x="24417910" y="204597"/>
                  </a:lnTo>
                  <a:lnTo>
                    <a:pt x="0" y="204597"/>
                  </a:lnTo>
                  <a:close/>
                </a:path>
              </a:pathLst>
            </a:custGeom>
            <a:solidFill>
              <a:srgbClr val="0D9488"/>
            </a:solidFill>
            <a:ln w="25400" cap="sq">
              <a:solidFill>
                <a:srgbClr val="0D9488"/>
              </a:solidFill>
              <a:prstDash val="solid"/>
              <a:miter/>
            </a:ln>
          </p:spPr>
        </p:sp>
      </p:grpSp>
      <p:grpSp>
        <p:nvGrpSpPr>
          <p:cNvPr name="Group 6" id="6"/>
          <p:cNvGrpSpPr/>
          <p:nvPr/>
        </p:nvGrpSpPr>
        <p:grpSpPr>
          <a:xfrm rot="0">
            <a:off x="822960" y="402336"/>
            <a:ext cx="16642080" cy="1097280"/>
            <a:chOff x="0" y="0"/>
            <a:chExt cx="22189440" cy="1463040"/>
          </a:xfrm>
        </p:grpSpPr>
        <p:sp>
          <p:nvSpPr>
            <p:cNvPr name="Freeform 7" id="7"/>
            <p:cNvSpPr/>
            <p:nvPr/>
          </p:nvSpPr>
          <p:spPr>
            <a:xfrm flipH="false" flipV="false" rot="0">
              <a:off x="0" y="0"/>
              <a:ext cx="22189439" cy="1463040"/>
            </a:xfrm>
            <a:custGeom>
              <a:avLst/>
              <a:gdLst/>
              <a:ahLst/>
              <a:cxnLst/>
              <a:rect r="r" b="b" t="t" l="l"/>
              <a:pathLst>
                <a:path h="1463040" w="22189439">
                  <a:moveTo>
                    <a:pt x="0" y="0"/>
                  </a:moveTo>
                  <a:lnTo>
                    <a:pt x="22189439" y="0"/>
                  </a:lnTo>
                  <a:lnTo>
                    <a:pt x="22189439" y="1463040"/>
                  </a:lnTo>
                  <a:lnTo>
                    <a:pt x="0" y="1463040"/>
                  </a:lnTo>
                  <a:close/>
                </a:path>
              </a:pathLst>
            </a:custGeom>
            <a:blipFill>
              <a:blip r:embed="rId3">
                <a:alphaModFix amt="0"/>
              </a:blip>
              <a:stretch>
                <a:fillRect l="0" t="-245523" r="0" b="-245523"/>
              </a:stretch>
            </a:blipFill>
          </p:spPr>
        </p:sp>
        <p:sp>
          <p:nvSpPr>
            <p:cNvPr name="TextBox 8" id="8"/>
            <p:cNvSpPr txBox="true"/>
            <p:nvPr/>
          </p:nvSpPr>
          <p:spPr>
            <a:xfrm>
              <a:off x="0" y="9525"/>
              <a:ext cx="22189440" cy="1453515"/>
            </a:xfrm>
            <a:prstGeom prst="rect">
              <a:avLst/>
            </a:prstGeom>
          </p:spPr>
          <p:txBody>
            <a:bodyPr anchor="ctr" rtlCol="false" tIns="0" lIns="0" bIns="0" rIns="0"/>
            <a:lstStyle/>
            <a:p>
              <a:pPr algn="l">
                <a:lnSpc>
                  <a:spcPts val="6240"/>
                </a:lnSpc>
              </a:pPr>
              <a:r>
                <a:rPr lang="en-US" sz="5200" b="true">
                  <a:solidFill>
                    <a:srgbClr val="FFFFFF"/>
                  </a:solidFill>
                  <a:latin typeface="Montserrat Bold"/>
                  <a:ea typeface="Montserrat Bold"/>
                  <a:cs typeface="Montserrat Bold"/>
                  <a:sym typeface="Montserrat Bold"/>
                </a:rPr>
                <a:t>Performance Analytics</a:t>
              </a:r>
            </a:p>
          </p:txBody>
        </p:sp>
      </p:grpSp>
      <p:grpSp>
        <p:nvGrpSpPr>
          <p:cNvPr name="Group 9" id="9"/>
          <p:cNvGrpSpPr/>
          <p:nvPr/>
        </p:nvGrpSpPr>
        <p:grpSpPr>
          <a:xfrm rot="0">
            <a:off x="627383" y="2328167"/>
            <a:ext cx="3865883" cy="1214123"/>
            <a:chOff x="0" y="0"/>
            <a:chExt cx="5154511" cy="1618831"/>
          </a:xfrm>
        </p:grpSpPr>
        <p:sp>
          <p:nvSpPr>
            <p:cNvPr name="Freeform 10" id="10"/>
            <p:cNvSpPr/>
            <p:nvPr/>
          </p:nvSpPr>
          <p:spPr>
            <a:xfrm flipH="false" flipV="false" rot="0">
              <a:off x="0" y="0"/>
              <a:ext cx="5154549" cy="1618869"/>
            </a:xfrm>
            <a:custGeom>
              <a:avLst/>
              <a:gdLst/>
              <a:ahLst/>
              <a:cxnLst/>
              <a:rect r="r" b="b" t="t" l="l"/>
              <a:pathLst>
                <a:path h="1618869" w="5154549">
                  <a:moveTo>
                    <a:pt x="0" y="249047"/>
                  </a:moveTo>
                  <a:cubicBezTo>
                    <a:pt x="0" y="111506"/>
                    <a:pt x="111506" y="0"/>
                    <a:pt x="249047" y="0"/>
                  </a:cubicBezTo>
                  <a:lnTo>
                    <a:pt x="4905502" y="0"/>
                  </a:lnTo>
                  <a:cubicBezTo>
                    <a:pt x="5043043" y="0"/>
                    <a:pt x="5154549" y="111506"/>
                    <a:pt x="5154549" y="249047"/>
                  </a:cubicBezTo>
                  <a:lnTo>
                    <a:pt x="5154549" y="1369822"/>
                  </a:lnTo>
                  <a:cubicBezTo>
                    <a:pt x="5154549" y="1507363"/>
                    <a:pt x="5043043" y="1618869"/>
                    <a:pt x="4905502" y="1618869"/>
                  </a:cubicBezTo>
                  <a:lnTo>
                    <a:pt x="249047" y="1618869"/>
                  </a:lnTo>
                  <a:cubicBezTo>
                    <a:pt x="111506" y="1618869"/>
                    <a:pt x="0" y="1507363"/>
                    <a:pt x="0" y="1369822"/>
                  </a:cubicBezTo>
                  <a:close/>
                </a:path>
              </a:pathLst>
            </a:custGeom>
            <a:solidFill>
              <a:srgbClr val="0D9488"/>
            </a:solidFill>
            <a:ln w="25400" cap="sq">
              <a:solidFill>
                <a:srgbClr val="0D9488"/>
              </a:solidFill>
              <a:prstDash val="solid"/>
              <a:miter/>
            </a:ln>
          </p:spPr>
        </p:sp>
      </p:grpSp>
      <p:grpSp>
        <p:nvGrpSpPr>
          <p:cNvPr name="Group 11" id="11"/>
          <p:cNvGrpSpPr/>
          <p:nvPr/>
        </p:nvGrpSpPr>
        <p:grpSpPr>
          <a:xfrm rot="0">
            <a:off x="640080" y="2340864"/>
            <a:ext cx="3840480" cy="1188720"/>
            <a:chOff x="0" y="0"/>
            <a:chExt cx="5120640" cy="1584960"/>
          </a:xfrm>
        </p:grpSpPr>
        <p:sp>
          <p:nvSpPr>
            <p:cNvPr name="Freeform 12" id="12"/>
            <p:cNvSpPr/>
            <p:nvPr/>
          </p:nvSpPr>
          <p:spPr>
            <a:xfrm flipH="false" flipV="false" rot="0">
              <a:off x="0" y="0"/>
              <a:ext cx="5120640" cy="1584960"/>
            </a:xfrm>
            <a:custGeom>
              <a:avLst/>
              <a:gdLst/>
              <a:ahLst/>
              <a:cxnLst/>
              <a:rect r="r" b="b" t="t" l="l"/>
              <a:pathLst>
                <a:path h="1584960" w="5120640">
                  <a:moveTo>
                    <a:pt x="0" y="0"/>
                  </a:moveTo>
                  <a:lnTo>
                    <a:pt x="5120640" y="0"/>
                  </a:lnTo>
                  <a:lnTo>
                    <a:pt x="5120640" y="1584960"/>
                  </a:lnTo>
                  <a:lnTo>
                    <a:pt x="0" y="1584960"/>
                  </a:lnTo>
                  <a:close/>
                </a:path>
              </a:pathLst>
            </a:custGeom>
            <a:blipFill>
              <a:blip r:embed="rId3">
                <a:alphaModFix amt="0"/>
              </a:blip>
              <a:stretch>
                <a:fillRect l="0" t="-12951" r="0" b="-12951"/>
              </a:stretch>
            </a:blipFill>
          </p:spPr>
        </p:sp>
        <p:sp>
          <p:nvSpPr>
            <p:cNvPr name="TextBox 13" id="13"/>
            <p:cNvSpPr txBox="true"/>
            <p:nvPr/>
          </p:nvSpPr>
          <p:spPr>
            <a:xfrm>
              <a:off x="0" y="9525"/>
              <a:ext cx="5120640" cy="1575435"/>
            </a:xfrm>
            <a:prstGeom prst="rect">
              <a:avLst/>
            </a:prstGeom>
          </p:spPr>
          <p:txBody>
            <a:bodyPr anchor="ctr" rtlCol="false" tIns="0" lIns="0" bIns="0" rIns="0"/>
            <a:lstStyle/>
            <a:p>
              <a:pPr algn="ctr">
                <a:lnSpc>
                  <a:spcPts val="2879"/>
                </a:lnSpc>
              </a:pPr>
              <a:r>
                <a:rPr lang="en-US" sz="2400" b="true">
                  <a:solidFill>
                    <a:srgbClr val="FFFFFF"/>
                  </a:solidFill>
                  <a:latin typeface="Proxima Nova Bold"/>
                  <a:ea typeface="Proxima Nova Bold"/>
                  <a:cs typeface="Proxima Nova Bold"/>
                  <a:sym typeface="Proxima Nova Bold"/>
                </a:rPr>
                <a:t>CAGR</a:t>
              </a:r>
            </a:p>
          </p:txBody>
        </p:sp>
      </p:grpSp>
      <p:grpSp>
        <p:nvGrpSpPr>
          <p:cNvPr name="Group 14" id="14"/>
          <p:cNvGrpSpPr/>
          <p:nvPr/>
        </p:nvGrpSpPr>
        <p:grpSpPr>
          <a:xfrm rot="0">
            <a:off x="4925063" y="2328167"/>
            <a:ext cx="3865883" cy="1214123"/>
            <a:chOff x="0" y="0"/>
            <a:chExt cx="5154511" cy="1618831"/>
          </a:xfrm>
        </p:grpSpPr>
        <p:sp>
          <p:nvSpPr>
            <p:cNvPr name="Freeform 15" id="15"/>
            <p:cNvSpPr/>
            <p:nvPr/>
          </p:nvSpPr>
          <p:spPr>
            <a:xfrm flipH="false" flipV="false" rot="0">
              <a:off x="0" y="0"/>
              <a:ext cx="5154549" cy="1618869"/>
            </a:xfrm>
            <a:custGeom>
              <a:avLst/>
              <a:gdLst/>
              <a:ahLst/>
              <a:cxnLst/>
              <a:rect r="r" b="b" t="t" l="l"/>
              <a:pathLst>
                <a:path h="1618869" w="5154549">
                  <a:moveTo>
                    <a:pt x="0" y="249047"/>
                  </a:moveTo>
                  <a:cubicBezTo>
                    <a:pt x="0" y="111506"/>
                    <a:pt x="111506" y="0"/>
                    <a:pt x="249047" y="0"/>
                  </a:cubicBezTo>
                  <a:lnTo>
                    <a:pt x="4905502" y="0"/>
                  </a:lnTo>
                  <a:cubicBezTo>
                    <a:pt x="5043043" y="0"/>
                    <a:pt x="5154549" y="111506"/>
                    <a:pt x="5154549" y="249047"/>
                  </a:cubicBezTo>
                  <a:lnTo>
                    <a:pt x="5154549" y="1369822"/>
                  </a:lnTo>
                  <a:cubicBezTo>
                    <a:pt x="5154549" y="1507363"/>
                    <a:pt x="5043043" y="1618869"/>
                    <a:pt x="4905502" y="1618869"/>
                  </a:cubicBezTo>
                  <a:lnTo>
                    <a:pt x="249047" y="1618869"/>
                  </a:lnTo>
                  <a:cubicBezTo>
                    <a:pt x="111506" y="1618869"/>
                    <a:pt x="0" y="1507363"/>
                    <a:pt x="0" y="1369822"/>
                  </a:cubicBezTo>
                  <a:close/>
                </a:path>
              </a:pathLst>
            </a:custGeom>
            <a:solidFill>
              <a:srgbClr val="0D9488"/>
            </a:solidFill>
            <a:ln w="25400" cap="sq">
              <a:solidFill>
                <a:srgbClr val="0D9488"/>
              </a:solidFill>
              <a:prstDash val="solid"/>
              <a:miter/>
            </a:ln>
          </p:spPr>
        </p:sp>
      </p:grpSp>
      <p:grpSp>
        <p:nvGrpSpPr>
          <p:cNvPr name="Group 16" id="16"/>
          <p:cNvGrpSpPr/>
          <p:nvPr/>
        </p:nvGrpSpPr>
        <p:grpSpPr>
          <a:xfrm rot="0">
            <a:off x="4937760" y="2340864"/>
            <a:ext cx="3840480" cy="1188720"/>
            <a:chOff x="0" y="0"/>
            <a:chExt cx="5120640" cy="1584960"/>
          </a:xfrm>
        </p:grpSpPr>
        <p:sp>
          <p:nvSpPr>
            <p:cNvPr name="Freeform 17" id="17"/>
            <p:cNvSpPr/>
            <p:nvPr/>
          </p:nvSpPr>
          <p:spPr>
            <a:xfrm flipH="false" flipV="false" rot="0">
              <a:off x="0" y="0"/>
              <a:ext cx="5120640" cy="1584960"/>
            </a:xfrm>
            <a:custGeom>
              <a:avLst/>
              <a:gdLst/>
              <a:ahLst/>
              <a:cxnLst/>
              <a:rect r="r" b="b" t="t" l="l"/>
              <a:pathLst>
                <a:path h="1584960" w="5120640">
                  <a:moveTo>
                    <a:pt x="0" y="0"/>
                  </a:moveTo>
                  <a:lnTo>
                    <a:pt x="5120640" y="0"/>
                  </a:lnTo>
                  <a:lnTo>
                    <a:pt x="5120640" y="1584960"/>
                  </a:lnTo>
                  <a:lnTo>
                    <a:pt x="0" y="1584960"/>
                  </a:lnTo>
                  <a:close/>
                </a:path>
              </a:pathLst>
            </a:custGeom>
            <a:blipFill>
              <a:blip r:embed="rId3">
                <a:alphaModFix amt="0"/>
              </a:blip>
              <a:stretch>
                <a:fillRect l="0" t="-12951" r="0" b="-12951"/>
              </a:stretch>
            </a:blipFill>
          </p:spPr>
        </p:sp>
        <p:sp>
          <p:nvSpPr>
            <p:cNvPr name="TextBox 18" id="18"/>
            <p:cNvSpPr txBox="true"/>
            <p:nvPr/>
          </p:nvSpPr>
          <p:spPr>
            <a:xfrm>
              <a:off x="0" y="9525"/>
              <a:ext cx="5120640" cy="1575435"/>
            </a:xfrm>
            <a:prstGeom prst="rect">
              <a:avLst/>
            </a:prstGeom>
          </p:spPr>
          <p:txBody>
            <a:bodyPr anchor="ctr" rtlCol="false" tIns="0" lIns="0" bIns="0" rIns="0"/>
            <a:lstStyle/>
            <a:p>
              <a:pPr algn="ctr">
                <a:lnSpc>
                  <a:spcPts val="2879"/>
                </a:lnSpc>
              </a:pPr>
              <a:r>
                <a:rPr lang="en-US" sz="2400" b="true">
                  <a:solidFill>
                    <a:srgbClr val="FFFFFF"/>
                  </a:solidFill>
                  <a:latin typeface="Proxima Nova Bold"/>
                  <a:ea typeface="Proxima Nova Bold"/>
                  <a:cs typeface="Proxima Nova Bold"/>
                  <a:sym typeface="Proxima Nova Bold"/>
                </a:rPr>
                <a:t>Daily Returns</a:t>
              </a:r>
            </a:p>
          </p:txBody>
        </p:sp>
      </p:grpSp>
      <p:grpSp>
        <p:nvGrpSpPr>
          <p:cNvPr name="Group 19" id="19"/>
          <p:cNvGrpSpPr/>
          <p:nvPr/>
        </p:nvGrpSpPr>
        <p:grpSpPr>
          <a:xfrm rot="0">
            <a:off x="9222743" y="2328167"/>
            <a:ext cx="3865883" cy="1214123"/>
            <a:chOff x="0" y="0"/>
            <a:chExt cx="5154511" cy="1618831"/>
          </a:xfrm>
        </p:grpSpPr>
        <p:sp>
          <p:nvSpPr>
            <p:cNvPr name="Freeform 20" id="20"/>
            <p:cNvSpPr/>
            <p:nvPr/>
          </p:nvSpPr>
          <p:spPr>
            <a:xfrm flipH="false" flipV="false" rot="0">
              <a:off x="0" y="0"/>
              <a:ext cx="5154549" cy="1618869"/>
            </a:xfrm>
            <a:custGeom>
              <a:avLst/>
              <a:gdLst/>
              <a:ahLst/>
              <a:cxnLst/>
              <a:rect r="r" b="b" t="t" l="l"/>
              <a:pathLst>
                <a:path h="1618869" w="5154549">
                  <a:moveTo>
                    <a:pt x="0" y="249047"/>
                  </a:moveTo>
                  <a:cubicBezTo>
                    <a:pt x="0" y="111506"/>
                    <a:pt x="111506" y="0"/>
                    <a:pt x="249047" y="0"/>
                  </a:cubicBezTo>
                  <a:lnTo>
                    <a:pt x="4905502" y="0"/>
                  </a:lnTo>
                  <a:cubicBezTo>
                    <a:pt x="5043043" y="0"/>
                    <a:pt x="5154549" y="111506"/>
                    <a:pt x="5154549" y="249047"/>
                  </a:cubicBezTo>
                  <a:lnTo>
                    <a:pt x="5154549" y="1369822"/>
                  </a:lnTo>
                  <a:cubicBezTo>
                    <a:pt x="5154549" y="1507363"/>
                    <a:pt x="5043043" y="1618869"/>
                    <a:pt x="4905502" y="1618869"/>
                  </a:cubicBezTo>
                  <a:lnTo>
                    <a:pt x="249047" y="1618869"/>
                  </a:lnTo>
                  <a:cubicBezTo>
                    <a:pt x="111506" y="1618869"/>
                    <a:pt x="0" y="1507363"/>
                    <a:pt x="0" y="1369822"/>
                  </a:cubicBezTo>
                  <a:close/>
                </a:path>
              </a:pathLst>
            </a:custGeom>
            <a:solidFill>
              <a:srgbClr val="0D9488"/>
            </a:solidFill>
            <a:ln w="25400" cap="sq">
              <a:solidFill>
                <a:srgbClr val="0D9488"/>
              </a:solidFill>
              <a:prstDash val="solid"/>
              <a:miter/>
            </a:ln>
          </p:spPr>
        </p:sp>
      </p:grpSp>
      <p:grpSp>
        <p:nvGrpSpPr>
          <p:cNvPr name="Group 21" id="21"/>
          <p:cNvGrpSpPr/>
          <p:nvPr/>
        </p:nvGrpSpPr>
        <p:grpSpPr>
          <a:xfrm rot="0">
            <a:off x="9235440" y="2340864"/>
            <a:ext cx="3840480" cy="1188720"/>
            <a:chOff x="0" y="0"/>
            <a:chExt cx="5120640" cy="1584960"/>
          </a:xfrm>
        </p:grpSpPr>
        <p:sp>
          <p:nvSpPr>
            <p:cNvPr name="Freeform 22" id="22"/>
            <p:cNvSpPr/>
            <p:nvPr/>
          </p:nvSpPr>
          <p:spPr>
            <a:xfrm flipH="false" flipV="false" rot="0">
              <a:off x="0" y="0"/>
              <a:ext cx="5120640" cy="1584960"/>
            </a:xfrm>
            <a:custGeom>
              <a:avLst/>
              <a:gdLst/>
              <a:ahLst/>
              <a:cxnLst/>
              <a:rect r="r" b="b" t="t" l="l"/>
              <a:pathLst>
                <a:path h="1584960" w="5120640">
                  <a:moveTo>
                    <a:pt x="0" y="0"/>
                  </a:moveTo>
                  <a:lnTo>
                    <a:pt x="5120640" y="0"/>
                  </a:lnTo>
                  <a:lnTo>
                    <a:pt x="5120640" y="1584960"/>
                  </a:lnTo>
                  <a:lnTo>
                    <a:pt x="0" y="1584960"/>
                  </a:lnTo>
                  <a:close/>
                </a:path>
              </a:pathLst>
            </a:custGeom>
            <a:blipFill>
              <a:blip r:embed="rId3">
                <a:alphaModFix amt="0"/>
              </a:blip>
              <a:stretch>
                <a:fillRect l="0" t="-12951" r="0" b="-12951"/>
              </a:stretch>
            </a:blipFill>
          </p:spPr>
        </p:sp>
        <p:sp>
          <p:nvSpPr>
            <p:cNvPr name="TextBox 23" id="23"/>
            <p:cNvSpPr txBox="true"/>
            <p:nvPr/>
          </p:nvSpPr>
          <p:spPr>
            <a:xfrm>
              <a:off x="0" y="9525"/>
              <a:ext cx="5120640" cy="1575435"/>
            </a:xfrm>
            <a:prstGeom prst="rect">
              <a:avLst/>
            </a:prstGeom>
          </p:spPr>
          <p:txBody>
            <a:bodyPr anchor="ctr" rtlCol="false" tIns="0" lIns="0" bIns="0" rIns="0"/>
            <a:lstStyle/>
            <a:p>
              <a:pPr algn="ctr">
                <a:lnSpc>
                  <a:spcPts val="2879"/>
                </a:lnSpc>
              </a:pPr>
              <a:r>
                <a:rPr lang="en-US" sz="2400" b="true">
                  <a:solidFill>
                    <a:srgbClr val="FFFFFF"/>
                  </a:solidFill>
                  <a:latin typeface="Proxima Nova Bold"/>
                  <a:ea typeface="Proxima Nova Bold"/>
                  <a:cs typeface="Proxima Nova Bold"/>
                  <a:sym typeface="Proxima Nova Bold"/>
                </a:rPr>
                <a:t>Sharpe Ratio</a:t>
              </a:r>
            </a:p>
          </p:txBody>
        </p:sp>
      </p:grpSp>
      <p:grpSp>
        <p:nvGrpSpPr>
          <p:cNvPr name="Group 24" id="24"/>
          <p:cNvGrpSpPr/>
          <p:nvPr/>
        </p:nvGrpSpPr>
        <p:grpSpPr>
          <a:xfrm rot="0">
            <a:off x="13520423" y="2328167"/>
            <a:ext cx="3865883" cy="1214123"/>
            <a:chOff x="0" y="0"/>
            <a:chExt cx="5154511" cy="1618831"/>
          </a:xfrm>
        </p:grpSpPr>
        <p:sp>
          <p:nvSpPr>
            <p:cNvPr name="Freeform 25" id="25"/>
            <p:cNvSpPr/>
            <p:nvPr/>
          </p:nvSpPr>
          <p:spPr>
            <a:xfrm flipH="false" flipV="false" rot="0">
              <a:off x="0" y="0"/>
              <a:ext cx="5154549" cy="1618869"/>
            </a:xfrm>
            <a:custGeom>
              <a:avLst/>
              <a:gdLst/>
              <a:ahLst/>
              <a:cxnLst/>
              <a:rect r="r" b="b" t="t" l="l"/>
              <a:pathLst>
                <a:path h="1618869" w="5154549">
                  <a:moveTo>
                    <a:pt x="0" y="249047"/>
                  </a:moveTo>
                  <a:cubicBezTo>
                    <a:pt x="0" y="111506"/>
                    <a:pt x="111506" y="0"/>
                    <a:pt x="249047" y="0"/>
                  </a:cubicBezTo>
                  <a:lnTo>
                    <a:pt x="4905502" y="0"/>
                  </a:lnTo>
                  <a:cubicBezTo>
                    <a:pt x="5043043" y="0"/>
                    <a:pt x="5154549" y="111506"/>
                    <a:pt x="5154549" y="249047"/>
                  </a:cubicBezTo>
                  <a:lnTo>
                    <a:pt x="5154549" y="1369822"/>
                  </a:lnTo>
                  <a:cubicBezTo>
                    <a:pt x="5154549" y="1507363"/>
                    <a:pt x="5043043" y="1618869"/>
                    <a:pt x="4905502" y="1618869"/>
                  </a:cubicBezTo>
                  <a:lnTo>
                    <a:pt x="249047" y="1618869"/>
                  </a:lnTo>
                  <a:cubicBezTo>
                    <a:pt x="111506" y="1618869"/>
                    <a:pt x="0" y="1507363"/>
                    <a:pt x="0" y="1369822"/>
                  </a:cubicBezTo>
                  <a:close/>
                </a:path>
              </a:pathLst>
            </a:custGeom>
            <a:solidFill>
              <a:srgbClr val="0D9488"/>
            </a:solidFill>
            <a:ln w="25400" cap="sq">
              <a:solidFill>
                <a:srgbClr val="0D9488"/>
              </a:solidFill>
              <a:prstDash val="solid"/>
              <a:miter/>
            </a:ln>
          </p:spPr>
        </p:sp>
      </p:grpSp>
      <p:grpSp>
        <p:nvGrpSpPr>
          <p:cNvPr name="Group 26" id="26"/>
          <p:cNvGrpSpPr/>
          <p:nvPr/>
        </p:nvGrpSpPr>
        <p:grpSpPr>
          <a:xfrm rot="0">
            <a:off x="13533120" y="2340864"/>
            <a:ext cx="3840480" cy="1188720"/>
            <a:chOff x="0" y="0"/>
            <a:chExt cx="5120640" cy="1584960"/>
          </a:xfrm>
        </p:grpSpPr>
        <p:sp>
          <p:nvSpPr>
            <p:cNvPr name="Freeform 27" id="27"/>
            <p:cNvSpPr/>
            <p:nvPr/>
          </p:nvSpPr>
          <p:spPr>
            <a:xfrm flipH="false" flipV="false" rot="0">
              <a:off x="0" y="0"/>
              <a:ext cx="5120640" cy="1584960"/>
            </a:xfrm>
            <a:custGeom>
              <a:avLst/>
              <a:gdLst/>
              <a:ahLst/>
              <a:cxnLst/>
              <a:rect r="r" b="b" t="t" l="l"/>
              <a:pathLst>
                <a:path h="1584960" w="5120640">
                  <a:moveTo>
                    <a:pt x="0" y="0"/>
                  </a:moveTo>
                  <a:lnTo>
                    <a:pt x="5120640" y="0"/>
                  </a:lnTo>
                  <a:lnTo>
                    <a:pt x="5120640" y="1584960"/>
                  </a:lnTo>
                  <a:lnTo>
                    <a:pt x="0" y="1584960"/>
                  </a:lnTo>
                  <a:close/>
                </a:path>
              </a:pathLst>
            </a:custGeom>
            <a:blipFill>
              <a:blip r:embed="rId3">
                <a:alphaModFix amt="0"/>
              </a:blip>
              <a:stretch>
                <a:fillRect l="0" t="-12951" r="0" b="-12951"/>
              </a:stretch>
            </a:blipFill>
          </p:spPr>
        </p:sp>
        <p:sp>
          <p:nvSpPr>
            <p:cNvPr name="TextBox 28" id="28"/>
            <p:cNvSpPr txBox="true"/>
            <p:nvPr/>
          </p:nvSpPr>
          <p:spPr>
            <a:xfrm>
              <a:off x="0" y="9525"/>
              <a:ext cx="5120640" cy="1575435"/>
            </a:xfrm>
            <a:prstGeom prst="rect">
              <a:avLst/>
            </a:prstGeom>
          </p:spPr>
          <p:txBody>
            <a:bodyPr anchor="ctr" rtlCol="false" tIns="0" lIns="0" bIns="0" rIns="0"/>
            <a:lstStyle/>
            <a:p>
              <a:pPr algn="ctr">
                <a:lnSpc>
                  <a:spcPts val="2879"/>
                </a:lnSpc>
              </a:pPr>
              <a:r>
                <a:rPr lang="en-US" sz="2400" b="true">
                  <a:solidFill>
                    <a:srgbClr val="FFFFFF"/>
                  </a:solidFill>
                  <a:latin typeface="Proxima Nova Bold"/>
                  <a:ea typeface="Proxima Nova Bold"/>
                  <a:cs typeface="Proxima Nova Bold"/>
                  <a:sym typeface="Proxima Nova Bold"/>
                </a:rPr>
                <a:t>Sortino Ratio</a:t>
              </a:r>
            </a:p>
          </p:txBody>
        </p:sp>
      </p:grpSp>
      <p:grpSp>
        <p:nvGrpSpPr>
          <p:cNvPr name="Group 29" id="29"/>
          <p:cNvGrpSpPr/>
          <p:nvPr/>
        </p:nvGrpSpPr>
        <p:grpSpPr>
          <a:xfrm rot="0">
            <a:off x="640080" y="3840480"/>
            <a:ext cx="8046720" cy="694944"/>
            <a:chOff x="0" y="0"/>
            <a:chExt cx="10728960" cy="926592"/>
          </a:xfrm>
        </p:grpSpPr>
        <p:sp>
          <p:nvSpPr>
            <p:cNvPr name="Freeform 30" id="30"/>
            <p:cNvSpPr/>
            <p:nvPr/>
          </p:nvSpPr>
          <p:spPr>
            <a:xfrm flipH="false" flipV="false" rot="0">
              <a:off x="0" y="0"/>
              <a:ext cx="10728960" cy="926592"/>
            </a:xfrm>
            <a:custGeom>
              <a:avLst/>
              <a:gdLst/>
              <a:ahLst/>
              <a:cxnLst/>
              <a:rect r="r" b="b" t="t" l="l"/>
              <a:pathLst>
                <a:path h="926592" w="10728960">
                  <a:moveTo>
                    <a:pt x="0" y="0"/>
                  </a:moveTo>
                  <a:lnTo>
                    <a:pt x="10728960" y="0"/>
                  </a:lnTo>
                  <a:lnTo>
                    <a:pt x="10728960" y="926592"/>
                  </a:lnTo>
                  <a:lnTo>
                    <a:pt x="0" y="926592"/>
                  </a:lnTo>
                  <a:close/>
                </a:path>
              </a:pathLst>
            </a:custGeom>
            <a:blipFill>
              <a:blip r:embed="rId3">
                <a:alphaModFix amt="0"/>
              </a:blip>
              <a:stretch>
                <a:fillRect l="0" t="-175616" r="0" b="-175616"/>
              </a:stretch>
            </a:blipFill>
          </p:spPr>
        </p:sp>
        <p:sp>
          <p:nvSpPr>
            <p:cNvPr name="TextBox 31" id="31"/>
            <p:cNvSpPr txBox="true"/>
            <p:nvPr/>
          </p:nvSpPr>
          <p:spPr>
            <a:xfrm>
              <a:off x="0" y="9525"/>
              <a:ext cx="10728960" cy="917067"/>
            </a:xfrm>
            <a:prstGeom prst="rect">
              <a:avLst/>
            </a:prstGeom>
          </p:spPr>
          <p:txBody>
            <a:bodyPr anchor="ctr" rtlCol="false" tIns="0" lIns="0" bIns="0" rIns="0"/>
            <a:lstStyle/>
            <a:p>
              <a:pPr algn="l">
                <a:lnSpc>
                  <a:spcPts val="3359"/>
                </a:lnSpc>
              </a:pPr>
              <a:r>
                <a:rPr lang="en-US" sz="2799" b="true">
                  <a:solidFill>
                    <a:srgbClr val="0D1B2A"/>
                  </a:solidFill>
                  <a:latin typeface="Montserrat Bold"/>
                  <a:ea typeface="Montserrat Bold"/>
                  <a:cs typeface="Montserrat Bold"/>
                  <a:sym typeface="Montserrat Bold"/>
                </a:rPr>
                <a:t>Key Insights</a:t>
              </a:r>
            </a:p>
          </p:txBody>
        </p:sp>
      </p:grpSp>
      <p:grpSp>
        <p:nvGrpSpPr>
          <p:cNvPr name="Group 32" id="32"/>
          <p:cNvGrpSpPr/>
          <p:nvPr/>
        </p:nvGrpSpPr>
        <p:grpSpPr>
          <a:xfrm rot="0">
            <a:off x="627383" y="4650743"/>
            <a:ext cx="8072123" cy="1520657"/>
            <a:chOff x="0" y="0"/>
            <a:chExt cx="10762831" cy="2027543"/>
          </a:xfrm>
        </p:grpSpPr>
        <p:sp>
          <p:nvSpPr>
            <p:cNvPr name="Freeform 33" id="33"/>
            <p:cNvSpPr/>
            <p:nvPr/>
          </p:nvSpPr>
          <p:spPr>
            <a:xfrm flipH="false" flipV="false" rot="0">
              <a:off x="0" y="0"/>
              <a:ext cx="10762869" cy="2027581"/>
            </a:xfrm>
            <a:custGeom>
              <a:avLst/>
              <a:gdLst/>
              <a:ahLst/>
              <a:cxnLst/>
              <a:rect r="r" b="b" t="t" l="l"/>
              <a:pathLst>
                <a:path h="2027581" w="10762869">
                  <a:moveTo>
                    <a:pt x="0" y="311924"/>
                  </a:moveTo>
                  <a:cubicBezTo>
                    <a:pt x="0" y="139644"/>
                    <a:pt x="89662" y="0"/>
                    <a:pt x="200279" y="0"/>
                  </a:cubicBezTo>
                  <a:lnTo>
                    <a:pt x="10562590" y="0"/>
                  </a:lnTo>
                  <a:cubicBezTo>
                    <a:pt x="10673207" y="0"/>
                    <a:pt x="10762869" y="139644"/>
                    <a:pt x="10762869" y="311924"/>
                  </a:cubicBezTo>
                  <a:lnTo>
                    <a:pt x="10762869" y="1715679"/>
                  </a:lnTo>
                  <a:cubicBezTo>
                    <a:pt x="10762869" y="1887959"/>
                    <a:pt x="10673207" y="2027581"/>
                    <a:pt x="10562590" y="2027581"/>
                  </a:cubicBezTo>
                  <a:lnTo>
                    <a:pt x="200279" y="2027581"/>
                  </a:lnTo>
                  <a:cubicBezTo>
                    <a:pt x="89662" y="2027581"/>
                    <a:pt x="0" y="1887959"/>
                    <a:pt x="0" y="1715679"/>
                  </a:cubicBezTo>
                  <a:close/>
                </a:path>
              </a:pathLst>
            </a:custGeom>
            <a:solidFill>
              <a:srgbClr val="FFFFFF"/>
            </a:solidFill>
            <a:ln w="25400" cap="sq">
              <a:solidFill>
                <a:srgbClr val="CBD5E1"/>
              </a:solidFill>
              <a:prstDash val="solid"/>
              <a:miter/>
            </a:ln>
          </p:spPr>
        </p:sp>
      </p:grpSp>
      <p:grpSp>
        <p:nvGrpSpPr>
          <p:cNvPr name="Group 34" id="34"/>
          <p:cNvGrpSpPr/>
          <p:nvPr/>
        </p:nvGrpSpPr>
        <p:grpSpPr>
          <a:xfrm rot="0">
            <a:off x="676656" y="4670518"/>
            <a:ext cx="768096" cy="1481093"/>
            <a:chOff x="0" y="0"/>
            <a:chExt cx="1024128" cy="1974791"/>
          </a:xfrm>
        </p:grpSpPr>
        <p:sp>
          <p:nvSpPr>
            <p:cNvPr name="Freeform 35" id="35"/>
            <p:cNvSpPr/>
            <p:nvPr/>
          </p:nvSpPr>
          <p:spPr>
            <a:xfrm flipH="false" flipV="false" rot="0">
              <a:off x="0" y="0"/>
              <a:ext cx="1024128" cy="1974791"/>
            </a:xfrm>
            <a:custGeom>
              <a:avLst/>
              <a:gdLst/>
              <a:ahLst/>
              <a:cxnLst/>
              <a:rect r="r" b="b" t="t" l="l"/>
              <a:pathLst>
                <a:path h="1974791" w="1024128">
                  <a:moveTo>
                    <a:pt x="0" y="0"/>
                  </a:moveTo>
                  <a:lnTo>
                    <a:pt x="1024128" y="0"/>
                  </a:lnTo>
                  <a:lnTo>
                    <a:pt x="1024128" y="1974791"/>
                  </a:lnTo>
                  <a:lnTo>
                    <a:pt x="0" y="1974791"/>
                  </a:lnTo>
                  <a:close/>
                </a:path>
              </a:pathLst>
            </a:custGeom>
            <a:blipFill>
              <a:blip r:embed="rId3">
                <a:alphaModFix amt="0"/>
              </a:blip>
              <a:stretch>
                <a:fillRect l="-108852" t="0" r="-108852" b="35792"/>
              </a:stretch>
            </a:blipFill>
          </p:spPr>
        </p:sp>
        <p:sp>
          <p:nvSpPr>
            <p:cNvPr name="TextBox 36" id="36"/>
            <p:cNvSpPr txBox="true"/>
            <p:nvPr/>
          </p:nvSpPr>
          <p:spPr>
            <a:xfrm>
              <a:off x="0" y="0"/>
              <a:ext cx="1024128" cy="1974791"/>
            </a:xfrm>
            <a:prstGeom prst="rect">
              <a:avLst/>
            </a:prstGeom>
          </p:spPr>
          <p:txBody>
            <a:bodyPr anchor="ctr" rtlCol="false" tIns="0" lIns="0" bIns="0" rIns="0"/>
            <a:lstStyle/>
            <a:p>
              <a:pPr algn="ctr">
                <a:lnSpc>
                  <a:spcPts val="3359"/>
                </a:lnSpc>
              </a:pPr>
              <a:r>
                <a:rPr lang="en-US" sz="2799" b="true">
                  <a:solidFill>
                    <a:srgbClr val="0D9488"/>
                  </a:solidFill>
                  <a:latin typeface="Proxima Nova Bold"/>
                  <a:ea typeface="Proxima Nova Bold"/>
                  <a:cs typeface="Proxima Nova Bold"/>
                  <a:sym typeface="Proxima Nova Bold"/>
                </a:rPr>
                <a:t>1</a:t>
              </a:r>
            </a:p>
          </p:txBody>
        </p:sp>
      </p:grpSp>
      <p:grpSp>
        <p:nvGrpSpPr>
          <p:cNvPr name="Group 37" id="37"/>
          <p:cNvGrpSpPr/>
          <p:nvPr/>
        </p:nvGrpSpPr>
        <p:grpSpPr>
          <a:xfrm rot="0">
            <a:off x="1499616" y="4670518"/>
            <a:ext cx="6949440" cy="1481093"/>
            <a:chOff x="0" y="0"/>
            <a:chExt cx="9265920" cy="1974791"/>
          </a:xfrm>
        </p:grpSpPr>
        <p:sp>
          <p:nvSpPr>
            <p:cNvPr name="Freeform 38" id="38"/>
            <p:cNvSpPr/>
            <p:nvPr/>
          </p:nvSpPr>
          <p:spPr>
            <a:xfrm flipH="false" flipV="false" rot="0">
              <a:off x="0" y="0"/>
              <a:ext cx="9265920" cy="1974791"/>
            </a:xfrm>
            <a:custGeom>
              <a:avLst/>
              <a:gdLst/>
              <a:ahLst/>
              <a:cxnLst/>
              <a:rect r="r" b="b" t="t" l="l"/>
              <a:pathLst>
                <a:path h="1974791" w="9265920">
                  <a:moveTo>
                    <a:pt x="0" y="0"/>
                  </a:moveTo>
                  <a:lnTo>
                    <a:pt x="9265920" y="0"/>
                  </a:lnTo>
                  <a:lnTo>
                    <a:pt x="9265920" y="1974791"/>
                  </a:lnTo>
                  <a:lnTo>
                    <a:pt x="0" y="1974791"/>
                  </a:lnTo>
                  <a:close/>
                </a:path>
              </a:pathLst>
            </a:custGeom>
            <a:blipFill>
              <a:blip r:embed="rId3">
                <a:alphaModFix amt="0"/>
              </a:blip>
              <a:stretch>
                <a:fillRect l="0" t="-59321" r="0" b="-23529"/>
              </a:stretch>
            </a:blipFill>
          </p:spPr>
        </p:sp>
        <p:sp>
          <p:nvSpPr>
            <p:cNvPr name="TextBox 39" id="39"/>
            <p:cNvSpPr txBox="true"/>
            <p:nvPr/>
          </p:nvSpPr>
          <p:spPr>
            <a:xfrm>
              <a:off x="0" y="0"/>
              <a:ext cx="9265920" cy="1974791"/>
            </a:xfrm>
            <a:prstGeom prst="rect">
              <a:avLst/>
            </a:prstGeom>
          </p:spPr>
          <p:txBody>
            <a:bodyPr anchor="ctr" rtlCol="false" tIns="0" lIns="0" bIns="0" rIns="0"/>
            <a:lstStyle/>
            <a:p>
              <a:pPr algn="l">
                <a:lnSpc>
                  <a:spcPts val="2640"/>
                </a:lnSpc>
              </a:pPr>
              <a:r>
                <a:rPr lang="en-US" sz="2200">
                  <a:solidFill>
                    <a:srgbClr val="1E293B"/>
                  </a:solidFill>
                  <a:latin typeface="Proxima Nova"/>
                  <a:ea typeface="Proxima Nova"/>
                  <a:cs typeface="Proxima Nova"/>
                  <a:sym typeface="Proxima Nova"/>
                </a:rPr>
                <a:t>High Sharpe ratio funds delivered superior risk-adjusted returns</a:t>
              </a:r>
            </a:p>
          </p:txBody>
        </p:sp>
      </p:grpSp>
      <p:grpSp>
        <p:nvGrpSpPr>
          <p:cNvPr name="Group 40" id="40"/>
          <p:cNvGrpSpPr/>
          <p:nvPr/>
        </p:nvGrpSpPr>
        <p:grpSpPr>
          <a:xfrm rot="0">
            <a:off x="627383" y="6416662"/>
            <a:ext cx="8072123" cy="1520657"/>
            <a:chOff x="0" y="0"/>
            <a:chExt cx="10762831" cy="2027543"/>
          </a:xfrm>
        </p:grpSpPr>
        <p:sp>
          <p:nvSpPr>
            <p:cNvPr name="Freeform 41" id="41"/>
            <p:cNvSpPr/>
            <p:nvPr/>
          </p:nvSpPr>
          <p:spPr>
            <a:xfrm flipH="false" flipV="false" rot="0">
              <a:off x="0" y="0"/>
              <a:ext cx="10762869" cy="2027581"/>
            </a:xfrm>
            <a:custGeom>
              <a:avLst/>
              <a:gdLst/>
              <a:ahLst/>
              <a:cxnLst/>
              <a:rect r="r" b="b" t="t" l="l"/>
              <a:pathLst>
                <a:path h="2027581" w="10762869">
                  <a:moveTo>
                    <a:pt x="0" y="311924"/>
                  </a:moveTo>
                  <a:cubicBezTo>
                    <a:pt x="0" y="139644"/>
                    <a:pt x="89662" y="0"/>
                    <a:pt x="200279" y="0"/>
                  </a:cubicBezTo>
                  <a:lnTo>
                    <a:pt x="10562590" y="0"/>
                  </a:lnTo>
                  <a:cubicBezTo>
                    <a:pt x="10673207" y="0"/>
                    <a:pt x="10762869" y="139644"/>
                    <a:pt x="10762869" y="311924"/>
                  </a:cubicBezTo>
                  <a:lnTo>
                    <a:pt x="10762869" y="1715679"/>
                  </a:lnTo>
                  <a:cubicBezTo>
                    <a:pt x="10762869" y="1887959"/>
                    <a:pt x="10673207" y="2027581"/>
                    <a:pt x="10562590" y="2027581"/>
                  </a:cubicBezTo>
                  <a:lnTo>
                    <a:pt x="200279" y="2027581"/>
                  </a:lnTo>
                  <a:cubicBezTo>
                    <a:pt x="89662" y="2027581"/>
                    <a:pt x="0" y="1887959"/>
                    <a:pt x="0" y="1715679"/>
                  </a:cubicBezTo>
                  <a:close/>
                </a:path>
              </a:pathLst>
            </a:custGeom>
            <a:solidFill>
              <a:srgbClr val="FFFFFF"/>
            </a:solidFill>
            <a:ln w="25400" cap="sq">
              <a:solidFill>
                <a:srgbClr val="CBD5E1"/>
              </a:solidFill>
              <a:prstDash val="solid"/>
              <a:miter/>
            </a:ln>
          </p:spPr>
        </p:sp>
      </p:grpSp>
      <p:grpSp>
        <p:nvGrpSpPr>
          <p:cNvPr name="Group 42" id="42"/>
          <p:cNvGrpSpPr/>
          <p:nvPr/>
        </p:nvGrpSpPr>
        <p:grpSpPr>
          <a:xfrm rot="0">
            <a:off x="676656" y="6436437"/>
            <a:ext cx="768096" cy="1481093"/>
            <a:chOff x="0" y="0"/>
            <a:chExt cx="1024128" cy="1974791"/>
          </a:xfrm>
        </p:grpSpPr>
        <p:sp>
          <p:nvSpPr>
            <p:cNvPr name="Freeform 43" id="43"/>
            <p:cNvSpPr/>
            <p:nvPr/>
          </p:nvSpPr>
          <p:spPr>
            <a:xfrm flipH="false" flipV="false" rot="0">
              <a:off x="0" y="0"/>
              <a:ext cx="1024128" cy="1974791"/>
            </a:xfrm>
            <a:custGeom>
              <a:avLst/>
              <a:gdLst/>
              <a:ahLst/>
              <a:cxnLst/>
              <a:rect r="r" b="b" t="t" l="l"/>
              <a:pathLst>
                <a:path h="1974791" w="1024128">
                  <a:moveTo>
                    <a:pt x="0" y="0"/>
                  </a:moveTo>
                  <a:lnTo>
                    <a:pt x="1024128" y="0"/>
                  </a:lnTo>
                  <a:lnTo>
                    <a:pt x="1024128" y="1974791"/>
                  </a:lnTo>
                  <a:lnTo>
                    <a:pt x="0" y="1974791"/>
                  </a:lnTo>
                  <a:close/>
                </a:path>
              </a:pathLst>
            </a:custGeom>
            <a:blipFill>
              <a:blip r:embed="rId3">
                <a:alphaModFix amt="0"/>
              </a:blip>
              <a:stretch>
                <a:fillRect l="-108852" t="0" r="-108852" b="35792"/>
              </a:stretch>
            </a:blipFill>
          </p:spPr>
        </p:sp>
        <p:sp>
          <p:nvSpPr>
            <p:cNvPr name="TextBox 44" id="44"/>
            <p:cNvSpPr txBox="true"/>
            <p:nvPr/>
          </p:nvSpPr>
          <p:spPr>
            <a:xfrm>
              <a:off x="0" y="0"/>
              <a:ext cx="1024128" cy="1974791"/>
            </a:xfrm>
            <a:prstGeom prst="rect">
              <a:avLst/>
            </a:prstGeom>
          </p:spPr>
          <p:txBody>
            <a:bodyPr anchor="ctr" rtlCol="false" tIns="0" lIns="0" bIns="0" rIns="0"/>
            <a:lstStyle/>
            <a:p>
              <a:pPr algn="ctr">
                <a:lnSpc>
                  <a:spcPts val="3359"/>
                </a:lnSpc>
              </a:pPr>
              <a:r>
                <a:rPr lang="en-US" sz="2799" b="true">
                  <a:solidFill>
                    <a:srgbClr val="0D9488"/>
                  </a:solidFill>
                  <a:latin typeface="Proxima Nova Bold"/>
                  <a:ea typeface="Proxima Nova Bold"/>
                  <a:cs typeface="Proxima Nova Bold"/>
                  <a:sym typeface="Proxima Nova Bold"/>
                </a:rPr>
                <a:t>2</a:t>
              </a:r>
            </a:p>
          </p:txBody>
        </p:sp>
      </p:grpSp>
      <p:grpSp>
        <p:nvGrpSpPr>
          <p:cNvPr name="Group 45" id="45"/>
          <p:cNvGrpSpPr/>
          <p:nvPr/>
        </p:nvGrpSpPr>
        <p:grpSpPr>
          <a:xfrm rot="0">
            <a:off x="1499616" y="6436437"/>
            <a:ext cx="6949440" cy="1481093"/>
            <a:chOff x="0" y="0"/>
            <a:chExt cx="9265920" cy="1974791"/>
          </a:xfrm>
        </p:grpSpPr>
        <p:sp>
          <p:nvSpPr>
            <p:cNvPr name="Freeform 46" id="46"/>
            <p:cNvSpPr/>
            <p:nvPr/>
          </p:nvSpPr>
          <p:spPr>
            <a:xfrm flipH="false" flipV="false" rot="0">
              <a:off x="0" y="0"/>
              <a:ext cx="9265920" cy="1974791"/>
            </a:xfrm>
            <a:custGeom>
              <a:avLst/>
              <a:gdLst/>
              <a:ahLst/>
              <a:cxnLst/>
              <a:rect r="r" b="b" t="t" l="l"/>
              <a:pathLst>
                <a:path h="1974791" w="9265920">
                  <a:moveTo>
                    <a:pt x="0" y="0"/>
                  </a:moveTo>
                  <a:lnTo>
                    <a:pt x="9265920" y="0"/>
                  </a:lnTo>
                  <a:lnTo>
                    <a:pt x="9265920" y="1974791"/>
                  </a:lnTo>
                  <a:lnTo>
                    <a:pt x="0" y="1974791"/>
                  </a:lnTo>
                  <a:close/>
                </a:path>
              </a:pathLst>
            </a:custGeom>
            <a:blipFill>
              <a:blip r:embed="rId3">
                <a:alphaModFix amt="0"/>
              </a:blip>
              <a:stretch>
                <a:fillRect l="0" t="-59321" r="0" b="-23529"/>
              </a:stretch>
            </a:blipFill>
          </p:spPr>
        </p:sp>
        <p:sp>
          <p:nvSpPr>
            <p:cNvPr name="TextBox 47" id="47"/>
            <p:cNvSpPr txBox="true"/>
            <p:nvPr/>
          </p:nvSpPr>
          <p:spPr>
            <a:xfrm>
              <a:off x="0" y="0"/>
              <a:ext cx="9265920" cy="1974791"/>
            </a:xfrm>
            <a:prstGeom prst="rect">
              <a:avLst/>
            </a:prstGeom>
          </p:spPr>
          <p:txBody>
            <a:bodyPr anchor="ctr" rtlCol="false" tIns="0" lIns="0" bIns="0" rIns="0"/>
            <a:lstStyle/>
            <a:p>
              <a:pPr algn="l">
                <a:lnSpc>
                  <a:spcPts val="2640"/>
                </a:lnSpc>
              </a:pPr>
              <a:r>
                <a:rPr lang="en-US" sz="2200">
                  <a:solidFill>
                    <a:srgbClr val="1E293B"/>
                  </a:solidFill>
                  <a:latin typeface="Proxima Nova"/>
                  <a:ea typeface="Proxima Nova"/>
                  <a:cs typeface="Proxima Nova"/>
                  <a:sym typeface="Proxima Nova"/>
                </a:rPr>
                <a:t>Consistent performers outperformed peers across multiple periods</a:t>
              </a:r>
            </a:p>
          </p:txBody>
        </p:sp>
      </p:grpSp>
      <p:grpSp>
        <p:nvGrpSpPr>
          <p:cNvPr name="Group 48" id="48"/>
          <p:cNvGrpSpPr/>
          <p:nvPr/>
        </p:nvGrpSpPr>
        <p:grpSpPr>
          <a:xfrm rot="0">
            <a:off x="627383" y="8182581"/>
            <a:ext cx="8072123" cy="1520657"/>
            <a:chOff x="0" y="0"/>
            <a:chExt cx="10762831" cy="2027543"/>
          </a:xfrm>
        </p:grpSpPr>
        <p:sp>
          <p:nvSpPr>
            <p:cNvPr name="Freeform 49" id="49"/>
            <p:cNvSpPr/>
            <p:nvPr/>
          </p:nvSpPr>
          <p:spPr>
            <a:xfrm flipH="false" flipV="false" rot="0">
              <a:off x="0" y="0"/>
              <a:ext cx="10762869" cy="2027581"/>
            </a:xfrm>
            <a:custGeom>
              <a:avLst/>
              <a:gdLst/>
              <a:ahLst/>
              <a:cxnLst/>
              <a:rect r="r" b="b" t="t" l="l"/>
              <a:pathLst>
                <a:path h="2027581" w="10762869">
                  <a:moveTo>
                    <a:pt x="0" y="311924"/>
                  </a:moveTo>
                  <a:cubicBezTo>
                    <a:pt x="0" y="139644"/>
                    <a:pt x="89662" y="0"/>
                    <a:pt x="200279" y="0"/>
                  </a:cubicBezTo>
                  <a:lnTo>
                    <a:pt x="10562590" y="0"/>
                  </a:lnTo>
                  <a:cubicBezTo>
                    <a:pt x="10673207" y="0"/>
                    <a:pt x="10762869" y="139644"/>
                    <a:pt x="10762869" y="311924"/>
                  </a:cubicBezTo>
                  <a:lnTo>
                    <a:pt x="10762869" y="1715679"/>
                  </a:lnTo>
                  <a:cubicBezTo>
                    <a:pt x="10762869" y="1887959"/>
                    <a:pt x="10673207" y="2027581"/>
                    <a:pt x="10562590" y="2027581"/>
                  </a:cubicBezTo>
                  <a:lnTo>
                    <a:pt x="200279" y="2027581"/>
                  </a:lnTo>
                  <a:cubicBezTo>
                    <a:pt x="89662" y="2027581"/>
                    <a:pt x="0" y="1887959"/>
                    <a:pt x="0" y="1715679"/>
                  </a:cubicBezTo>
                  <a:close/>
                </a:path>
              </a:pathLst>
            </a:custGeom>
            <a:solidFill>
              <a:srgbClr val="FFFFFF"/>
            </a:solidFill>
            <a:ln w="25400" cap="sq">
              <a:solidFill>
                <a:srgbClr val="CBD5E1"/>
              </a:solidFill>
              <a:prstDash val="solid"/>
              <a:miter/>
            </a:ln>
          </p:spPr>
        </p:sp>
      </p:grpSp>
      <p:grpSp>
        <p:nvGrpSpPr>
          <p:cNvPr name="Group 50" id="50"/>
          <p:cNvGrpSpPr/>
          <p:nvPr/>
        </p:nvGrpSpPr>
        <p:grpSpPr>
          <a:xfrm rot="0">
            <a:off x="676656" y="8202356"/>
            <a:ext cx="768096" cy="1481093"/>
            <a:chOff x="0" y="0"/>
            <a:chExt cx="1024128" cy="1974791"/>
          </a:xfrm>
        </p:grpSpPr>
        <p:sp>
          <p:nvSpPr>
            <p:cNvPr name="Freeform 51" id="51"/>
            <p:cNvSpPr/>
            <p:nvPr/>
          </p:nvSpPr>
          <p:spPr>
            <a:xfrm flipH="false" flipV="false" rot="0">
              <a:off x="0" y="0"/>
              <a:ext cx="1024128" cy="1974791"/>
            </a:xfrm>
            <a:custGeom>
              <a:avLst/>
              <a:gdLst/>
              <a:ahLst/>
              <a:cxnLst/>
              <a:rect r="r" b="b" t="t" l="l"/>
              <a:pathLst>
                <a:path h="1974791" w="1024128">
                  <a:moveTo>
                    <a:pt x="0" y="0"/>
                  </a:moveTo>
                  <a:lnTo>
                    <a:pt x="1024128" y="0"/>
                  </a:lnTo>
                  <a:lnTo>
                    <a:pt x="1024128" y="1974791"/>
                  </a:lnTo>
                  <a:lnTo>
                    <a:pt x="0" y="1974791"/>
                  </a:lnTo>
                  <a:close/>
                </a:path>
              </a:pathLst>
            </a:custGeom>
            <a:blipFill>
              <a:blip r:embed="rId3">
                <a:alphaModFix amt="0"/>
              </a:blip>
              <a:stretch>
                <a:fillRect l="-108852" t="0" r="-108852" b="35792"/>
              </a:stretch>
            </a:blipFill>
          </p:spPr>
        </p:sp>
        <p:sp>
          <p:nvSpPr>
            <p:cNvPr name="TextBox 52" id="52"/>
            <p:cNvSpPr txBox="true"/>
            <p:nvPr/>
          </p:nvSpPr>
          <p:spPr>
            <a:xfrm>
              <a:off x="0" y="0"/>
              <a:ext cx="1024128" cy="1974791"/>
            </a:xfrm>
            <a:prstGeom prst="rect">
              <a:avLst/>
            </a:prstGeom>
          </p:spPr>
          <p:txBody>
            <a:bodyPr anchor="ctr" rtlCol="false" tIns="0" lIns="0" bIns="0" rIns="0"/>
            <a:lstStyle/>
            <a:p>
              <a:pPr algn="ctr">
                <a:lnSpc>
                  <a:spcPts val="3359"/>
                </a:lnSpc>
              </a:pPr>
              <a:r>
                <a:rPr lang="en-US" sz="2799" b="true">
                  <a:solidFill>
                    <a:srgbClr val="0D9488"/>
                  </a:solidFill>
                  <a:latin typeface="Proxima Nova Bold"/>
                  <a:ea typeface="Proxima Nova Bold"/>
                  <a:cs typeface="Proxima Nova Bold"/>
                  <a:sym typeface="Proxima Nova Bold"/>
                </a:rPr>
                <a:t>3</a:t>
              </a:r>
            </a:p>
          </p:txBody>
        </p:sp>
      </p:grpSp>
      <p:grpSp>
        <p:nvGrpSpPr>
          <p:cNvPr name="Group 53" id="53"/>
          <p:cNvGrpSpPr/>
          <p:nvPr/>
        </p:nvGrpSpPr>
        <p:grpSpPr>
          <a:xfrm rot="0">
            <a:off x="1499616" y="8202356"/>
            <a:ext cx="6949440" cy="1481093"/>
            <a:chOff x="0" y="0"/>
            <a:chExt cx="9265920" cy="1974791"/>
          </a:xfrm>
        </p:grpSpPr>
        <p:sp>
          <p:nvSpPr>
            <p:cNvPr name="Freeform 54" id="54"/>
            <p:cNvSpPr/>
            <p:nvPr/>
          </p:nvSpPr>
          <p:spPr>
            <a:xfrm flipH="false" flipV="false" rot="0">
              <a:off x="0" y="0"/>
              <a:ext cx="9265920" cy="1974791"/>
            </a:xfrm>
            <a:custGeom>
              <a:avLst/>
              <a:gdLst/>
              <a:ahLst/>
              <a:cxnLst/>
              <a:rect r="r" b="b" t="t" l="l"/>
              <a:pathLst>
                <a:path h="1974791" w="9265920">
                  <a:moveTo>
                    <a:pt x="0" y="0"/>
                  </a:moveTo>
                  <a:lnTo>
                    <a:pt x="9265920" y="0"/>
                  </a:lnTo>
                  <a:lnTo>
                    <a:pt x="9265920" y="1974791"/>
                  </a:lnTo>
                  <a:lnTo>
                    <a:pt x="0" y="1974791"/>
                  </a:lnTo>
                  <a:close/>
                </a:path>
              </a:pathLst>
            </a:custGeom>
            <a:blipFill>
              <a:blip r:embed="rId3">
                <a:alphaModFix amt="0"/>
              </a:blip>
              <a:stretch>
                <a:fillRect l="0" t="-59321" r="0" b="-23529"/>
              </a:stretch>
            </a:blipFill>
          </p:spPr>
        </p:sp>
        <p:sp>
          <p:nvSpPr>
            <p:cNvPr name="TextBox 55" id="55"/>
            <p:cNvSpPr txBox="true"/>
            <p:nvPr/>
          </p:nvSpPr>
          <p:spPr>
            <a:xfrm>
              <a:off x="0" y="0"/>
              <a:ext cx="9265920" cy="1974791"/>
            </a:xfrm>
            <a:prstGeom prst="rect">
              <a:avLst/>
            </a:prstGeom>
          </p:spPr>
          <p:txBody>
            <a:bodyPr anchor="ctr" rtlCol="false" tIns="0" lIns="0" bIns="0" rIns="0"/>
            <a:lstStyle/>
            <a:p>
              <a:pPr algn="l">
                <a:lnSpc>
                  <a:spcPts val="2640"/>
                </a:lnSpc>
              </a:pPr>
              <a:r>
                <a:rPr lang="en-US" sz="2200">
                  <a:solidFill>
                    <a:srgbClr val="1E293B"/>
                  </a:solidFill>
                  <a:latin typeface="Proxima Nova"/>
                  <a:ea typeface="Proxima Nova"/>
                  <a:cs typeface="Proxima Nova"/>
                  <a:sym typeface="Proxima Nova"/>
                </a:rPr>
                <a:t>Risk-adjusted ranking provided a better evaluation than returns alone</a:t>
              </a:r>
            </a:p>
          </p:txBody>
        </p:sp>
      </p:grpSp>
      <p:grpSp>
        <p:nvGrpSpPr>
          <p:cNvPr name="Group 56" id="56"/>
          <p:cNvGrpSpPr/>
          <p:nvPr/>
        </p:nvGrpSpPr>
        <p:grpSpPr>
          <a:xfrm rot="0">
            <a:off x="9065266" y="9555480"/>
            <a:ext cx="8595360" cy="731520"/>
            <a:chOff x="0" y="0"/>
            <a:chExt cx="11460480" cy="975360"/>
          </a:xfrm>
        </p:grpSpPr>
        <p:sp>
          <p:nvSpPr>
            <p:cNvPr name="Freeform 57" id="57"/>
            <p:cNvSpPr/>
            <p:nvPr/>
          </p:nvSpPr>
          <p:spPr>
            <a:xfrm flipH="false" flipV="false" rot="0">
              <a:off x="0" y="0"/>
              <a:ext cx="11460480" cy="975360"/>
            </a:xfrm>
            <a:custGeom>
              <a:avLst/>
              <a:gdLst/>
              <a:ahLst/>
              <a:cxnLst/>
              <a:rect r="r" b="b" t="t" l="l"/>
              <a:pathLst>
                <a:path h="975360" w="11460480">
                  <a:moveTo>
                    <a:pt x="0" y="0"/>
                  </a:moveTo>
                  <a:lnTo>
                    <a:pt x="11460480" y="0"/>
                  </a:lnTo>
                  <a:lnTo>
                    <a:pt x="11460480" y="975360"/>
                  </a:lnTo>
                  <a:lnTo>
                    <a:pt x="0" y="975360"/>
                  </a:lnTo>
                  <a:close/>
                </a:path>
              </a:pathLst>
            </a:custGeom>
            <a:blipFill>
              <a:blip r:embed="rId3">
                <a:alphaModFix amt="0"/>
              </a:blip>
              <a:stretch>
                <a:fillRect l="0" t="-178949" r="0" b="-178949"/>
              </a:stretch>
            </a:blipFill>
          </p:spPr>
        </p:sp>
        <p:sp>
          <p:nvSpPr>
            <p:cNvPr name="TextBox 58" id="58"/>
            <p:cNvSpPr txBox="true"/>
            <p:nvPr/>
          </p:nvSpPr>
          <p:spPr>
            <a:xfrm>
              <a:off x="0" y="-9525"/>
              <a:ext cx="11460480" cy="984885"/>
            </a:xfrm>
            <a:prstGeom prst="rect">
              <a:avLst/>
            </a:prstGeom>
          </p:spPr>
          <p:txBody>
            <a:bodyPr anchor="ctr" rtlCol="false" tIns="0" lIns="0" bIns="0" rIns="0"/>
            <a:lstStyle/>
            <a:p>
              <a:pPr algn="ctr">
                <a:lnSpc>
                  <a:spcPts val="3120"/>
                </a:lnSpc>
              </a:pPr>
              <a:r>
                <a:rPr lang="en-US" sz="2600" b="true">
                  <a:solidFill>
                    <a:srgbClr val="64748B"/>
                  </a:solidFill>
                  <a:latin typeface="Proxima Nova Bold"/>
                  <a:ea typeface="Proxima Nova Bold"/>
                  <a:cs typeface="Proxima Nova Bold"/>
                  <a:sym typeface="Proxima Nova Bold"/>
                </a:rPr>
                <a:t>Sharpe Ratio Ranking Table</a:t>
              </a:r>
            </a:p>
          </p:txBody>
        </p:sp>
      </p:grpSp>
      <p:sp>
        <p:nvSpPr>
          <p:cNvPr name="Freeform 59" id="59"/>
          <p:cNvSpPr/>
          <p:nvPr/>
        </p:nvSpPr>
        <p:spPr>
          <a:xfrm flipH="false" flipV="false" rot="0">
            <a:off x="10071324" y="3673199"/>
            <a:ext cx="6898199" cy="5751373"/>
          </a:xfrm>
          <a:custGeom>
            <a:avLst/>
            <a:gdLst/>
            <a:ahLst/>
            <a:cxnLst/>
            <a:rect r="r" b="b" t="t" l="l"/>
            <a:pathLst>
              <a:path h="5751373" w="6898199">
                <a:moveTo>
                  <a:pt x="0" y="0"/>
                </a:moveTo>
                <a:lnTo>
                  <a:pt x="6898198" y="0"/>
                </a:lnTo>
                <a:lnTo>
                  <a:pt x="6898198" y="5751373"/>
                </a:lnTo>
                <a:lnTo>
                  <a:pt x="0" y="5751373"/>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945643"/>
            <a:chOff x="0" y="0"/>
            <a:chExt cx="24417871" cy="2594191"/>
          </a:xfrm>
        </p:grpSpPr>
        <p:sp>
          <p:nvSpPr>
            <p:cNvPr name="Freeform 3" id="3"/>
            <p:cNvSpPr/>
            <p:nvPr/>
          </p:nvSpPr>
          <p:spPr>
            <a:xfrm flipH="false" flipV="false" rot="0">
              <a:off x="0" y="0"/>
              <a:ext cx="24417910" cy="2594229"/>
            </a:xfrm>
            <a:custGeom>
              <a:avLst/>
              <a:gdLst/>
              <a:ahLst/>
              <a:cxnLst/>
              <a:rect r="r" b="b" t="t" l="l"/>
              <a:pathLst>
                <a:path h="2594229" w="24417910">
                  <a:moveTo>
                    <a:pt x="0" y="0"/>
                  </a:moveTo>
                  <a:lnTo>
                    <a:pt x="24417910" y="0"/>
                  </a:lnTo>
                  <a:lnTo>
                    <a:pt x="24417910" y="2594229"/>
                  </a:lnTo>
                  <a:lnTo>
                    <a:pt x="0" y="2594229"/>
                  </a:lnTo>
                  <a:close/>
                </a:path>
              </a:pathLst>
            </a:custGeom>
            <a:solidFill>
              <a:srgbClr val="0D1B2A"/>
            </a:solidFill>
            <a:ln w="25400" cap="sq">
              <a:solidFill>
                <a:srgbClr val="0D1B2A"/>
              </a:solidFill>
              <a:prstDash val="solid"/>
              <a:miter/>
            </a:ln>
          </p:spPr>
        </p:sp>
      </p:grpSp>
      <p:grpSp>
        <p:nvGrpSpPr>
          <p:cNvPr name="Group 4" id="4"/>
          <p:cNvGrpSpPr/>
          <p:nvPr/>
        </p:nvGrpSpPr>
        <p:grpSpPr>
          <a:xfrm rot="0">
            <a:off x="-12697" y="1907543"/>
            <a:ext cx="18313403" cy="153419"/>
            <a:chOff x="0" y="0"/>
            <a:chExt cx="24417871" cy="204559"/>
          </a:xfrm>
        </p:grpSpPr>
        <p:sp>
          <p:nvSpPr>
            <p:cNvPr name="Freeform 5" id="5"/>
            <p:cNvSpPr/>
            <p:nvPr/>
          </p:nvSpPr>
          <p:spPr>
            <a:xfrm flipH="false" flipV="false" rot="0">
              <a:off x="0" y="0"/>
              <a:ext cx="24417910" cy="204597"/>
            </a:xfrm>
            <a:custGeom>
              <a:avLst/>
              <a:gdLst/>
              <a:ahLst/>
              <a:cxnLst/>
              <a:rect r="r" b="b" t="t" l="l"/>
              <a:pathLst>
                <a:path h="204597" w="24417910">
                  <a:moveTo>
                    <a:pt x="0" y="0"/>
                  </a:moveTo>
                  <a:lnTo>
                    <a:pt x="24417910" y="0"/>
                  </a:lnTo>
                  <a:lnTo>
                    <a:pt x="24417910" y="204597"/>
                  </a:lnTo>
                  <a:lnTo>
                    <a:pt x="0" y="204597"/>
                  </a:lnTo>
                  <a:close/>
                </a:path>
              </a:pathLst>
            </a:custGeom>
            <a:solidFill>
              <a:srgbClr val="0D9488"/>
            </a:solidFill>
            <a:ln w="25400" cap="sq">
              <a:solidFill>
                <a:srgbClr val="0D9488"/>
              </a:solidFill>
              <a:prstDash val="solid"/>
              <a:miter/>
            </a:ln>
          </p:spPr>
        </p:sp>
      </p:grpSp>
      <p:grpSp>
        <p:nvGrpSpPr>
          <p:cNvPr name="Group 6" id="6"/>
          <p:cNvGrpSpPr/>
          <p:nvPr/>
        </p:nvGrpSpPr>
        <p:grpSpPr>
          <a:xfrm rot="0">
            <a:off x="822960" y="402336"/>
            <a:ext cx="16642080" cy="1097280"/>
            <a:chOff x="0" y="0"/>
            <a:chExt cx="22189440" cy="1463040"/>
          </a:xfrm>
        </p:grpSpPr>
        <p:sp>
          <p:nvSpPr>
            <p:cNvPr name="Freeform 7" id="7"/>
            <p:cNvSpPr/>
            <p:nvPr/>
          </p:nvSpPr>
          <p:spPr>
            <a:xfrm flipH="false" flipV="false" rot="0">
              <a:off x="0" y="0"/>
              <a:ext cx="22189439" cy="1463040"/>
            </a:xfrm>
            <a:custGeom>
              <a:avLst/>
              <a:gdLst/>
              <a:ahLst/>
              <a:cxnLst/>
              <a:rect r="r" b="b" t="t" l="l"/>
              <a:pathLst>
                <a:path h="1463040" w="22189439">
                  <a:moveTo>
                    <a:pt x="0" y="0"/>
                  </a:moveTo>
                  <a:lnTo>
                    <a:pt x="22189439" y="0"/>
                  </a:lnTo>
                  <a:lnTo>
                    <a:pt x="22189439" y="1463040"/>
                  </a:lnTo>
                  <a:lnTo>
                    <a:pt x="0" y="1463040"/>
                  </a:lnTo>
                  <a:close/>
                </a:path>
              </a:pathLst>
            </a:custGeom>
            <a:blipFill>
              <a:blip r:embed="rId3">
                <a:alphaModFix amt="0"/>
              </a:blip>
              <a:stretch>
                <a:fillRect l="0" t="-245523" r="0" b="-245523"/>
              </a:stretch>
            </a:blipFill>
          </p:spPr>
        </p:sp>
        <p:sp>
          <p:nvSpPr>
            <p:cNvPr name="TextBox 8" id="8"/>
            <p:cNvSpPr txBox="true"/>
            <p:nvPr/>
          </p:nvSpPr>
          <p:spPr>
            <a:xfrm>
              <a:off x="0" y="9525"/>
              <a:ext cx="22189440" cy="1453515"/>
            </a:xfrm>
            <a:prstGeom prst="rect">
              <a:avLst/>
            </a:prstGeom>
          </p:spPr>
          <p:txBody>
            <a:bodyPr anchor="ctr" rtlCol="false" tIns="0" lIns="0" bIns="0" rIns="0"/>
            <a:lstStyle/>
            <a:p>
              <a:pPr algn="l">
                <a:lnSpc>
                  <a:spcPts val="6240"/>
                </a:lnSpc>
              </a:pPr>
              <a:r>
                <a:rPr lang="en-US" sz="5200" b="true">
                  <a:solidFill>
                    <a:srgbClr val="FFFFFF"/>
                  </a:solidFill>
                  <a:latin typeface="Montserrat Bold"/>
                  <a:ea typeface="Montserrat Bold"/>
                  <a:cs typeface="Montserrat Bold"/>
                  <a:sym typeface="Montserrat Bold"/>
                </a:rPr>
                <a:t>Advanced Performance Metrics</a:t>
              </a:r>
            </a:p>
          </p:txBody>
        </p:sp>
      </p:grpSp>
      <p:grpSp>
        <p:nvGrpSpPr>
          <p:cNvPr name="Group 9" id="9"/>
          <p:cNvGrpSpPr/>
          <p:nvPr/>
        </p:nvGrpSpPr>
        <p:grpSpPr>
          <a:xfrm rot="0">
            <a:off x="405127" y="2158211"/>
            <a:ext cx="3258136" cy="653569"/>
            <a:chOff x="0" y="0"/>
            <a:chExt cx="8070101" cy="1618831"/>
          </a:xfrm>
        </p:grpSpPr>
        <p:sp>
          <p:nvSpPr>
            <p:cNvPr name="Freeform 10" id="10"/>
            <p:cNvSpPr/>
            <p:nvPr/>
          </p:nvSpPr>
          <p:spPr>
            <a:xfrm flipH="false" flipV="false" rot="0">
              <a:off x="0" y="0"/>
              <a:ext cx="8070139" cy="1618869"/>
            </a:xfrm>
            <a:custGeom>
              <a:avLst/>
              <a:gdLst/>
              <a:ahLst/>
              <a:cxnLst/>
              <a:rect r="r" b="b" t="t" l="l"/>
              <a:pathLst>
                <a:path h="1618869" w="8070139">
                  <a:moveTo>
                    <a:pt x="0" y="249047"/>
                  </a:moveTo>
                  <a:cubicBezTo>
                    <a:pt x="0" y="111506"/>
                    <a:pt x="215322" y="0"/>
                    <a:pt x="480919" y="0"/>
                  </a:cubicBezTo>
                  <a:lnTo>
                    <a:pt x="7589255" y="0"/>
                  </a:lnTo>
                  <a:cubicBezTo>
                    <a:pt x="7854852" y="0"/>
                    <a:pt x="8070139" y="111506"/>
                    <a:pt x="8070139" y="249047"/>
                  </a:cubicBezTo>
                  <a:lnTo>
                    <a:pt x="8070139" y="1369822"/>
                  </a:lnTo>
                  <a:cubicBezTo>
                    <a:pt x="8070139" y="1507363"/>
                    <a:pt x="7854852" y="1618869"/>
                    <a:pt x="7589255" y="1618869"/>
                  </a:cubicBezTo>
                  <a:lnTo>
                    <a:pt x="480919" y="1618869"/>
                  </a:lnTo>
                  <a:cubicBezTo>
                    <a:pt x="215322" y="1618869"/>
                    <a:pt x="0" y="1507363"/>
                    <a:pt x="0" y="1369822"/>
                  </a:cubicBezTo>
                  <a:close/>
                </a:path>
              </a:pathLst>
            </a:custGeom>
            <a:solidFill>
              <a:srgbClr val="0D9488"/>
            </a:solidFill>
            <a:ln w="25400" cap="sq">
              <a:solidFill>
                <a:srgbClr val="0D9488"/>
              </a:solidFill>
              <a:prstDash val="solid"/>
              <a:miter/>
            </a:ln>
          </p:spPr>
        </p:sp>
      </p:grpSp>
      <p:grpSp>
        <p:nvGrpSpPr>
          <p:cNvPr name="Group 11" id="11"/>
          <p:cNvGrpSpPr/>
          <p:nvPr/>
        </p:nvGrpSpPr>
        <p:grpSpPr>
          <a:xfrm rot="0">
            <a:off x="418325" y="2165045"/>
            <a:ext cx="3231730" cy="639895"/>
            <a:chOff x="0" y="0"/>
            <a:chExt cx="8004695" cy="1584960"/>
          </a:xfrm>
        </p:grpSpPr>
        <p:sp>
          <p:nvSpPr>
            <p:cNvPr name="Freeform 12" id="12"/>
            <p:cNvSpPr/>
            <p:nvPr/>
          </p:nvSpPr>
          <p:spPr>
            <a:xfrm flipH="false" flipV="false" rot="0">
              <a:off x="0" y="0"/>
              <a:ext cx="8004695" cy="1584960"/>
            </a:xfrm>
            <a:custGeom>
              <a:avLst/>
              <a:gdLst/>
              <a:ahLst/>
              <a:cxnLst/>
              <a:rect r="r" b="b" t="t" l="l"/>
              <a:pathLst>
                <a:path h="1584960" w="8004695">
                  <a:moveTo>
                    <a:pt x="0" y="0"/>
                  </a:moveTo>
                  <a:lnTo>
                    <a:pt x="8004695" y="0"/>
                  </a:lnTo>
                  <a:lnTo>
                    <a:pt x="8004695" y="1584960"/>
                  </a:lnTo>
                  <a:lnTo>
                    <a:pt x="0" y="1584960"/>
                  </a:lnTo>
                  <a:close/>
                </a:path>
              </a:pathLst>
            </a:custGeom>
            <a:blipFill>
              <a:blip r:embed="rId3">
                <a:alphaModFix amt="0"/>
              </a:blip>
              <a:stretch>
                <a:fillRect l="0" t="-960" r="48214" b="-960"/>
              </a:stretch>
            </a:blipFill>
          </p:spPr>
        </p:sp>
        <p:sp>
          <p:nvSpPr>
            <p:cNvPr name="TextBox 13" id="13"/>
            <p:cNvSpPr txBox="true"/>
            <p:nvPr/>
          </p:nvSpPr>
          <p:spPr>
            <a:xfrm>
              <a:off x="0" y="9525"/>
              <a:ext cx="8004695" cy="1575435"/>
            </a:xfrm>
            <a:prstGeom prst="rect">
              <a:avLst/>
            </a:prstGeom>
          </p:spPr>
          <p:txBody>
            <a:bodyPr anchor="ctr" rtlCol="false" tIns="0" lIns="0" bIns="0" rIns="0"/>
            <a:lstStyle/>
            <a:p>
              <a:pPr algn="ctr">
                <a:lnSpc>
                  <a:spcPts val="2879"/>
                </a:lnSpc>
              </a:pPr>
              <a:r>
                <a:rPr lang="en-US" sz="2400" b="true">
                  <a:solidFill>
                    <a:srgbClr val="FFFFFF"/>
                  </a:solidFill>
                  <a:latin typeface="Proxima Nova Bold"/>
                  <a:ea typeface="Proxima Nova Bold"/>
                  <a:cs typeface="Proxima Nova Bold"/>
                  <a:sym typeface="Proxima Nova Bold"/>
                </a:rPr>
                <a:t>Alpha</a:t>
              </a:r>
            </a:p>
          </p:txBody>
        </p:sp>
      </p:grpSp>
      <p:grpSp>
        <p:nvGrpSpPr>
          <p:cNvPr name="Group 14" id="14"/>
          <p:cNvGrpSpPr/>
          <p:nvPr/>
        </p:nvGrpSpPr>
        <p:grpSpPr>
          <a:xfrm rot="0">
            <a:off x="3960029" y="2158211"/>
            <a:ext cx="3258136" cy="653569"/>
            <a:chOff x="0" y="0"/>
            <a:chExt cx="8070101" cy="1618831"/>
          </a:xfrm>
        </p:grpSpPr>
        <p:sp>
          <p:nvSpPr>
            <p:cNvPr name="Freeform 15" id="15"/>
            <p:cNvSpPr/>
            <p:nvPr/>
          </p:nvSpPr>
          <p:spPr>
            <a:xfrm flipH="false" flipV="false" rot="0">
              <a:off x="0" y="0"/>
              <a:ext cx="8070139" cy="1618869"/>
            </a:xfrm>
            <a:custGeom>
              <a:avLst/>
              <a:gdLst/>
              <a:ahLst/>
              <a:cxnLst/>
              <a:rect r="r" b="b" t="t" l="l"/>
              <a:pathLst>
                <a:path h="1618869" w="8070139">
                  <a:moveTo>
                    <a:pt x="0" y="249047"/>
                  </a:moveTo>
                  <a:cubicBezTo>
                    <a:pt x="0" y="111506"/>
                    <a:pt x="215322" y="0"/>
                    <a:pt x="480919" y="0"/>
                  </a:cubicBezTo>
                  <a:lnTo>
                    <a:pt x="7589255" y="0"/>
                  </a:lnTo>
                  <a:cubicBezTo>
                    <a:pt x="7854852" y="0"/>
                    <a:pt x="8070139" y="111506"/>
                    <a:pt x="8070139" y="249047"/>
                  </a:cubicBezTo>
                  <a:lnTo>
                    <a:pt x="8070139" y="1369822"/>
                  </a:lnTo>
                  <a:cubicBezTo>
                    <a:pt x="8070139" y="1507363"/>
                    <a:pt x="7854852" y="1618869"/>
                    <a:pt x="7589255" y="1618869"/>
                  </a:cubicBezTo>
                  <a:lnTo>
                    <a:pt x="480919" y="1618869"/>
                  </a:lnTo>
                  <a:cubicBezTo>
                    <a:pt x="215322" y="1618869"/>
                    <a:pt x="0" y="1507363"/>
                    <a:pt x="0" y="1369822"/>
                  </a:cubicBezTo>
                  <a:close/>
                </a:path>
              </a:pathLst>
            </a:custGeom>
            <a:solidFill>
              <a:srgbClr val="0F766E"/>
            </a:solidFill>
            <a:ln w="25400" cap="sq">
              <a:solidFill>
                <a:srgbClr val="0F766E"/>
              </a:solidFill>
              <a:prstDash val="solid"/>
              <a:miter/>
            </a:ln>
          </p:spPr>
        </p:sp>
      </p:grpSp>
      <p:grpSp>
        <p:nvGrpSpPr>
          <p:cNvPr name="Group 16" id="16"/>
          <p:cNvGrpSpPr/>
          <p:nvPr/>
        </p:nvGrpSpPr>
        <p:grpSpPr>
          <a:xfrm rot="0">
            <a:off x="3973228" y="2165045"/>
            <a:ext cx="3231730" cy="639895"/>
            <a:chOff x="0" y="0"/>
            <a:chExt cx="8004695" cy="1584960"/>
          </a:xfrm>
        </p:grpSpPr>
        <p:sp>
          <p:nvSpPr>
            <p:cNvPr name="Freeform 17" id="17"/>
            <p:cNvSpPr/>
            <p:nvPr/>
          </p:nvSpPr>
          <p:spPr>
            <a:xfrm flipH="false" flipV="false" rot="0">
              <a:off x="0" y="0"/>
              <a:ext cx="8004695" cy="1584960"/>
            </a:xfrm>
            <a:custGeom>
              <a:avLst/>
              <a:gdLst/>
              <a:ahLst/>
              <a:cxnLst/>
              <a:rect r="r" b="b" t="t" l="l"/>
              <a:pathLst>
                <a:path h="1584960" w="8004695">
                  <a:moveTo>
                    <a:pt x="0" y="0"/>
                  </a:moveTo>
                  <a:lnTo>
                    <a:pt x="8004695" y="0"/>
                  </a:lnTo>
                  <a:lnTo>
                    <a:pt x="8004695" y="1584960"/>
                  </a:lnTo>
                  <a:lnTo>
                    <a:pt x="0" y="1584960"/>
                  </a:lnTo>
                  <a:close/>
                </a:path>
              </a:pathLst>
            </a:custGeom>
            <a:blipFill>
              <a:blip r:embed="rId3">
                <a:alphaModFix amt="0"/>
              </a:blip>
              <a:stretch>
                <a:fillRect l="0" t="-960" r="48214" b="-960"/>
              </a:stretch>
            </a:blipFill>
          </p:spPr>
        </p:sp>
        <p:sp>
          <p:nvSpPr>
            <p:cNvPr name="TextBox 18" id="18"/>
            <p:cNvSpPr txBox="true"/>
            <p:nvPr/>
          </p:nvSpPr>
          <p:spPr>
            <a:xfrm>
              <a:off x="0" y="9525"/>
              <a:ext cx="8004695" cy="1575435"/>
            </a:xfrm>
            <a:prstGeom prst="rect">
              <a:avLst/>
            </a:prstGeom>
          </p:spPr>
          <p:txBody>
            <a:bodyPr anchor="ctr" rtlCol="false" tIns="0" lIns="0" bIns="0" rIns="0"/>
            <a:lstStyle/>
            <a:p>
              <a:pPr algn="ctr">
                <a:lnSpc>
                  <a:spcPts val="2879"/>
                </a:lnSpc>
              </a:pPr>
              <a:r>
                <a:rPr lang="en-US" sz="2400" b="true">
                  <a:solidFill>
                    <a:srgbClr val="FFFFFF"/>
                  </a:solidFill>
                  <a:latin typeface="Proxima Nova Bold"/>
                  <a:ea typeface="Proxima Nova Bold"/>
                  <a:cs typeface="Proxima Nova Bold"/>
                  <a:sym typeface="Proxima Nova Bold"/>
                </a:rPr>
                <a:t>Beta</a:t>
              </a:r>
            </a:p>
          </p:txBody>
        </p:sp>
      </p:grpSp>
      <p:grpSp>
        <p:nvGrpSpPr>
          <p:cNvPr name="Group 19" id="19"/>
          <p:cNvGrpSpPr/>
          <p:nvPr/>
        </p:nvGrpSpPr>
        <p:grpSpPr>
          <a:xfrm rot="0">
            <a:off x="7514932" y="2158211"/>
            <a:ext cx="3258136" cy="653569"/>
            <a:chOff x="0" y="0"/>
            <a:chExt cx="8070101" cy="1618831"/>
          </a:xfrm>
        </p:grpSpPr>
        <p:sp>
          <p:nvSpPr>
            <p:cNvPr name="Freeform 20" id="20"/>
            <p:cNvSpPr/>
            <p:nvPr/>
          </p:nvSpPr>
          <p:spPr>
            <a:xfrm flipH="false" flipV="false" rot="0">
              <a:off x="0" y="0"/>
              <a:ext cx="8070139" cy="1618869"/>
            </a:xfrm>
            <a:custGeom>
              <a:avLst/>
              <a:gdLst/>
              <a:ahLst/>
              <a:cxnLst/>
              <a:rect r="r" b="b" t="t" l="l"/>
              <a:pathLst>
                <a:path h="1618869" w="8070139">
                  <a:moveTo>
                    <a:pt x="0" y="249047"/>
                  </a:moveTo>
                  <a:cubicBezTo>
                    <a:pt x="0" y="111506"/>
                    <a:pt x="215322" y="0"/>
                    <a:pt x="480919" y="0"/>
                  </a:cubicBezTo>
                  <a:lnTo>
                    <a:pt x="7589255" y="0"/>
                  </a:lnTo>
                  <a:cubicBezTo>
                    <a:pt x="7854852" y="0"/>
                    <a:pt x="8070139" y="111506"/>
                    <a:pt x="8070139" y="249047"/>
                  </a:cubicBezTo>
                  <a:lnTo>
                    <a:pt x="8070139" y="1369822"/>
                  </a:lnTo>
                  <a:cubicBezTo>
                    <a:pt x="8070139" y="1507363"/>
                    <a:pt x="7854852" y="1618869"/>
                    <a:pt x="7589255" y="1618869"/>
                  </a:cubicBezTo>
                  <a:lnTo>
                    <a:pt x="480919" y="1618869"/>
                  </a:lnTo>
                  <a:cubicBezTo>
                    <a:pt x="215322" y="1618869"/>
                    <a:pt x="0" y="1507363"/>
                    <a:pt x="0" y="1369822"/>
                  </a:cubicBezTo>
                  <a:close/>
                </a:path>
              </a:pathLst>
            </a:custGeom>
            <a:solidFill>
              <a:srgbClr val="0891B2"/>
            </a:solidFill>
            <a:ln w="25400" cap="sq">
              <a:solidFill>
                <a:srgbClr val="0891B2"/>
              </a:solidFill>
              <a:prstDash val="solid"/>
              <a:miter/>
            </a:ln>
          </p:spPr>
        </p:sp>
      </p:grpSp>
      <p:grpSp>
        <p:nvGrpSpPr>
          <p:cNvPr name="Group 21" id="21"/>
          <p:cNvGrpSpPr/>
          <p:nvPr/>
        </p:nvGrpSpPr>
        <p:grpSpPr>
          <a:xfrm rot="0">
            <a:off x="7528130" y="2165045"/>
            <a:ext cx="3231730" cy="639895"/>
            <a:chOff x="0" y="0"/>
            <a:chExt cx="8004695" cy="1584960"/>
          </a:xfrm>
        </p:grpSpPr>
        <p:sp>
          <p:nvSpPr>
            <p:cNvPr name="Freeform 22" id="22"/>
            <p:cNvSpPr/>
            <p:nvPr/>
          </p:nvSpPr>
          <p:spPr>
            <a:xfrm flipH="false" flipV="false" rot="0">
              <a:off x="0" y="0"/>
              <a:ext cx="8004695" cy="1584960"/>
            </a:xfrm>
            <a:custGeom>
              <a:avLst/>
              <a:gdLst/>
              <a:ahLst/>
              <a:cxnLst/>
              <a:rect r="r" b="b" t="t" l="l"/>
              <a:pathLst>
                <a:path h="1584960" w="8004695">
                  <a:moveTo>
                    <a:pt x="0" y="0"/>
                  </a:moveTo>
                  <a:lnTo>
                    <a:pt x="8004695" y="0"/>
                  </a:lnTo>
                  <a:lnTo>
                    <a:pt x="8004695" y="1584960"/>
                  </a:lnTo>
                  <a:lnTo>
                    <a:pt x="0" y="1584960"/>
                  </a:lnTo>
                  <a:close/>
                </a:path>
              </a:pathLst>
            </a:custGeom>
            <a:blipFill>
              <a:blip r:embed="rId3">
                <a:alphaModFix amt="0"/>
              </a:blip>
              <a:stretch>
                <a:fillRect l="0" t="-960" r="48214" b="-960"/>
              </a:stretch>
            </a:blipFill>
          </p:spPr>
        </p:sp>
        <p:sp>
          <p:nvSpPr>
            <p:cNvPr name="TextBox 23" id="23"/>
            <p:cNvSpPr txBox="true"/>
            <p:nvPr/>
          </p:nvSpPr>
          <p:spPr>
            <a:xfrm>
              <a:off x="0" y="9525"/>
              <a:ext cx="8004695" cy="1575435"/>
            </a:xfrm>
            <a:prstGeom prst="rect">
              <a:avLst/>
            </a:prstGeom>
          </p:spPr>
          <p:txBody>
            <a:bodyPr anchor="ctr" rtlCol="false" tIns="0" lIns="0" bIns="0" rIns="0"/>
            <a:lstStyle/>
            <a:p>
              <a:pPr algn="ctr">
                <a:lnSpc>
                  <a:spcPts val="2879"/>
                </a:lnSpc>
              </a:pPr>
              <a:r>
                <a:rPr lang="en-US" sz="2400" b="true">
                  <a:solidFill>
                    <a:srgbClr val="FFFFFF"/>
                  </a:solidFill>
                  <a:latin typeface="Proxima Nova Bold"/>
                  <a:ea typeface="Proxima Nova Bold"/>
                  <a:cs typeface="Proxima Nova Bold"/>
                  <a:sym typeface="Proxima Nova Bold"/>
                </a:rPr>
                <a:t>Max Drawdown</a:t>
              </a:r>
            </a:p>
          </p:txBody>
        </p:sp>
      </p:grpSp>
      <p:grpSp>
        <p:nvGrpSpPr>
          <p:cNvPr name="Group 24" id="24"/>
          <p:cNvGrpSpPr/>
          <p:nvPr/>
        </p:nvGrpSpPr>
        <p:grpSpPr>
          <a:xfrm rot="0">
            <a:off x="11069835" y="2158211"/>
            <a:ext cx="3258136" cy="653569"/>
            <a:chOff x="0" y="0"/>
            <a:chExt cx="8070101" cy="1618831"/>
          </a:xfrm>
        </p:grpSpPr>
        <p:sp>
          <p:nvSpPr>
            <p:cNvPr name="Freeform 25" id="25"/>
            <p:cNvSpPr/>
            <p:nvPr/>
          </p:nvSpPr>
          <p:spPr>
            <a:xfrm flipH="false" flipV="false" rot="0">
              <a:off x="0" y="0"/>
              <a:ext cx="8070139" cy="1618869"/>
            </a:xfrm>
            <a:custGeom>
              <a:avLst/>
              <a:gdLst/>
              <a:ahLst/>
              <a:cxnLst/>
              <a:rect r="r" b="b" t="t" l="l"/>
              <a:pathLst>
                <a:path h="1618869" w="8070139">
                  <a:moveTo>
                    <a:pt x="0" y="249047"/>
                  </a:moveTo>
                  <a:cubicBezTo>
                    <a:pt x="0" y="111506"/>
                    <a:pt x="215322" y="0"/>
                    <a:pt x="480919" y="0"/>
                  </a:cubicBezTo>
                  <a:lnTo>
                    <a:pt x="7589255" y="0"/>
                  </a:lnTo>
                  <a:cubicBezTo>
                    <a:pt x="7854852" y="0"/>
                    <a:pt x="8070139" y="111506"/>
                    <a:pt x="8070139" y="249047"/>
                  </a:cubicBezTo>
                  <a:lnTo>
                    <a:pt x="8070139" y="1369822"/>
                  </a:lnTo>
                  <a:cubicBezTo>
                    <a:pt x="8070139" y="1507363"/>
                    <a:pt x="7854852" y="1618869"/>
                    <a:pt x="7589255" y="1618869"/>
                  </a:cubicBezTo>
                  <a:lnTo>
                    <a:pt x="480919" y="1618869"/>
                  </a:lnTo>
                  <a:cubicBezTo>
                    <a:pt x="215322" y="1618869"/>
                    <a:pt x="0" y="1507363"/>
                    <a:pt x="0" y="1369822"/>
                  </a:cubicBezTo>
                  <a:close/>
                </a:path>
              </a:pathLst>
            </a:custGeom>
            <a:solidFill>
              <a:srgbClr val="1D4ED8"/>
            </a:solidFill>
            <a:ln w="25400" cap="sq">
              <a:solidFill>
                <a:srgbClr val="1D4ED8"/>
              </a:solidFill>
              <a:prstDash val="solid"/>
              <a:miter/>
            </a:ln>
          </p:spPr>
        </p:sp>
      </p:grpSp>
      <p:grpSp>
        <p:nvGrpSpPr>
          <p:cNvPr name="Group 26" id="26"/>
          <p:cNvGrpSpPr/>
          <p:nvPr/>
        </p:nvGrpSpPr>
        <p:grpSpPr>
          <a:xfrm rot="0">
            <a:off x="11083033" y="2165045"/>
            <a:ext cx="3231730" cy="639895"/>
            <a:chOff x="0" y="0"/>
            <a:chExt cx="8004695" cy="1584960"/>
          </a:xfrm>
        </p:grpSpPr>
        <p:sp>
          <p:nvSpPr>
            <p:cNvPr name="Freeform 27" id="27"/>
            <p:cNvSpPr/>
            <p:nvPr/>
          </p:nvSpPr>
          <p:spPr>
            <a:xfrm flipH="false" flipV="false" rot="0">
              <a:off x="0" y="0"/>
              <a:ext cx="8004695" cy="1584960"/>
            </a:xfrm>
            <a:custGeom>
              <a:avLst/>
              <a:gdLst/>
              <a:ahLst/>
              <a:cxnLst/>
              <a:rect r="r" b="b" t="t" l="l"/>
              <a:pathLst>
                <a:path h="1584960" w="8004695">
                  <a:moveTo>
                    <a:pt x="0" y="0"/>
                  </a:moveTo>
                  <a:lnTo>
                    <a:pt x="8004695" y="0"/>
                  </a:lnTo>
                  <a:lnTo>
                    <a:pt x="8004695" y="1584960"/>
                  </a:lnTo>
                  <a:lnTo>
                    <a:pt x="0" y="1584960"/>
                  </a:lnTo>
                  <a:close/>
                </a:path>
              </a:pathLst>
            </a:custGeom>
            <a:blipFill>
              <a:blip r:embed="rId3">
                <a:alphaModFix amt="0"/>
              </a:blip>
              <a:stretch>
                <a:fillRect l="0" t="-960" r="48214" b="-960"/>
              </a:stretch>
            </a:blipFill>
          </p:spPr>
        </p:sp>
        <p:sp>
          <p:nvSpPr>
            <p:cNvPr name="TextBox 28" id="28"/>
            <p:cNvSpPr txBox="true"/>
            <p:nvPr/>
          </p:nvSpPr>
          <p:spPr>
            <a:xfrm>
              <a:off x="0" y="9525"/>
              <a:ext cx="8004695" cy="1575435"/>
            </a:xfrm>
            <a:prstGeom prst="rect">
              <a:avLst/>
            </a:prstGeom>
          </p:spPr>
          <p:txBody>
            <a:bodyPr anchor="ctr" rtlCol="false" tIns="0" lIns="0" bIns="0" rIns="0"/>
            <a:lstStyle/>
            <a:p>
              <a:pPr algn="ctr">
                <a:lnSpc>
                  <a:spcPts val="2879"/>
                </a:lnSpc>
              </a:pPr>
              <a:r>
                <a:rPr lang="en-US" sz="2400" b="true">
                  <a:solidFill>
                    <a:srgbClr val="FFFFFF"/>
                  </a:solidFill>
                  <a:latin typeface="Proxima Nova Bold"/>
                  <a:ea typeface="Proxima Nova Bold"/>
                  <a:cs typeface="Proxima Nova Bold"/>
                  <a:sym typeface="Proxima Nova Bold"/>
                </a:rPr>
                <a:t>VaR</a:t>
              </a:r>
            </a:p>
          </p:txBody>
        </p:sp>
      </p:grpSp>
      <p:grpSp>
        <p:nvGrpSpPr>
          <p:cNvPr name="Group 29" id="29"/>
          <p:cNvGrpSpPr/>
          <p:nvPr/>
        </p:nvGrpSpPr>
        <p:grpSpPr>
          <a:xfrm rot="0">
            <a:off x="14624737" y="2158211"/>
            <a:ext cx="3258136" cy="653569"/>
            <a:chOff x="0" y="0"/>
            <a:chExt cx="8070101" cy="1618831"/>
          </a:xfrm>
        </p:grpSpPr>
        <p:sp>
          <p:nvSpPr>
            <p:cNvPr name="Freeform 30" id="30"/>
            <p:cNvSpPr/>
            <p:nvPr/>
          </p:nvSpPr>
          <p:spPr>
            <a:xfrm flipH="false" flipV="false" rot="0">
              <a:off x="0" y="0"/>
              <a:ext cx="8070139" cy="1618869"/>
            </a:xfrm>
            <a:custGeom>
              <a:avLst/>
              <a:gdLst/>
              <a:ahLst/>
              <a:cxnLst/>
              <a:rect r="r" b="b" t="t" l="l"/>
              <a:pathLst>
                <a:path h="1618869" w="8070139">
                  <a:moveTo>
                    <a:pt x="0" y="249047"/>
                  </a:moveTo>
                  <a:cubicBezTo>
                    <a:pt x="0" y="111506"/>
                    <a:pt x="215322" y="0"/>
                    <a:pt x="480919" y="0"/>
                  </a:cubicBezTo>
                  <a:lnTo>
                    <a:pt x="7589255" y="0"/>
                  </a:lnTo>
                  <a:cubicBezTo>
                    <a:pt x="7854852" y="0"/>
                    <a:pt x="8070139" y="111506"/>
                    <a:pt x="8070139" y="249047"/>
                  </a:cubicBezTo>
                  <a:lnTo>
                    <a:pt x="8070139" y="1369822"/>
                  </a:lnTo>
                  <a:cubicBezTo>
                    <a:pt x="8070139" y="1507363"/>
                    <a:pt x="7854852" y="1618869"/>
                    <a:pt x="7589255" y="1618869"/>
                  </a:cubicBezTo>
                  <a:lnTo>
                    <a:pt x="480919" y="1618869"/>
                  </a:lnTo>
                  <a:cubicBezTo>
                    <a:pt x="215322" y="1618869"/>
                    <a:pt x="0" y="1507363"/>
                    <a:pt x="0" y="1369822"/>
                  </a:cubicBezTo>
                  <a:close/>
                </a:path>
              </a:pathLst>
            </a:custGeom>
            <a:solidFill>
              <a:srgbClr val="0D1B2A"/>
            </a:solidFill>
            <a:ln w="25400" cap="sq">
              <a:solidFill>
                <a:srgbClr val="0D1B2A"/>
              </a:solidFill>
              <a:prstDash val="solid"/>
              <a:miter/>
            </a:ln>
          </p:spPr>
        </p:sp>
      </p:grpSp>
      <p:grpSp>
        <p:nvGrpSpPr>
          <p:cNvPr name="Group 31" id="31"/>
          <p:cNvGrpSpPr/>
          <p:nvPr/>
        </p:nvGrpSpPr>
        <p:grpSpPr>
          <a:xfrm rot="0">
            <a:off x="14637935" y="2165045"/>
            <a:ext cx="3231730" cy="639895"/>
            <a:chOff x="0" y="0"/>
            <a:chExt cx="8004695" cy="1584960"/>
          </a:xfrm>
        </p:grpSpPr>
        <p:sp>
          <p:nvSpPr>
            <p:cNvPr name="Freeform 32" id="32"/>
            <p:cNvSpPr/>
            <p:nvPr/>
          </p:nvSpPr>
          <p:spPr>
            <a:xfrm flipH="false" flipV="false" rot="0">
              <a:off x="0" y="0"/>
              <a:ext cx="8004695" cy="1584960"/>
            </a:xfrm>
            <a:custGeom>
              <a:avLst/>
              <a:gdLst/>
              <a:ahLst/>
              <a:cxnLst/>
              <a:rect r="r" b="b" t="t" l="l"/>
              <a:pathLst>
                <a:path h="1584960" w="8004695">
                  <a:moveTo>
                    <a:pt x="0" y="0"/>
                  </a:moveTo>
                  <a:lnTo>
                    <a:pt x="8004695" y="0"/>
                  </a:lnTo>
                  <a:lnTo>
                    <a:pt x="8004695" y="1584960"/>
                  </a:lnTo>
                  <a:lnTo>
                    <a:pt x="0" y="1584960"/>
                  </a:lnTo>
                  <a:close/>
                </a:path>
              </a:pathLst>
            </a:custGeom>
            <a:blipFill>
              <a:blip r:embed="rId3">
                <a:alphaModFix amt="0"/>
              </a:blip>
              <a:stretch>
                <a:fillRect l="0" t="-960" r="48214" b="-960"/>
              </a:stretch>
            </a:blipFill>
          </p:spPr>
        </p:sp>
        <p:sp>
          <p:nvSpPr>
            <p:cNvPr name="TextBox 33" id="33"/>
            <p:cNvSpPr txBox="true"/>
            <p:nvPr/>
          </p:nvSpPr>
          <p:spPr>
            <a:xfrm>
              <a:off x="0" y="9525"/>
              <a:ext cx="8004695" cy="1575435"/>
            </a:xfrm>
            <a:prstGeom prst="rect">
              <a:avLst/>
            </a:prstGeom>
          </p:spPr>
          <p:txBody>
            <a:bodyPr anchor="ctr" rtlCol="false" tIns="0" lIns="0" bIns="0" rIns="0"/>
            <a:lstStyle/>
            <a:p>
              <a:pPr algn="ctr">
                <a:lnSpc>
                  <a:spcPts val="2879"/>
                </a:lnSpc>
              </a:pPr>
              <a:r>
                <a:rPr lang="en-US" sz="2400" b="true">
                  <a:solidFill>
                    <a:srgbClr val="FFFFFF"/>
                  </a:solidFill>
                  <a:latin typeface="Proxima Nova Bold"/>
                  <a:ea typeface="Proxima Nova Bold"/>
                  <a:cs typeface="Proxima Nova Bold"/>
                  <a:sym typeface="Proxima Nova Bold"/>
                </a:rPr>
                <a:t>CVaR</a:t>
              </a:r>
            </a:p>
          </p:txBody>
        </p:sp>
      </p:grpSp>
      <p:grpSp>
        <p:nvGrpSpPr>
          <p:cNvPr name="Group 34" id="34"/>
          <p:cNvGrpSpPr/>
          <p:nvPr/>
        </p:nvGrpSpPr>
        <p:grpSpPr>
          <a:xfrm rot="0">
            <a:off x="418325" y="2916555"/>
            <a:ext cx="8046720" cy="694944"/>
            <a:chOff x="0" y="0"/>
            <a:chExt cx="10728960" cy="926592"/>
          </a:xfrm>
        </p:grpSpPr>
        <p:sp>
          <p:nvSpPr>
            <p:cNvPr name="Freeform 35" id="35"/>
            <p:cNvSpPr/>
            <p:nvPr/>
          </p:nvSpPr>
          <p:spPr>
            <a:xfrm flipH="false" flipV="false" rot="0">
              <a:off x="0" y="0"/>
              <a:ext cx="10728960" cy="926592"/>
            </a:xfrm>
            <a:custGeom>
              <a:avLst/>
              <a:gdLst/>
              <a:ahLst/>
              <a:cxnLst/>
              <a:rect r="r" b="b" t="t" l="l"/>
              <a:pathLst>
                <a:path h="926592" w="10728960">
                  <a:moveTo>
                    <a:pt x="0" y="0"/>
                  </a:moveTo>
                  <a:lnTo>
                    <a:pt x="10728960" y="0"/>
                  </a:lnTo>
                  <a:lnTo>
                    <a:pt x="10728960" y="926592"/>
                  </a:lnTo>
                  <a:lnTo>
                    <a:pt x="0" y="926592"/>
                  </a:lnTo>
                  <a:close/>
                </a:path>
              </a:pathLst>
            </a:custGeom>
            <a:blipFill>
              <a:blip r:embed="rId3">
                <a:alphaModFix amt="0"/>
              </a:blip>
              <a:stretch>
                <a:fillRect l="0" t="-175616" r="0" b="-175616"/>
              </a:stretch>
            </a:blipFill>
          </p:spPr>
        </p:sp>
        <p:sp>
          <p:nvSpPr>
            <p:cNvPr name="TextBox 36" id="36"/>
            <p:cNvSpPr txBox="true"/>
            <p:nvPr/>
          </p:nvSpPr>
          <p:spPr>
            <a:xfrm>
              <a:off x="0" y="9525"/>
              <a:ext cx="10728960" cy="917067"/>
            </a:xfrm>
            <a:prstGeom prst="rect">
              <a:avLst/>
            </a:prstGeom>
          </p:spPr>
          <p:txBody>
            <a:bodyPr anchor="ctr" rtlCol="false" tIns="0" lIns="0" bIns="0" rIns="0"/>
            <a:lstStyle/>
            <a:p>
              <a:pPr algn="l">
                <a:lnSpc>
                  <a:spcPts val="3359"/>
                </a:lnSpc>
              </a:pPr>
              <a:r>
                <a:rPr lang="en-US" sz="2799" b="true">
                  <a:solidFill>
                    <a:srgbClr val="0D1B2A"/>
                  </a:solidFill>
                  <a:latin typeface="Montserrat Bold"/>
                  <a:ea typeface="Montserrat Bold"/>
                  <a:cs typeface="Montserrat Bold"/>
                  <a:sym typeface="Montserrat Bold"/>
                </a:rPr>
                <a:t>Key Insights</a:t>
              </a:r>
            </a:p>
          </p:txBody>
        </p:sp>
      </p:grpSp>
      <p:grpSp>
        <p:nvGrpSpPr>
          <p:cNvPr name="Group 37" id="37"/>
          <p:cNvGrpSpPr/>
          <p:nvPr/>
        </p:nvGrpSpPr>
        <p:grpSpPr>
          <a:xfrm rot="0">
            <a:off x="418325" y="3611499"/>
            <a:ext cx="8072123" cy="793499"/>
            <a:chOff x="0" y="0"/>
            <a:chExt cx="10762831" cy="1057999"/>
          </a:xfrm>
        </p:grpSpPr>
        <p:sp>
          <p:nvSpPr>
            <p:cNvPr name="Freeform 38" id="38"/>
            <p:cNvSpPr/>
            <p:nvPr/>
          </p:nvSpPr>
          <p:spPr>
            <a:xfrm flipH="false" flipV="false" rot="0">
              <a:off x="0" y="0"/>
              <a:ext cx="10762869" cy="1058037"/>
            </a:xfrm>
            <a:custGeom>
              <a:avLst/>
              <a:gdLst/>
              <a:ahLst/>
              <a:cxnLst/>
              <a:rect r="r" b="b" t="t" l="l"/>
              <a:pathLst>
                <a:path h="1058037" w="10762869">
                  <a:moveTo>
                    <a:pt x="0" y="201549"/>
                  </a:moveTo>
                  <a:cubicBezTo>
                    <a:pt x="0" y="90170"/>
                    <a:pt x="90170" y="0"/>
                    <a:pt x="201549" y="0"/>
                  </a:cubicBezTo>
                  <a:lnTo>
                    <a:pt x="10561320" y="0"/>
                  </a:lnTo>
                  <a:cubicBezTo>
                    <a:pt x="10672572" y="0"/>
                    <a:pt x="10762869" y="90170"/>
                    <a:pt x="10762869" y="201549"/>
                  </a:cubicBezTo>
                  <a:lnTo>
                    <a:pt x="10762869" y="856488"/>
                  </a:lnTo>
                  <a:cubicBezTo>
                    <a:pt x="10762869" y="967740"/>
                    <a:pt x="10672699" y="1058037"/>
                    <a:pt x="10561320" y="1058037"/>
                  </a:cubicBezTo>
                  <a:lnTo>
                    <a:pt x="201549" y="1058037"/>
                  </a:lnTo>
                  <a:cubicBezTo>
                    <a:pt x="90170" y="1058037"/>
                    <a:pt x="0" y="967740"/>
                    <a:pt x="0" y="856488"/>
                  </a:cubicBezTo>
                  <a:close/>
                </a:path>
              </a:pathLst>
            </a:custGeom>
            <a:solidFill>
              <a:srgbClr val="FFFFFF"/>
            </a:solidFill>
            <a:ln w="25400" cap="sq">
              <a:solidFill>
                <a:srgbClr val="CBD5E1"/>
              </a:solidFill>
              <a:prstDash val="solid"/>
              <a:miter/>
            </a:ln>
          </p:spPr>
        </p:sp>
      </p:grpSp>
      <p:grpSp>
        <p:nvGrpSpPr>
          <p:cNvPr name="Group 39" id="39"/>
          <p:cNvGrpSpPr/>
          <p:nvPr/>
        </p:nvGrpSpPr>
        <p:grpSpPr>
          <a:xfrm rot="0">
            <a:off x="467598" y="3624196"/>
            <a:ext cx="822960" cy="768096"/>
            <a:chOff x="0" y="0"/>
            <a:chExt cx="1097280" cy="1024128"/>
          </a:xfrm>
        </p:grpSpPr>
        <p:sp>
          <p:nvSpPr>
            <p:cNvPr name="Freeform 40" id="40"/>
            <p:cNvSpPr/>
            <p:nvPr/>
          </p:nvSpPr>
          <p:spPr>
            <a:xfrm flipH="false" flipV="false" rot="0">
              <a:off x="0" y="0"/>
              <a:ext cx="1097280" cy="1024128"/>
            </a:xfrm>
            <a:custGeom>
              <a:avLst/>
              <a:gdLst/>
              <a:ahLst/>
              <a:cxnLst/>
              <a:rect r="r" b="b" t="t" l="l"/>
              <a:pathLst>
                <a:path h="1024128" w="1097280">
                  <a:moveTo>
                    <a:pt x="0" y="0"/>
                  </a:moveTo>
                  <a:lnTo>
                    <a:pt x="1097280" y="0"/>
                  </a:lnTo>
                  <a:lnTo>
                    <a:pt x="1097280" y="1024128"/>
                  </a:lnTo>
                  <a:lnTo>
                    <a:pt x="0" y="1024128"/>
                  </a:lnTo>
                  <a:close/>
                </a:path>
              </a:pathLst>
            </a:custGeom>
            <a:blipFill>
              <a:blip r:embed="rId3">
                <a:alphaModFix amt="0"/>
              </a:blip>
              <a:stretch>
                <a:fillRect l="-69749" t="0" r="-69749" b="0"/>
              </a:stretch>
            </a:blipFill>
          </p:spPr>
        </p:sp>
        <p:sp>
          <p:nvSpPr>
            <p:cNvPr name="TextBox 41" id="41"/>
            <p:cNvSpPr txBox="true"/>
            <p:nvPr/>
          </p:nvSpPr>
          <p:spPr>
            <a:xfrm>
              <a:off x="0" y="9525"/>
              <a:ext cx="1097280" cy="1014603"/>
            </a:xfrm>
            <a:prstGeom prst="rect">
              <a:avLst/>
            </a:prstGeom>
          </p:spPr>
          <p:txBody>
            <a:bodyPr anchor="ctr" rtlCol="false" tIns="0" lIns="0" bIns="0" rIns="0"/>
            <a:lstStyle/>
            <a:p>
              <a:pPr algn="ctr">
                <a:lnSpc>
                  <a:spcPts val="2879"/>
                </a:lnSpc>
              </a:pPr>
              <a:r>
                <a:rPr lang="en-US" sz="2400" b="true">
                  <a:solidFill>
                    <a:srgbClr val="0D9488"/>
                  </a:solidFill>
                  <a:latin typeface="Proxima Nova Bold"/>
                  <a:ea typeface="Proxima Nova Bold"/>
                  <a:cs typeface="Proxima Nova Bold"/>
                  <a:sym typeface="Proxima Nova Bold"/>
                </a:rPr>
                <a:t>α</a:t>
              </a:r>
            </a:p>
          </p:txBody>
        </p:sp>
      </p:grpSp>
      <p:grpSp>
        <p:nvGrpSpPr>
          <p:cNvPr name="Group 42" id="42"/>
          <p:cNvGrpSpPr/>
          <p:nvPr/>
        </p:nvGrpSpPr>
        <p:grpSpPr>
          <a:xfrm rot="0">
            <a:off x="1345422" y="3624196"/>
            <a:ext cx="6894576" cy="800024"/>
            <a:chOff x="0" y="0"/>
            <a:chExt cx="9192768" cy="1066698"/>
          </a:xfrm>
        </p:grpSpPr>
        <p:sp>
          <p:nvSpPr>
            <p:cNvPr name="Freeform 43" id="43"/>
            <p:cNvSpPr/>
            <p:nvPr/>
          </p:nvSpPr>
          <p:spPr>
            <a:xfrm flipH="false" flipV="false" rot="0">
              <a:off x="0" y="0"/>
              <a:ext cx="9192768" cy="1066698"/>
            </a:xfrm>
            <a:custGeom>
              <a:avLst/>
              <a:gdLst/>
              <a:ahLst/>
              <a:cxnLst/>
              <a:rect r="r" b="b" t="t" l="l"/>
              <a:pathLst>
                <a:path h="1066698" w="9192768">
                  <a:moveTo>
                    <a:pt x="0" y="0"/>
                  </a:moveTo>
                  <a:lnTo>
                    <a:pt x="9192768" y="0"/>
                  </a:lnTo>
                  <a:lnTo>
                    <a:pt x="9192768" y="1066698"/>
                  </a:lnTo>
                  <a:lnTo>
                    <a:pt x="0" y="1066698"/>
                  </a:lnTo>
                  <a:close/>
                </a:path>
              </a:pathLst>
            </a:custGeom>
            <a:blipFill>
              <a:blip r:embed="rId3">
                <a:alphaModFix amt="0"/>
              </a:blip>
              <a:stretch>
                <a:fillRect l="0" t="-119916" r="0" b="-115925"/>
              </a:stretch>
            </a:blipFill>
          </p:spPr>
        </p:sp>
        <p:sp>
          <p:nvSpPr>
            <p:cNvPr name="TextBox 44" id="44"/>
            <p:cNvSpPr txBox="true"/>
            <p:nvPr/>
          </p:nvSpPr>
          <p:spPr>
            <a:xfrm>
              <a:off x="0" y="0"/>
              <a:ext cx="9192768" cy="1066698"/>
            </a:xfrm>
            <a:prstGeom prst="rect">
              <a:avLst/>
            </a:prstGeom>
          </p:spPr>
          <p:txBody>
            <a:bodyPr anchor="ctr" rtlCol="false" tIns="0" lIns="0" bIns="0" rIns="0"/>
            <a:lstStyle/>
            <a:p>
              <a:pPr algn="l">
                <a:lnSpc>
                  <a:spcPts val="2640"/>
                </a:lnSpc>
              </a:pPr>
              <a:r>
                <a:rPr lang="en-US" sz="2200">
                  <a:solidFill>
                    <a:srgbClr val="1E293B"/>
                  </a:solidFill>
                  <a:latin typeface="Proxima Nova"/>
                  <a:ea typeface="Proxima Nova"/>
                  <a:cs typeface="Proxima Nova"/>
                  <a:sym typeface="Proxima Nova"/>
                </a:rPr>
                <a:t>Positive Alpha funds consistently outperformed benchmarks</a:t>
              </a:r>
            </a:p>
          </p:txBody>
        </p:sp>
      </p:grpSp>
      <p:grpSp>
        <p:nvGrpSpPr>
          <p:cNvPr name="Group 45" id="45"/>
          <p:cNvGrpSpPr/>
          <p:nvPr/>
        </p:nvGrpSpPr>
        <p:grpSpPr>
          <a:xfrm rot="0">
            <a:off x="418325" y="4562475"/>
            <a:ext cx="8072123" cy="793499"/>
            <a:chOff x="0" y="0"/>
            <a:chExt cx="10762831" cy="1057999"/>
          </a:xfrm>
        </p:grpSpPr>
        <p:sp>
          <p:nvSpPr>
            <p:cNvPr name="Freeform 46" id="46"/>
            <p:cNvSpPr/>
            <p:nvPr/>
          </p:nvSpPr>
          <p:spPr>
            <a:xfrm flipH="false" flipV="false" rot="0">
              <a:off x="0" y="0"/>
              <a:ext cx="10762869" cy="1058037"/>
            </a:xfrm>
            <a:custGeom>
              <a:avLst/>
              <a:gdLst/>
              <a:ahLst/>
              <a:cxnLst/>
              <a:rect r="r" b="b" t="t" l="l"/>
              <a:pathLst>
                <a:path h="1058037" w="10762869">
                  <a:moveTo>
                    <a:pt x="0" y="201549"/>
                  </a:moveTo>
                  <a:cubicBezTo>
                    <a:pt x="0" y="90170"/>
                    <a:pt x="90170" y="0"/>
                    <a:pt x="201549" y="0"/>
                  </a:cubicBezTo>
                  <a:lnTo>
                    <a:pt x="10561320" y="0"/>
                  </a:lnTo>
                  <a:cubicBezTo>
                    <a:pt x="10672572" y="0"/>
                    <a:pt x="10762869" y="90170"/>
                    <a:pt x="10762869" y="201549"/>
                  </a:cubicBezTo>
                  <a:lnTo>
                    <a:pt x="10762869" y="856488"/>
                  </a:lnTo>
                  <a:cubicBezTo>
                    <a:pt x="10762869" y="967740"/>
                    <a:pt x="10672699" y="1058037"/>
                    <a:pt x="10561320" y="1058037"/>
                  </a:cubicBezTo>
                  <a:lnTo>
                    <a:pt x="201549" y="1058037"/>
                  </a:lnTo>
                  <a:cubicBezTo>
                    <a:pt x="90170" y="1058037"/>
                    <a:pt x="0" y="967740"/>
                    <a:pt x="0" y="856488"/>
                  </a:cubicBezTo>
                  <a:close/>
                </a:path>
              </a:pathLst>
            </a:custGeom>
            <a:solidFill>
              <a:srgbClr val="FFFFFF"/>
            </a:solidFill>
            <a:ln w="25400" cap="sq">
              <a:solidFill>
                <a:srgbClr val="CBD5E1"/>
              </a:solidFill>
              <a:prstDash val="solid"/>
              <a:miter/>
            </a:ln>
          </p:spPr>
        </p:sp>
      </p:grpSp>
      <p:grpSp>
        <p:nvGrpSpPr>
          <p:cNvPr name="Group 47" id="47"/>
          <p:cNvGrpSpPr/>
          <p:nvPr/>
        </p:nvGrpSpPr>
        <p:grpSpPr>
          <a:xfrm rot="0">
            <a:off x="467598" y="4575172"/>
            <a:ext cx="822960" cy="768096"/>
            <a:chOff x="0" y="0"/>
            <a:chExt cx="1097280" cy="1024128"/>
          </a:xfrm>
        </p:grpSpPr>
        <p:sp>
          <p:nvSpPr>
            <p:cNvPr name="Freeform 48" id="48"/>
            <p:cNvSpPr/>
            <p:nvPr/>
          </p:nvSpPr>
          <p:spPr>
            <a:xfrm flipH="false" flipV="false" rot="0">
              <a:off x="0" y="0"/>
              <a:ext cx="1097280" cy="1024128"/>
            </a:xfrm>
            <a:custGeom>
              <a:avLst/>
              <a:gdLst/>
              <a:ahLst/>
              <a:cxnLst/>
              <a:rect r="r" b="b" t="t" l="l"/>
              <a:pathLst>
                <a:path h="1024128" w="1097280">
                  <a:moveTo>
                    <a:pt x="0" y="0"/>
                  </a:moveTo>
                  <a:lnTo>
                    <a:pt x="1097280" y="0"/>
                  </a:lnTo>
                  <a:lnTo>
                    <a:pt x="1097280" y="1024128"/>
                  </a:lnTo>
                  <a:lnTo>
                    <a:pt x="0" y="1024128"/>
                  </a:lnTo>
                  <a:close/>
                </a:path>
              </a:pathLst>
            </a:custGeom>
            <a:blipFill>
              <a:blip r:embed="rId3">
                <a:alphaModFix amt="0"/>
              </a:blip>
              <a:stretch>
                <a:fillRect l="-69749" t="0" r="-69749" b="0"/>
              </a:stretch>
            </a:blipFill>
          </p:spPr>
        </p:sp>
        <p:sp>
          <p:nvSpPr>
            <p:cNvPr name="TextBox 49" id="49"/>
            <p:cNvSpPr txBox="true"/>
            <p:nvPr/>
          </p:nvSpPr>
          <p:spPr>
            <a:xfrm>
              <a:off x="0" y="9525"/>
              <a:ext cx="1097280" cy="1014603"/>
            </a:xfrm>
            <a:prstGeom prst="rect">
              <a:avLst/>
            </a:prstGeom>
          </p:spPr>
          <p:txBody>
            <a:bodyPr anchor="ctr" rtlCol="false" tIns="0" lIns="0" bIns="0" rIns="0"/>
            <a:lstStyle/>
            <a:p>
              <a:pPr algn="ctr">
                <a:lnSpc>
                  <a:spcPts val="2879"/>
                </a:lnSpc>
              </a:pPr>
              <a:r>
                <a:rPr lang="en-US" sz="2400" b="true">
                  <a:solidFill>
                    <a:srgbClr val="0D9488"/>
                  </a:solidFill>
                  <a:latin typeface="Proxima Nova Bold"/>
                  <a:ea typeface="Proxima Nova Bold"/>
                  <a:cs typeface="Proxima Nova Bold"/>
                  <a:sym typeface="Proxima Nova Bold"/>
                </a:rPr>
                <a:t>β</a:t>
              </a:r>
            </a:p>
          </p:txBody>
        </p:sp>
      </p:grpSp>
      <p:grpSp>
        <p:nvGrpSpPr>
          <p:cNvPr name="Group 50" id="50"/>
          <p:cNvGrpSpPr/>
          <p:nvPr/>
        </p:nvGrpSpPr>
        <p:grpSpPr>
          <a:xfrm rot="0">
            <a:off x="1345422" y="4575172"/>
            <a:ext cx="6894576" cy="768096"/>
            <a:chOff x="0" y="0"/>
            <a:chExt cx="9192768" cy="1024128"/>
          </a:xfrm>
        </p:grpSpPr>
        <p:sp>
          <p:nvSpPr>
            <p:cNvPr name="Freeform 51" id="51"/>
            <p:cNvSpPr/>
            <p:nvPr/>
          </p:nvSpPr>
          <p:spPr>
            <a:xfrm flipH="false" flipV="false" rot="0">
              <a:off x="0" y="0"/>
              <a:ext cx="9192768" cy="1024128"/>
            </a:xfrm>
            <a:custGeom>
              <a:avLst/>
              <a:gdLst/>
              <a:ahLst/>
              <a:cxnLst/>
              <a:rect r="r" b="b" t="t" l="l"/>
              <a:pathLst>
                <a:path h="1024128" w="9192768">
                  <a:moveTo>
                    <a:pt x="0" y="0"/>
                  </a:moveTo>
                  <a:lnTo>
                    <a:pt x="9192768" y="0"/>
                  </a:lnTo>
                  <a:lnTo>
                    <a:pt x="9192768" y="1024128"/>
                  </a:lnTo>
                  <a:lnTo>
                    <a:pt x="0" y="1024128"/>
                  </a:lnTo>
                  <a:close/>
                </a:path>
              </a:pathLst>
            </a:custGeom>
            <a:blipFill>
              <a:blip r:embed="rId3">
                <a:alphaModFix amt="0"/>
              </a:blip>
              <a:stretch>
                <a:fillRect l="0" t="-124901" r="0" b="-124901"/>
              </a:stretch>
            </a:blipFill>
          </p:spPr>
        </p:sp>
        <p:sp>
          <p:nvSpPr>
            <p:cNvPr name="TextBox 52" id="52"/>
            <p:cNvSpPr txBox="true"/>
            <p:nvPr/>
          </p:nvSpPr>
          <p:spPr>
            <a:xfrm>
              <a:off x="0" y="0"/>
              <a:ext cx="9192768" cy="1024128"/>
            </a:xfrm>
            <a:prstGeom prst="rect">
              <a:avLst/>
            </a:prstGeom>
          </p:spPr>
          <p:txBody>
            <a:bodyPr anchor="ctr" rtlCol="false" tIns="0" lIns="0" bIns="0" rIns="0"/>
            <a:lstStyle/>
            <a:p>
              <a:pPr algn="l">
                <a:lnSpc>
                  <a:spcPts val="2640"/>
                </a:lnSpc>
              </a:pPr>
              <a:r>
                <a:rPr lang="en-US" sz="2200">
                  <a:solidFill>
                    <a:srgbClr val="1E293B"/>
                  </a:solidFill>
                  <a:latin typeface="Proxima Nova"/>
                  <a:ea typeface="Proxima Nova"/>
                  <a:cs typeface="Proxima Nova"/>
                  <a:sym typeface="Proxima Nova"/>
                </a:rPr>
                <a:t>Higher Beta funds exhibited stronger market sensitivity</a:t>
              </a:r>
            </a:p>
          </p:txBody>
        </p:sp>
      </p:grpSp>
      <p:grpSp>
        <p:nvGrpSpPr>
          <p:cNvPr name="Group 53" id="53"/>
          <p:cNvGrpSpPr/>
          <p:nvPr/>
        </p:nvGrpSpPr>
        <p:grpSpPr>
          <a:xfrm rot="0">
            <a:off x="9433921" y="3624196"/>
            <a:ext cx="8072123" cy="793499"/>
            <a:chOff x="0" y="0"/>
            <a:chExt cx="10762831" cy="1057999"/>
          </a:xfrm>
        </p:grpSpPr>
        <p:sp>
          <p:nvSpPr>
            <p:cNvPr name="Freeform 54" id="54"/>
            <p:cNvSpPr/>
            <p:nvPr/>
          </p:nvSpPr>
          <p:spPr>
            <a:xfrm flipH="false" flipV="false" rot="0">
              <a:off x="0" y="0"/>
              <a:ext cx="10762869" cy="1058037"/>
            </a:xfrm>
            <a:custGeom>
              <a:avLst/>
              <a:gdLst/>
              <a:ahLst/>
              <a:cxnLst/>
              <a:rect r="r" b="b" t="t" l="l"/>
              <a:pathLst>
                <a:path h="1058037" w="10762869">
                  <a:moveTo>
                    <a:pt x="0" y="201549"/>
                  </a:moveTo>
                  <a:cubicBezTo>
                    <a:pt x="0" y="90170"/>
                    <a:pt x="90170" y="0"/>
                    <a:pt x="201549" y="0"/>
                  </a:cubicBezTo>
                  <a:lnTo>
                    <a:pt x="10561320" y="0"/>
                  </a:lnTo>
                  <a:cubicBezTo>
                    <a:pt x="10672572" y="0"/>
                    <a:pt x="10762869" y="90170"/>
                    <a:pt x="10762869" y="201549"/>
                  </a:cubicBezTo>
                  <a:lnTo>
                    <a:pt x="10762869" y="856488"/>
                  </a:lnTo>
                  <a:cubicBezTo>
                    <a:pt x="10762869" y="967740"/>
                    <a:pt x="10672699" y="1058037"/>
                    <a:pt x="10561320" y="1058037"/>
                  </a:cubicBezTo>
                  <a:lnTo>
                    <a:pt x="201549" y="1058037"/>
                  </a:lnTo>
                  <a:cubicBezTo>
                    <a:pt x="90170" y="1058037"/>
                    <a:pt x="0" y="967740"/>
                    <a:pt x="0" y="856488"/>
                  </a:cubicBezTo>
                  <a:close/>
                </a:path>
              </a:pathLst>
            </a:custGeom>
            <a:solidFill>
              <a:srgbClr val="FFFFFF"/>
            </a:solidFill>
            <a:ln w="25400" cap="sq">
              <a:solidFill>
                <a:srgbClr val="CBD5E1"/>
              </a:solidFill>
              <a:prstDash val="solid"/>
              <a:miter/>
            </a:ln>
          </p:spPr>
        </p:sp>
      </p:grpSp>
      <p:grpSp>
        <p:nvGrpSpPr>
          <p:cNvPr name="Group 55" id="55"/>
          <p:cNvGrpSpPr/>
          <p:nvPr/>
        </p:nvGrpSpPr>
        <p:grpSpPr>
          <a:xfrm rot="0">
            <a:off x="9483194" y="3636893"/>
            <a:ext cx="822960" cy="768096"/>
            <a:chOff x="0" y="0"/>
            <a:chExt cx="1097280" cy="1024128"/>
          </a:xfrm>
        </p:grpSpPr>
        <p:sp>
          <p:nvSpPr>
            <p:cNvPr name="Freeform 56" id="56"/>
            <p:cNvSpPr/>
            <p:nvPr/>
          </p:nvSpPr>
          <p:spPr>
            <a:xfrm flipH="false" flipV="false" rot="0">
              <a:off x="0" y="0"/>
              <a:ext cx="1097280" cy="1024128"/>
            </a:xfrm>
            <a:custGeom>
              <a:avLst/>
              <a:gdLst/>
              <a:ahLst/>
              <a:cxnLst/>
              <a:rect r="r" b="b" t="t" l="l"/>
              <a:pathLst>
                <a:path h="1024128" w="1097280">
                  <a:moveTo>
                    <a:pt x="0" y="0"/>
                  </a:moveTo>
                  <a:lnTo>
                    <a:pt x="1097280" y="0"/>
                  </a:lnTo>
                  <a:lnTo>
                    <a:pt x="1097280" y="1024128"/>
                  </a:lnTo>
                  <a:lnTo>
                    <a:pt x="0" y="1024128"/>
                  </a:lnTo>
                  <a:close/>
                </a:path>
              </a:pathLst>
            </a:custGeom>
            <a:blipFill>
              <a:blip r:embed="rId3">
                <a:alphaModFix amt="0"/>
              </a:blip>
              <a:stretch>
                <a:fillRect l="-69749" t="0" r="-69749" b="0"/>
              </a:stretch>
            </a:blipFill>
          </p:spPr>
        </p:sp>
        <p:sp>
          <p:nvSpPr>
            <p:cNvPr name="TextBox 57" id="57"/>
            <p:cNvSpPr txBox="true"/>
            <p:nvPr/>
          </p:nvSpPr>
          <p:spPr>
            <a:xfrm>
              <a:off x="0" y="9525"/>
              <a:ext cx="1097280" cy="1014603"/>
            </a:xfrm>
            <a:prstGeom prst="rect">
              <a:avLst/>
            </a:prstGeom>
          </p:spPr>
          <p:txBody>
            <a:bodyPr anchor="ctr" rtlCol="false" tIns="0" lIns="0" bIns="0" rIns="0"/>
            <a:lstStyle/>
            <a:p>
              <a:pPr algn="ctr">
                <a:lnSpc>
                  <a:spcPts val="2879"/>
                </a:lnSpc>
              </a:pPr>
              <a:r>
                <a:rPr lang="en-US" sz="2400" b="true">
                  <a:solidFill>
                    <a:srgbClr val="0D9488"/>
                  </a:solidFill>
                  <a:latin typeface="Proxima Nova Bold"/>
                  <a:ea typeface="Proxima Nova Bold"/>
                  <a:cs typeface="Proxima Nova Bold"/>
                  <a:sym typeface="Proxima Nova Bold"/>
                </a:rPr>
                <a:t>VaR</a:t>
              </a:r>
            </a:p>
          </p:txBody>
        </p:sp>
      </p:grpSp>
      <p:grpSp>
        <p:nvGrpSpPr>
          <p:cNvPr name="Group 58" id="58"/>
          <p:cNvGrpSpPr/>
          <p:nvPr/>
        </p:nvGrpSpPr>
        <p:grpSpPr>
          <a:xfrm rot="0">
            <a:off x="10361018" y="3636893"/>
            <a:ext cx="6894576" cy="800024"/>
            <a:chOff x="0" y="0"/>
            <a:chExt cx="9192768" cy="1066698"/>
          </a:xfrm>
        </p:grpSpPr>
        <p:sp>
          <p:nvSpPr>
            <p:cNvPr name="Freeform 59" id="59"/>
            <p:cNvSpPr/>
            <p:nvPr/>
          </p:nvSpPr>
          <p:spPr>
            <a:xfrm flipH="false" flipV="false" rot="0">
              <a:off x="0" y="0"/>
              <a:ext cx="9192768" cy="1066698"/>
            </a:xfrm>
            <a:custGeom>
              <a:avLst/>
              <a:gdLst/>
              <a:ahLst/>
              <a:cxnLst/>
              <a:rect r="r" b="b" t="t" l="l"/>
              <a:pathLst>
                <a:path h="1066698" w="9192768">
                  <a:moveTo>
                    <a:pt x="0" y="0"/>
                  </a:moveTo>
                  <a:lnTo>
                    <a:pt x="9192768" y="0"/>
                  </a:lnTo>
                  <a:lnTo>
                    <a:pt x="9192768" y="1066698"/>
                  </a:lnTo>
                  <a:lnTo>
                    <a:pt x="0" y="1066698"/>
                  </a:lnTo>
                  <a:close/>
                </a:path>
              </a:pathLst>
            </a:custGeom>
            <a:blipFill>
              <a:blip r:embed="rId3">
                <a:alphaModFix amt="0"/>
              </a:blip>
              <a:stretch>
                <a:fillRect l="0" t="-119916" r="0" b="-115925"/>
              </a:stretch>
            </a:blipFill>
          </p:spPr>
        </p:sp>
        <p:sp>
          <p:nvSpPr>
            <p:cNvPr name="TextBox 60" id="60"/>
            <p:cNvSpPr txBox="true"/>
            <p:nvPr/>
          </p:nvSpPr>
          <p:spPr>
            <a:xfrm>
              <a:off x="0" y="0"/>
              <a:ext cx="9192768" cy="1066698"/>
            </a:xfrm>
            <a:prstGeom prst="rect">
              <a:avLst/>
            </a:prstGeom>
          </p:spPr>
          <p:txBody>
            <a:bodyPr anchor="ctr" rtlCol="false" tIns="0" lIns="0" bIns="0" rIns="0"/>
            <a:lstStyle/>
            <a:p>
              <a:pPr algn="l">
                <a:lnSpc>
                  <a:spcPts val="2640"/>
                </a:lnSpc>
              </a:pPr>
              <a:r>
                <a:rPr lang="en-US" sz="2200">
                  <a:solidFill>
                    <a:srgbClr val="1E293B"/>
                  </a:solidFill>
                  <a:latin typeface="Proxima Nova"/>
                  <a:ea typeface="Proxima Nova"/>
                  <a:cs typeface="Proxima Nova"/>
                  <a:sym typeface="Proxima Nova"/>
                </a:rPr>
                <a:t>VaR and CVaR identified downside risk exposure accurately</a:t>
              </a:r>
            </a:p>
          </p:txBody>
        </p:sp>
      </p:grpSp>
      <p:grpSp>
        <p:nvGrpSpPr>
          <p:cNvPr name="Group 61" id="61"/>
          <p:cNvGrpSpPr/>
          <p:nvPr/>
        </p:nvGrpSpPr>
        <p:grpSpPr>
          <a:xfrm rot="0">
            <a:off x="9433921" y="4575172"/>
            <a:ext cx="8072123" cy="793499"/>
            <a:chOff x="0" y="0"/>
            <a:chExt cx="10762831" cy="1057999"/>
          </a:xfrm>
        </p:grpSpPr>
        <p:sp>
          <p:nvSpPr>
            <p:cNvPr name="Freeform 62" id="62"/>
            <p:cNvSpPr/>
            <p:nvPr/>
          </p:nvSpPr>
          <p:spPr>
            <a:xfrm flipH="false" flipV="false" rot="0">
              <a:off x="0" y="0"/>
              <a:ext cx="10762869" cy="1058037"/>
            </a:xfrm>
            <a:custGeom>
              <a:avLst/>
              <a:gdLst/>
              <a:ahLst/>
              <a:cxnLst/>
              <a:rect r="r" b="b" t="t" l="l"/>
              <a:pathLst>
                <a:path h="1058037" w="10762869">
                  <a:moveTo>
                    <a:pt x="0" y="201549"/>
                  </a:moveTo>
                  <a:cubicBezTo>
                    <a:pt x="0" y="90170"/>
                    <a:pt x="90170" y="0"/>
                    <a:pt x="201549" y="0"/>
                  </a:cubicBezTo>
                  <a:lnTo>
                    <a:pt x="10561320" y="0"/>
                  </a:lnTo>
                  <a:cubicBezTo>
                    <a:pt x="10672572" y="0"/>
                    <a:pt x="10762869" y="90170"/>
                    <a:pt x="10762869" y="201549"/>
                  </a:cubicBezTo>
                  <a:lnTo>
                    <a:pt x="10762869" y="856488"/>
                  </a:lnTo>
                  <a:cubicBezTo>
                    <a:pt x="10762869" y="967740"/>
                    <a:pt x="10672699" y="1058037"/>
                    <a:pt x="10561320" y="1058037"/>
                  </a:cubicBezTo>
                  <a:lnTo>
                    <a:pt x="201549" y="1058037"/>
                  </a:lnTo>
                  <a:cubicBezTo>
                    <a:pt x="90170" y="1058037"/>
                    <a:pt x="0" y="967740"/>
                    <a:pt x="0" y="856488"/>
                  </a:cubicBezTo>
                  <a:close/>
                </a:path>
              </a:pathLst>
            </a:custGeom>
            <a:solidFill>
              <a:srgbClr val="FFFFFF"/>
            </a:solidFill>
            <a:ln w="25400" cap="sq">
              <a:solidFill>
                <a:srgbClr val="CBD5E1"/>
              </a:solidFill>
              <a:prstDash val="solid"/>
              <a:miter/>
            </a:ln>
          </p:spPr>
        </p:sp>
      </p:grpSp>
      <p:grpSp>
        <p:nvGrpSpPr>
          <p:cNvPr name="Group 63" id="63"/>
          <p:cNvGrpSpPr/>
          <p:nvPr/>
        </p:nvGrpSpPr>
        <p:grpSpPr>
          <a:xfrm rot="0">
            <a:off x="9483194" y="4587869"/>
            <a:ext cx="822960" cy="768096"/>
            <a:chOff x="0" y="0"/>
            <a:chExt cx="1097280" cy="1024128"/>
          </a:xfrm>
        </p:grpSpPr>
        <p:sp>
          <p:nvSpPr>
            <p:cNvPr name="Freeform 64" id="64"/>
            <p:cNvSpPr/>
            <p:nvPr/>
          </p:nvSpPr>
          <p:spPr>
            <a:xfrm flipH="false" flipV="false" rot="0">
              <a:off x="0" y="0"/>
              <a:ext cx="1097280" cy="1024128"/>
            </a:xfrm>
            <a:custGeom>
              <a:avLst/>
              <a:gdLst/>
              <a:ahLst/>
              <a:cxnLst/>
              <a:rect r="r" b="b" t="t" l="l"/>
              <a:pathLst>
                <a:path h="1024128" w="1097280">
                  <a:moveTo>
                    <a:pt x="0" y="0"/>
                  </a:moveTo>
                  <a:lnTo>
                    <a:pt x="1097280" y="0"/>
                  </a:lnTo>
                  <a:lnTo>
                    <a:pt x="1097280" y="1024128"/>
                  </a:lnTo>
                  <a:lnTo>
                    <a:pt x="0" y="1024128"/>
                  </a:lnTo>
                  <a:close/>
                </a:path>
              </a:pathLst>
            </a:custGeom>
            <a:blipFill>
              <a:blip r:embed="rId3">
                <a:alphaModFix amt="0"/>
              </a:blip>
              <a:stretch>
                <a:fillRect l="-69749" t="0" r="-69749" b="0"/>
              </a:stretch>
            </a:blipFill>
          </p:spPr>
        </p:sp>
        <p:sp>
          <p:nvSpPr>
            <p:cNvPr name="TextBox 65" id="65"/>
            <p:cNvSpPr txBox="true"/>
            <p:nvPr/>
          </p:nvSpPr>
          <p:spPr>
            <a:xfrm>
              <a:off x="0" y="9525"/>
              <a:ext cx="1097280" cy="1014603"/>
            </a:xfrm>
            <a:prstGeom prst="rect">
              <a:avLst/>
            </a:prstGeom>
          </p:spPr>
          <p:txBody>
            <a:bodyPr anchor="ctr" rtlCol="false" tIns="0" lIns="0" bIns="0" rIns="0"/>
            <a:lstStyle/>
            <a:p>
              <a:pPr algn="ctr">
                <a:lnSpc>
                  <a:spcPts val="2879"/>
                </a:lnSpc>
              </a:pPr>
              <a:r>
                <a:rPr lang="en-US" sz="2400" b="true">
                  <a:solidFill>
                    <a:srgbClr val="0D9488"/>
                  </a:solidFill>
                  <a:latin typeface="Proxima Nova Bold"/>
                  <a:ea typeface="Proxima Nova Bold"/>
                  <a:cs typeface="Proxima Nova Bold"/>
                  <a:sym typeface="Proxima Nova Bold"/>
                </a:rPr>
                <a:t>▼</a:t>
              </a:r>
            </a:p>
          </p:txBody>
        </p:sp>
      </p:grpSp>
      <p:grpSp>
        <p:nvGrpSpPr>
          <p:cNvPr name="Group 66" id="66"/>
          <p:cNvGrpSpPr/>
          <p:nvPr/>
        </p:nvGrpSpPr>
        <p:grpSpPr>
          <a:xfrm rot="0">
            <a:off x="10361018" y="4587869"/>
            <a:ext cx="6894576" cy="768096"/>
            <a:chOff x="0" y="0"/>
            <a:chExt cx="9192768" cy="1024128"/>
          </a:xfrm>
        </p:grpSpPr>
        <p:sp>
          <p:nvSpPr>
            <p:cNvPr name="Freeform 67" id="67"/>
            <p:cNvSpPr/>
            <p:nvPr/>
          </p:nvSpPr>
          <p:spPr>
            <a:xfrm flipH="false" flipV="false" rot="0">
              <a:off x="0" y="0"/>
              <a:ext cx="9192768" cy="1024128"/>
            </a:xfrm>
            <a:custGeom>
              <a:avLst/>
              <a:gdLst/>
              <a:ahLst/>
              <a:cxnLst/>
              <a:rect r="r" b="b" t="t" l="l"/>
              <a:pathLst>
                <a:path h="1024128" w="9192768">
                  <a:moveTo>
                    <a:pt x="0" y="0"/>
                  </a:moveTo>
                  <a:lnTo>
                    <a:pt x="9192768" y="0"/>
                  </a:lnTo>
                  <a:lnTo>
                    <a:pt x="9192768" y="1024128"/>
                  </a:lnTo>
                  <a:lnTo>
                    <a:pt x="0" y="1024128"/>
                  </a:lnTo>
                  <a:close/>
                </a:path>
              </a:pathLst>
            </a:custGeom>
            <a:blipFill>
              <a:blip r:embed="rId3">
                <a:alphaModFix amt="0"/>
              </a:blip>
              <a:stretch>
                <a:fillRect l="0" t="-124901" r="0" b="-124901"/>
              </a:stretch>
            </a:blipFill>
          </p:spPr>
        </p:sp>
        <p:sp>
          <p:nvSpPr>
            <p:cNvPr name="TextBox 68" id="68"/>
            <p:cNvSpPr txBox="true"/>
            <p:nvPr/>
          </p:nvSpPr>
          <p:spPr>
            <a:xfrm>
              <a:off x="0" y="0"/>
              <a:ext cx="9192768" cy="1024128"/>
            </a:xfrm>
            <a:prstGeom prst="rect">
              <a:avLst/>
            </a:prstGeom>
          </p:spPr>
          <p:txBody>
            <a:bodyPr anchor="ctr" rtlCol="false" tIns="0" lIns="0" bIns="0" rIns="0"/>
            <a:lstStyle/>
            <a:p>
              <a:pPr algn="l">
                <a:lnSpc>
                  <a:spcPts val="2640"/>
                </a:lnSpc>
              </a:pPr>
              <a:r>
                <a:rPr lang="en-US" sz="2200">
                  <a:solidFill>
                    <a:srgbClr val="1E293B"/>
                  </a:solidFill>
                  <a:latin typeface="Proxima Nova"/>
                  <a:ea typeface="Proxima Nova"/>
                  <a:cs typeface="Proxima Nova"/>
                  <a:sym typeface="Proxima Nova"/>
                </a:rPr>
                <a:t>Maximum Drawdown highlighted worst historical losses</a:t>
              </a:r>
            </a:p>
          </p:txBody>
        </p:sp>
      </p:grpSp>
      <p:sp>
        <p:nvSpPr>
          <p:cNvPr name="Freeform 69" id="69"/>
          <p:cNvSpPr/>
          <p:nvPr/>
        </p:nvSpPr>
        <p:spPr>
          <a:xfrm flipH="false" flipV="false" rot="0">
            <a:off x="9738132" y="5463921"/>
            <a:ext cx="7767912" cy="4660747"/>
          </a:xfrm>
          <a:custGeom>
            <a:avLst/>
            <a:gdLst/>
            <a:ahLst/>
            <a:cxnLst/>
            <a:rect r="r" b="b" t="t" l="l"/>
            <a:pathLst>
              <a:path h="4660747" w="7767912">
                <a:moveTo>
                  <a:pt x="0" y="0"/>
                </a:moveTo>
                <a:lnTo>
                  <a:pt x="7767912" y="0"/>
                </a:lnTo>
                <a:lnTo>
                  <a:pt x="7767912" y="4660747"/>
                </a:lnTo>
                <a:lnTo>
                  <a:pt x="0" y="4660747"/>
                </a:lnTo>
                <a:lnTo>
                  <a:pt x="0" y="0"/>
                </a:lnTo>
                <a:close/>
              </a:path>
            </a:pathLst>
          </a:custGeom>
          <a:blipFill>
            <a:blip r:embed="rId4"/>
            <a:stretch>
              <a:fillRect l="0" t="0" r="0" b="0"/>
            </a:stretch>
          </a:blipFill>
        </p:spPr>
      </p:sp>
      <p:sp>
        <p:nvSpPr>
          <p:cNvPr name="Freeform 70" id="70"/>
          <p:cNvSpPr/>
          <p:nvPr/>
        </p:nvSpPr>
        <p:spPr>
          <a:xfrm flipH="false" flipV="false" rot="0">
            <a:off x="835609" y="5597271"/>
            <a:ext cx="7404388" cy="4442633"/>
          </a:xfrm>
          <a:custGeom>
            <a:avLst/>
            <a:gdLst/>
            <a:ahLst/>
            <a:cxnLst/>
            <a:rect r="r" b="b" t="t" l="l"/>
            <a:pathLst>
              <a:path h="4442633" w="7404388">
                <a:moveTo>
                  <a:pt x="0" y="0"/>
                </a:moveTo>
                <a:lnTo>
                  <a:pt x="7404389" y="0"/>
                </a:lnTo>
                <a:lnTo>
                  <a:pt x="7404389" y="4442633"/>
                </a:lnTo>
                <a:lnTo>
                  <a:pt x="0" y="4442633"/>
                </a:lnTo>
                <a:lnTo>
                  <a:pt x="0" y="0"/>
                </a:lnTo>
                <a:close/>
              </a:path>
            </a:pathLst>
          </a:custGeom>
          <a:blipFill>
            <a:blip r:embed="rId5"/>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945643"/>
            <a:chOff x="0" y="0"/>
            <a:chExt cx="24417871" cy="2594191"/>
          </a:xfrm>
        </p:grpSpPr>
        <p:sp>
          <p:nvSpPr>
            <p:cNvPr name="Freeform 3" id="3"/>
            <p:cNvSpPr/>
            <p:nvPr/>
          </p:nvSpPr>
          <p:spPr>
            <a:xfrm flipH="false" flipV="false" rot="0">
              <a:off x="0" y="0"/>
              <a:ext cx="24417910" cy="2594229"/>
            </a:xfrm>
            <a:custGeom>
              <a:avLst/>
              <a:gdLst/>
              <a:ahLst/>
              <a:cxnLst/>
              <a:rect r="r" b="b" t="t" l="l"/>
              <a:pathLst>
                <a:path h="2594229" w="24417910">
                  <a:moveTo>
                    <a:pt x="0" y="0"/>
                  </a:moveTo>
                  <a:lnTo>
                    <a:pt x="24417910" y="0"/>
                  </a:lnTo>
                  <a:lnTo>
                    <a:pt x="24417910" y="2594229"/>
                  </a:lnTo>
                  <a:lnTo>
                    <a:pt x="0" y="2594229"/>
                  </a:lnTo>
                  <a:close/>
                </a:path>
              </a:pathLst>
            </a:custGeom>
            <a:solidFill>
              <a:srgbClr val="0D1B2A"/>
            </a:solidFill>
            <a:ln w="25400" cap="sq">
              <a:solidFill>
                <a:srgbClr val="0D1B2A"/>
              </a:solidFill>
              <a:prstDash val="solid"/>
              <a:miter/>
            </a:ln>
          </p:spPr>
        </p:sp>
      </p:grpSp>
      <p:grpSp>
        <p:nvGrpSpPr>
          <p:cNvPr name="Group 4" id="4"/>
          <p:cNvGrpSpPr/>
          <p:nvPr/>
        </p:nvGrpSpPr>
        <p:grpSpPr>
          <a:xfrm rot="0">
            <a:off x="-12697" y="1907543"/>
            <a:ext cx="18313403" cy="153419"/>
            <a:chOff x="0" y="0"/>
            <a:chExt cx="24417871" cy="204559"/>
          </a:xfrm>
        </p:grpSpPr>
        <p:sp>
          <p:nvSpPr>
            <p:cNvPr name="Freeform 5" id="5"/>
            <p:cNvSpPr/>
            <p:nvPr/>
          </p:nvSpPr>
          <p:spPr>
            <a:xfrm flipH="false" flipV="false" rot="0">
              <a:off x="0" y="0"/>
              <a:ext cx="24417910" cy="204597"/>
            </a:xfrm>
            <a:custGeom>
              <a:avLst/>
              <a:gdLst/>
              <a:ahLst/>
              <a:cxnLst/>
              <a:rect r="r" b="b" t="t" l="l"/>
              <a:pathLst>
                <a:path h="204597" w="24417910">
                  <a:moveTo>
                    <a:pt x="0" y="0"/>
                  </a:moveTo>
                  <a:lnTo>
                    <a:pt x="24417910" y="0"/>
                  </a:lnTo>
                  <a:lnTo>
                    <a:pt x="24417910" y="204597"/>
                  </a:lnTo>
                  <a:lnTo>
                    <a:pt x="0" y="204597"/>
                  </a:lnTo>
                  <a:close/>
                </a:path>
              </a:pathLst>
            </a:custGeom>
            <a:solidFill>
              <a:srgbClr val="0D9488"/>
            </a:solidFill>
            <a:ln w="25400" cap="sq">
              <a:solidFill>
                <a:srgbClr val="0D9488"/>
              </a:solidFill>
              <a:prstDash val="solid"/>
              <a:miter/>
            </a:ln>
          </p:spPr>
        </p:sp>
      </p:grpSp>
      <p:grpSp>
        <p:nvGrpSpPr>
          <p:cNvPr name="Group 6" id="6"/>
          <p:cNvGrpSpPr/>
          <p:nvPr/>
        </p:nvGrpSpPr>
        <p:grpSpPr>
          <a:xfrm rot="0">
            <a:off x="822960" y="402336"/>
            <a:ext cx="16642080" cy="1097280"/>
            <a:chOff x="0" y="0"/>
            <a:chExt cx="22189440" cy="1463040"/>
          </a:xfrm>
        </p:grpSpPr>
        <p:sp>
          <p:nvSpPr>
            <p:cNvPr name="Freeform 7" id="7"/>
            <p:cNvSpPr/>
            <p:nvPr/>
          </p:nvSpPr>
          <p:spPr>
            <a:xfrm flipH="false" flipV="false" rot="0">
              <a:off x="0" y="0"/>
              <a:ext cx="22189439" cy="1463040"/>
            </a:xfrm>
            <a:custGeom>
              <a:avLst/>
              <a:gdLst/>
              <a:ahLst/>
              <a:cxnLst/>
              <a:rect r="r" b="b" t="t" l="l"/>
              <a:pathLst>
                <a:path h="1463040" w="22189439">
                  <a:moveTo>
                    <a:pt x="0" y="0"/>
                  </a:moveTo>
                  <a:lnTo>
                    <a:pt x="22189439" y="0"/>
                  </a:lnTo>
                  <a:lnTo>
                    <a:pt x="22189439" y="1463040"/>
                  </a:lnTo>
                  <a:lnTo>
                    <a:pt x="0" y="1463040"/>
                  </a:lnTo>
                  <a:close/>
                </a:path>
              </a:pathLst>
            </a:custGeom>
            <a:blipFill>
              <a:blip r:embed="rId3">
                <a:alphaModFix amt="0"/>
              </a:blip>
              <a:stretch>
                <a:fillRect l="0" t="-245523" r="0" b="-245523"/>
              </a:stretch>
            </a:blipFill>
          </p:spPr>
        </p:sp>
        <p:sp>
          <p:nvSpPr>
            <p:cNvPr name="TextBox 8" id="8"/>
            <p:cNvSpPr txBox="true"/>
            <p:nvPr/>
          </p:nvSpPr>
          <p:spPr>
            <a:xfrm>
              <a:off x="0" y="9525"/>
              <a:ext cx="22189440" cy="1453515"/>
            </a:xfrm>
            <a:prstGeom prst="rect">
              <a:avLst/>
            </a:prstGeom>
          </p:spPr>
          <p:txBody>
            <a:bodyPr anchor="ctr" rtlCol="false" tIns="0" lIns="0" bIns="0" rIns="0"/>
            <a:lstStyle/>
            <a:p>
              <a:pPr algn="l">
                <a:lnSpc>
                  <a:spcPts val="5280"/>
                </a:lnSpc>
              </a:pPr>
              <a:r>
                <a:rPr lang="en-US" sz="4400" b="true">
                  <a:solidFill>
                    <a:srgbClr val="FFFFFF"/>
                  </a:solidFill>
                  <a:latin typeface="Montserrat Bold"/>
                  <a:ea typeface="Montserrat Bold"/>
                  <a:cs typeface="Montserrat Bold"/>
                  <a:sym typeface="Montserrat Bold"/>
                </a:rPr>
                <a:t>Dashboard Overview – Industry &amp; Fund Analytics</a:t>
              </a:r>
            </a:p>
          </p:txBody>
        </p:sp>
      </p:grpSp>
      <p:sp>
        <p:nvSpPr>
          <p:cNvPr name="Freeform 9" id="9"/>
          <p:cNvSpPr/>
          <p:nvPr/>
        </p:nvSpPr>
        <p:spPr>
          <a:xfrm flipH="false" flipV="false" rot="0">
            <a:off x="9588706" y="2126097"/>
            <a:ext cx="8018738" cy="4530587"/>
          </a:xfrm>
          <a:custGeom>
            <a:avLst/>
            <a:gdLst/>
            <a:ahLst/>
            <a:cxnLst/>
            <a:rect r="r" b="b" t="t" l="l"/>
            <a:pathLst>
              <a:path h="4530587" w="8018738">
                <a:moveTo>
                  <a:pt x="0" y="0"/>
                </a:moveTo>
                <a:lnTo>
                  <a:pt x="8018738" y="0"/>
                </a:lnTo>
                <a:lnTo>
                  <a:pt x="8018738" y="4530587"/>
                </a:lnTo>
                <a:lnTo>
                  <a:pt x="0" y="4530587"/>
                </a:lnTo>
                <a:lnTo>
                  <a:pt x="0" y="0"/>
                </a:lnTo>
                <a:close/>
              </a:path>
            </a:pathLst>
          </a:custGeom>
          <a:blipFill>
            <a:blip r:embed="rId4"/>
            <a:stretch>
              <a:fillRect l="0" t="0" r="0" b="0"/>
            </a:stretch>
          </a:blipFill>
        </p:spPr>
      </p:sp>
      <p:grpSp>
        <p:nvGrpSpPr>
          <p:cNvPr name="Group 10" id="10"/>
          <p:cNvGrpSpPr/>
          <p:nvPr/>
        </p:nvGrpSpPr>
        <p:grpSpPr>
          <a:xfrm rot="0">
            <a:off x="9588706" y="6878874"/>
            <a:ext cx="3165417" cy="777941"/>
            <a:chOff x="0" y="0"/>
            <a:chExt cx="4220557" cy="1037255"/>
          </a:xfrm>
        </p:grpSpPr>
        <p:sp>
          <p:nvSpPr>
            <p:cNvPr name="Freeform 11" id="11"/>
            <p:cNvSpPr/>
            <p:nvPr/>
          </p:nvSpPr>
          <p:spPr>
            <a:xfrm flipH="false" flipV="false" rot="0">
              <a:off x="0" y="0"/>
              <a:ext cx="4220556" cy="1037255"/>
            </a:xfrm>
            <a:custGeom>
              <a:avLst/>
              <a:gdLst/>
              <a:ahLst/>
              <a:cxnLst/>
              <a:rect r="r" b="b" t="t" l="l"/>
              <a:pathLst>
                <a:path h="1037255" w="4220556">
                  <a:moveTo>
                    <a:pt x="0" y="0"/>
                  </a:moveTo>
                  <a:lnTo>
                    <a:pt x="4220556" y="0"/>
                  </a:lnTo>
                  <a:lnTo>
                    <a:pt x="4220556" y="1037255"/>
                  </a:lnTo>
                  <a:lnTo>
                    <a:pt x="0" y="1037255"/>
                  </a:lnTo>
                  <a:close/>
                </a:path>
              </a:pathLst>
            </a:custGeom>
            <a:blipFill>
              <a:blip r:embed="rId3">
                <a:alphaModFix amt="0"/>
              </a:blip>
              <a:stretch>
                <a:fillRect l="0" t="-152299" r="-148429" b="-141630"/>
              </a:stretch>
            </a:blipFill>
          </p:spPr>
        </p:sp>
        <p:sp>
          <p:nvSpPr>
            <p:cNvPr name="TextBox 12" id="12"/>
            <p:cNvSpPr txBox="true"/>
            <p:nvPr/>
          </p:nvSpPr>
          <p:spPr>
            <a:xfrm>
              <a:off x="0" y="-9525"/>
              <a:ext cx="4220557" cy="1046780"/>
            </a:xfrm>
            <a:prstGeom prst="rect">
              <a:avLst/>
            </a:prstGeom>
          </p:spPr>
          <p:txBody>
            <a:bodyPr anchor="ctr" rtlCol="false" tIns="0" lIns="0" bIns="0" rIns="0"/>
            <a:lstStyle/>
            <a:p>
              <a:pPr algn="l">
                <a:lnSpc>
                  <a:spcPts val="3120"/>
                </a:lnSpc>
              </a:pPr>
              <a:r>
                <a:rPr lang="en-US" sz="2600" b="true">
                  <a:solidFill>
                    <a:srgbClr val="0D1B2A"/>
                  </a:solidFill>
                  <a:latin typeface="Proxima Nova Bold"/>
                  <a:ea typeface="Proxima Nova Bold"/>
                  <a:cs typeface="Proxima Nova Bold"/>
                  <a:sym typeface="Proxima Nova Bold"/>
                </a:rPr>
                <a:t>Dashboard Features</a:t>
              </a:r>
            </a:p>
          </p:txBody>
        </p:sp>
      </p:grpSp>
      <p:grpSp>
        <p:nvGrpSpPr>
          <p:cNvPr name="Group 13" id="13"/>
          <p:cNvGrpSpPr/>
          <p:nvPr/>
        </p:nvGrpSpPr>
        <p:grpSpPr>
          <a:xfrm rot="0">
            <a:off x="9588706" y="7634767"/>
            <a:ext cx="3388640" cy="1078558"/>
            <a:chOff x="0" y="0"/>
            <a:chExt cx="4439502" cy="1413033"/>
          </a:xfrm>
        </p:grpSpPr>
        <p:sp>
          <p:nvSpPr>
            <p:cNvPr name="Freeform 14" id="14"/>
            <p:cNvSpPr/>
            <p:nvPr/>
          </p:nvSpPr>
          <p:spPr>
            <a:xfrm flipH="false" flipV="false" rot="0">
              <a:off x="0" y="0"/>
              <a:ext cx="4439540" cy="1413071"/>
            </a:xfrm>
            <a:custGeom>
              <a:avLst/>
              <a:gdLst/>
              <a:ahLst/>
              <a:cxnLst/>
              <a:rect r="r" b="b" t="t" l="l"/>
              <a:pathLst>
                <a:path h="1413071" w="4439540">
                  <a:moveTo>
                    <a:pt x="0" y="274784"/>
                  </a:moveTo>
                  <a:cubicBezTo>
                    <a:pt x="0" y="123023"/>
                    <a:pt x="33500" y="0"/>
                    <a:pt x="74825" y="0"/>
                  </a:cubicBezTo>
                  <a:lnTo>
                    <a:pt x="4364692" y="0"/>
                  </a:lnTo>
                  <a:cubicBezTo>
                    <a:pt x="4406018" y="0"/>
                    <a:pt x="4439540" y="123023"/>
                    <a:pt x="4439540" y="274784"/>
                  </a:cubicBezTo>
                  <a:lnTo>
                    <a:pt x="4439540" y="1138308"/>
                  </a:lnTo>
                  <a:cubicBezTo>
                    <a:pt x="4439540" y="1290069"/>
                    <a:pt x="4406018" y="1413071"/>
                    <a:pt x="4364692" y="1413071"/>
                  </a:cubicBezTo>
                  <a:lnTo>
                    <a:pt x="74825" y="1413071"/>
                  </a:lnTo>
                  <a:cubicBezTo>
                    <a:pt x="33500" y="1413071"/>
                    <a:pt x="0" y="1290069"/>
                    <a:pt x="0" y="1138308"/>
                  </a:cubicBezTo>
                  <a:close/>
                </a:path>
              </a:pathLst>
            </a:custGeom>
            <a:solidFill>
              <a:srgbClr val="FFFFFF"/>
            </a:solidFill>
            <a:ln w="25400" cap="sq">
              <a:solidFill>
                <a:srgbClr val="CBD5E1"/>
              </a:solidFill>
              <a:prstDash val="solid"/>
              <a:miter/>
            </a:ln>
          </p:spPr>
        </p:sp>
      </p:grpSp>
      <p:grpSp>
        <p:nvGrpSpPr>
          <p:cNvPr name="Group 15" id="15"/>
          <p:cNvGrpSpPr/>
          <p:nvPr/>
        </p:nvGrpSpPr>
        <p:grpSpPr>
          <a:xfrm rot="0">
            <a:off x="9692981" y="7654795"/>
            <a:ext cx="352220" cy="1042782"/>
            <a:chOff x="0" y="0"/>
            <a:chExt cx="461448" cy="1366163"/>
          </a:xfrm>
        </p:grpSpPr>
        <p:sp>
          <p:nvSpPr>
            <p:cNvPr name="Freeform 16" id="16"/>
            <p:cNvSpPr/>
            <p:nvPr/>
          </p:nvSpPr>
          <p:spPr>
            <a:xfrm flipH="false" flipV="false" rot="0">
              <a:off x="0" y="0"/>
              <a:ext cx="461448" cy="1366163"/>
            </a:xfrm>
            <a:custGeom>
              <a:avLst/>
              <a:gdLst/>
              <a:ahLst/>
              <a:cxnLst/>
              <a:rect r="r" b="b" t="t" l="l"/>
              <a:pathLst>
                <a:path h="1366163" w="461448">
                  <a:moveTo>
                    <a:pt x="0" y="0"/>
                  </a:moveTo>
                  <a:lnTo>
                    <a:pt x="461448" y="0"/>
                  </a:lnTo>
                  <a:lnTo>
                    <a:pt x="461448" y="1366163"/>
                  </a:lnTo>
                  <a:lnTo>
                    <a:pt x="0" y="1366163"/>
                  </a:lnTo>
                  <a:close/>
                </a:path>
              </a:pathLst>
            </a:custGeom>
            <a:blipFill>
              <a:blip r:embed="rId3">
                <a:alphaModFix amt="0"/>
              </a:blip>
              <a:stretch>
                <a:fillRect l="-170095" t="0" r="-218054" b="35745"/>
              </a:stretch>
            </a:blipFill>
          </p:spPr>
        </p:sp>
        <p:sp>
          <p:nvSpPr>
            <p:cNvPr name="TextBox 17" id="17"/>
            <p:cNvSpPr txBox="true"/>
            <p:nvPr/>
          </p:nvSpPr>
          <p:spPr>
            <a:xfrm>
              <a:off x="0" y="0"/>
              <a:ext cx="461448" cy="1366163"/>
            </a:xfrm>
            <a:prstGeom prst="rect">
              <a:avLst/>
            </a:prstGeom>
          </p:spPr>
          <p:txBody>
            <a:bodyPr anchor="ctr" rtlCol="false" tIns="0" lIns="0" bIns="0" rIns="0"/>
            <a:lstStyle/>
            <a:p>
              <a:pPr algn="l">
                <a:lnSpc>
                  <a:spcPts val="2160"/>
                </a:lnSpc>
              </a:pPr>
              <a:r>
                <a:rPr lang="en-US" sz="1800">
                  <a:solidFill>
                    <a:srgbClr val="0D9488"/>
                  </a:solidFill>
                  <a:latin typeface="Proxima Nova"/>
                  <a:ea typeface="Proxima Nova"/>
                  <a:cs typeface="Proxima Nova"/>
                  <a:sym typeface="Proxima Nova"/>
                </a:rPr>
                <a:t>✦</a:t>
              </a:r>
            </a:p>
          </p:txBody>
        </p:sp>
      </p:grpSp>
      <p:grpSp>
        <p:nvGrpSpPr>
          <p:cNvPr name="Group 18" id="18"/>
          <p:cNvGrpSpPr/>
          <p:nvPr/>
        </p:nvGrpSpPr>
        <p:grpSpPr>
          <a:xfrm rot="0">
            <a:off x="9869091" y="7654795"/>
            <a:ext cx="3000680" cy="1038488"/>
            <a:chOff x="0" y="0"/>
            <a:chExt cx="3931230" cy="1360536"/>
          </a:xfrm>
        </p:grpSpPr>
        <p:sp>
          <p:nvSpPr>
            <p:cNvPr name="Freeform 19" id="19"/>
            <p:cNvSpPr/>
            <p:nvPr/>
          </p:nvSpPr>
          <p:spPr>
            <a:xfrm flipH="false" flipV="false" rot="0">
              <a:off x="0" y="0"/>
              <a:ext cx="3931230" cy="1360536"/>
            </a:xfrm>
            <a:custGeom>
              <a:avLst/>
              <a:gdLst/>
              <a:ahLst/>
              <a:cxnLst/>
              <a:rect r="r" b="b" t="t" l="l"/>
              <a:pathLst>
                <a:path h="1360536" w="3931230">
                  <a:moveTo>
                    <a:pt x="0" y="0"/>
                  </a:moveTo>
                  <a:lnTo>
                    <a:pt x="3931230" y="0"/>
                  </a:lnTo>
                  <a:lnTo>
                    <a:pt x="3931230" y="1360536"/>
                  </a:lnTo>
                  <a:lnTo>
                    <a:pt x="0" y="1360536"/>
                  </a:lnTo>
                  <a:close/>
                </a:path>
              </a:pathLst>
            </a:custGeom>
            <a:blipFill>
              <a:blip r:embed="rId3">
                <a:alphaModFix amt="0"/>
              </a:blip>
              <a:stretch>
                <a:fillRect l="0" t="-101140" r="-136940" b="-65661"/>
              </a:stretch>
            </a:blipFill>
          </p:spPr>
        </p:sp>
        <p:sp>
          <p:nvSpPr>
            <p:cNvPr name="TextBox 20" id="20"/>
            <p:cNvSpPr txBox="true"/>
            <p:nvPr/>
          </p:nvSpPr>
          <p:spPr>
            <a:xfrm>
              <a:off x="0" y="0"/>
              <a:ext cx="3931230" cy="1360536"/>
            </a:xfrm>
            <a:prstGeom prst="rect">
              <a:avLst/>
            </a:prstGeom>
          </p:spPr>
          <p:txBody>
            <a:bodyPr anchor="ctr" rtlCol="false" tIns="0" lIns="0" bIns="0" rIns="0"/>
            <a:lstStyle/>
            <a:p>
              <a:pPr algn="l">
                <a:lnSpc>
                  <a:spcPts val="2760"/>
                </a:lnSpc>
              </a:pPr>
              <a:r>
                <a:rPr lang="en-US" sz="2300">
                  <a:solidFill>
                    <a:srgbClr val="1E293B"/>
                  </a:solidFill>
                  <a:latin typeface="Proxima Nova"/>
                  <a:ea typeface="Proxima Nova"/>
                  <a:cs typeface="Proxima Nova"/>
                  <a:sym typeface="Proxima Nova"/>
                </a:rPr>
                <a:t>Industry KPI Cards</a:t>
              </a:r>
            </a:p>
          </p:txBody>
        </p:sp>
      </p:grpSp>
      <p:grpSp>
        <p:nvGrpSpPr>
          <p:cNvPr name="Group 21" id="21"/>
          <p:cNvGrpSpPr/>
          <p:nvPr/>
        </p:nvGrpSpPr>
        <p:grpSpPr>
          <a:xfrm rot="0">
            <a:off x="9588706" y="8904030"/>
            <a:ext cx="3388640" cy="1078558"/>
            <a:chOff x="0" y="0"/>
            <a:chExt cx="4439502" cy="1413033"/>
          </a:xfrm>
        </p:grpSpPr>
        <p:sp>
          <p:nvSpPr>
            <p:cNvPr name="Freeform 22" id="22"/>
            <p:cNvSpPr/>
            <p:nvPr/>
          </p:nvSpPr>
          <p:spPr>
            <a:xfrm flipH="false" flipV="false" rot="0">
              <a:off x="0" y="0"/>
              <a:ext cx="4439540" cy="1413071"/>
            </a:xfrm>
            <a:custGeom>
              <a:avLst/>
              <a:gdLst/>
              <a:ahLst/>
              <a:cxnLst/>
              <a:rect r="r" b="b" t="t" l="l"/>
              <a:pathLst>
                <a:path h="1413071" w="4439540">
                  <a:moveTo>
                    <a:pt x="0" y="274784"/>
                  </a:moveTo>
                  <a:cubicBezTo>
                    <a:pt x="0" y="123023"/>
                    <a:pt x="33500" y="0"/>
                    <a:pt x="74825" y="0"/>
                  </a:cubicBezTo>
                  <a:lnTo>
                    <a:pt x="4364692" y="0"/>
                  </a:lnTo>
                  <a:cubicBezTo>
                    <a:pt x="4406018" y="0"/>
                    <a:pt x="4439540" y="123023"/>
                    <a:pt x="4439540" y="274784"/>
                  </a:cubicBezTo>
                  <a:lnTo>
                    <a:pt x="4439540" y="1138308"/>
                  </a:lnTo>
                  <a:cubicBezTo>
                    <a:pt x="4439540" y="1290069"/>
                    <a:pt x="4406018" y="1413071"/>
                    <a:pt x="4364692" y="1413071"/>
                  </a:cubicBezTo>
                  <a:lnTo>
                    <a:pt x="74825" y="1413071"/>
                  </a:lnTo>
                  <a:cubicBezTo>
                    <a:pt x="33500" y="1413071"/>
                    <a:pt x="0" y="1290069"/>
                    <a:pt x="0" y="1138308"/>
                  </a:cubicBezTo>
                  <a:close/>
                </a:path>
              </a:pathLst>
            </a:custGeom>
            <a:solidFill>
              <a:srgbClr val="FFFFFF"/>
            </a:solidFill>
            <a:ln w="25400" cap="sq">
              <a:solidFill>
                <a:srgbClr val="CBD5E1"/>
              </a:solidFill>
              <a:prstDash val="solid"/>
              <a:miter/>
            </a:ln>
          </p:spPr>
        </p:sp>
      </p:grpSp>
      <p:grpSp>
        <p:nvGrpSpPr>
          <p:cNvPr name="Group 23" id="23"/>
          <p:cNvGrpSpPr/>
          <p:nvPr/>
        </p:nvGrpSpPr>
        <p:grpSpPr>
          <a:xfrm rot="0">
            <a:off x="9692981" y="8929306"/>
            <a:ext cx="352220" cy="1042782"/>
            <a:chOff x="0" y="0"/>
            <a:chExt cx="461448" cy="1366163"/>
          </a:xfrm>
        </p:grpSpPr>
        <p:sp>
          <p:nvSpPr>
            <p:cNvPr name="Freeform 24" id="24"/>
            <p:cNvSpPr/>
            <p:nvPr/>
          </p:nvSpPr>
          <p:spPr>
            <a:xfrm flipH="false" flipV="false" rot="0">
              <a:off x="0" y="0"/>
              <a:ext cx="461448" cy="1366163"/>
            </a:xfrm>
            <a:custGeom>
              <a:avLst/>
              <a:gdLst/>
              <a:ahLst/>
              <a:cxnLst/>
              <a:rect r="r" b="b" t="t" l="l"/>
              <a:pathLst>
                <a:path h="1366163" w="461448">
                  <a:moveTo>
                    <a:pt x="0" y="0"/>
                  </a:moveTo>
                  <a:lnTo>
                    <a:pt x="461448" y="0"/>
                  </a:lnTo>
                  <a:lnTo>
                    <a:pt x="461448" y="1366163"/>
                  </a:lnTo>
                  <a:lnTo>
                    <a:pt x="0" y="1366163"/>
                  </a:lnTo>
                  <a:close/>
                </a:path>
              </a:pathLst>
            </a:custGeom>
            <a:blipFill>
              <a:blip r:embed="rId3">
                <a:alphaModFix amt="0"/>
              </a:blip>
              <a:stretch>
                <a:fillRect l="-170095" t="0" r="-218054" b="35745"/>
              </a:stretch>
            </a:blipFill>
          </p:spPr>
        </p:sp>
        <p:sp>
          <p:nvSpPr>
            <p:cNvPr name="TextBox 25" id="25"/>
            <p:cNvSpPr txBox="true"/>
            <p:nvPr/>
          </p:nvSpPr>
          <p:spPr>
            <a:xfrm>
              <a:off x="0" y="0"/>
              <a:ext cx="461448" cy="1366163"/>
            </a:xfrm>
            <a:prstGeom prst="rect">
              <a:avLst/>
            </a:prstGeom>
          </p:spPr>
          <p:txBody>
            <a:bodyPr anchor="ctr" rtlCol="false" tIns="0" lIns="0" bIns="0" rIns="0"/>
            <a:lstStyle/>
            <a:p>
              <a:pPr algn="l">
                <a:lnSpc>
                  <a:spcPts val="2160"/>
                </a:lnSpc>
              </a:pPr>
              <a:r>
                <a:rPr lang="en-US" sz="1800">
                  <a:solidFill>
                    <a:srgbClr val="0D9488"/>
                  </a:solidFill>
                  <a:latin typeface="Proxima Nova"/>
                  <a:ea typeface="Proxima Nova"/>
                  <a:cs typeface="Proxima Nova"/>
                  <a:sym typeface="Proxima Nova"/>
                </a:rPr>
                <a:t>✦</a:t>
              </a:r>
            </a:p>
          </p:txBody>
        </p:sp>
      </p:grpSp>
      <p:grpSp>
        <p:nvGrpSpPr>
          <p:cNvPr name="Group 26" id="26"/>
          <p:cNvGrpSpPr/>
          <p:nvPr/>
        </p:nvGrpSpPr>
        <p:grpSpPr>
          <a:xfrm rot="0">
            <a:off x="9869091" y="8924057"/>
            <a:ext cx="3000680" cy="1038488"/>
            <a:chOff x="0" y="0"/>
            <a:chExt cx="3931230" cy="1360536"/>
          </a:xfrm>
        </p:grpSpPr>
        <p:sp>
          <p:nvSpPr>
            <p:cNvPr name="Freeform 27" id="27"/>
            <p:cNvSpPr/>
            <p:nvPr/>
          </p:nvSpPr>
          <p:spPr>
            <a:xfrm flipH="false" flipV="false" rot="0">
              <a:off x="0" y="0"/>
              <a:ext cx="3931230" cy="1360536"/>
            </a:xfrm>
            <a:custGeom>
              <a:avLst/>
              <a:gdLst/>
              <a:ahLst/>
              <a:cxnLst/>
              <a:rect r="r" b="b" t="t" l="l"/>
              <a:pathLst>
                <a:path h="1360536" w="3931230">
                  <a:moveTo>
                    <a:pt x="0" y="0"/>
                  </a:moveTo>
                  <a:lnTo>
                    <a:pt x="3931230" y="0"/>
                  </a:lnTo>
                  <a:lnTo>
                    <a:pt x="3931230" y="1360536"/>
                  </a:lnTo>
                  <a:lnTo>
                    <a:pt x="0" y="1360536"/>
                  </a:lnTo>
                  <a:close/>
                </a:path>
              </a:pathLst>
            </a:custGeom>
            <a:blipFill>
              <a:blip r:embed="rId3">
                <a:alphaModFix amt="0"/>
              </a:blip>
              <a:stretch>
                <a:fillRect l="0" t="-101140" r="-136940" b="-65661"/>
              </a:stretch>
            </a:blipFill>
          </p:spPr>
        </p:sp>
        <p:sp>
          <p:nvSpPr>
            <p:cNvPr name="TextBox 28" id="28"/>
            <p:cNvSpPr txBox="true"/>
            <p:nvPr/>
          </p:nvSpPr>
          <p:spPr>
            <a:xfrm>
              <a:off x="0" y="0"/>
              <a:ext cx="3931230" cy="1360536"/>
            </a:xfrm>
            <a:prstGeom prst="rect">
              <a:avLst/>
            </a:prstGeom>
          </p:spPr>
          <p:txBody>
            <a:bodyPr anchor="ctr" rtlCol="false" tIns="0" lIns="0" bIns="0" rIns="0"/>
            <a:lstStyle/>
            <a:p>
              <a:pPr algn="l">
                <a:lnSpc>
                  <a:spcPts val="2760"/>
                </a:lnSpc>
              </a:pPr>
              <a:r>
                <a:rPr lang="en-US" sz="2300">
                  <a:solidFill>
                    <a:srgbClr val="1E293B"/>
                  </a:solidFill>
                  <a:latin typeface="Proxima Nova"/>
                  <a:ea typeface="Proxima Nova"/>
                  <a:cs typeface="Proxima Nova"/>
                  <a:sym typeface="Proxima Nova"/>
                </a:rPr>
                <a:t>AUM Trend Analysis</a:t>
              </a:r>
            </a:p>
          </p:txBody>
        </p:sp>
      </p:grpSp>
      <p:grpSp>
        <p:nvGrpSpPr>
          <p:cNvPr name="Group 29" id="29"/>
          <p:cNvGrpSpPr/>
          <p:nvPr/>
        </p:nvGrpSpPr>
        <p:grpSpPr>
          <a:xfrm rot="0">
            <a:off x="13111867" y="7656815"/>
            <a:ext cx="5013789" cy="1077629"/>
            <a:chOff x="0" y="0"/>
            <a:chExt cx="6568631" cy="1411816"/>
          </a:xfrm>
        </p:grpSpPr>
        <p:sp>
          <p:nvSpPr>
            <p:cNvPr name="Freeform 30" id="30"/>
            <p:cNvSpPr/>
            <p:nvPr/>
          </p:nvSpPr>
          <p:spPr>
            <a:xfrm flipH="false" flipV="false" rot="0">
              <a:off x="0" y="0"/>
              <a:ext cx="6568670" cy="1411854"/>
            </a:xfrm>
            <a:custGeom>
              <a:avLst/>
              <a:gdLst/>
              <a:ahLst/>
              <a:cxnLst/>
              <a:rect r="r" b="b" t="t" l="l"/>
              <a:pathLst>
                <a:path h="1411854" w="6568670">
                  <a:moveTo>
                    <a:pt x="0" y="274548"/>
                  </a:moveTo>
                  <a:cubicBezTo>
                    <a:pt x="0" y="122917"/>
                    <a:pt x="49566" y="0"/>
                    <a:pt x="110711" y="0"/>
                  </a:cubicBezTo>
                  <a:lnTo>
                    <a:pt x="6457945" y="0"/>
                  </a:lnTo>
                  <a:cubicBezTo>
                    <a:pt x="6519090" y="0"/>
                    <a:pt x="6568670" y="122917"/>
                    <a:pt x="6568670" y="274548"/>
                  </a:cubicBezTo>
                  <a:lnTo>
                    <a:pt x="6568670" y="1137327"/>
                  </a:lnTo>
                  <a:cubicBezTo>
                    <a:pt x="6568670" y="1288957"/>
                    <a:pt x="6519090" y="1411854"/>
                    <a:pt x="6457945" y="1411854"/>
                  </a:cubicBezTo>
                  <a:lnTo>
                    <a:pt x="110711" y="1411854"/>
                  </a:lnTo>
                  <a:cubicBezTo>
                    <a:pt x="49566" y="1411854"/>
                    <a:pt x="0" y="1288957"/>
                    <a:pt x="0" y="1137327"/>
                  </a:cubicBezTo>
                  <a:close/>
                </a:path>
              </a:pathLst>
            </a:custGeom>
            <a:solidFill>
              <a:srgbClr val="FFFFFF"/>
            </a:solidFill>
            <a:ln w="25400" cap="sq">
              <a:solidFill>
                <a:srgbClr val="CBD5E1"/>
              </a:solidFill>
              <a:prstDash val="solid"/>
              <a:miter/>
            </a:ln>
          </p:spPr>
        </p:sp>
      </p:grpSp>
      <p:grpSp>
        <p:nvGrpSpPr>
          <p:cNvPr name="Group 31" id="31"/>
          <p:cNvGrpSpPr/>
          <p:nvPr/>
        </p:nvGrpSpPr>
        <p:grpSpPr>
          <a:xfrm rot="0">
            <a:off x="13266152" y="7687314"/>
            <a:ext cx="521140" cy="1041884"/>
            <a:chOff x="0" y="0"/>
            <a:chExt cx="682752" cy="1364986"/>
          </a:xfrm>
        </p:grpSpPr>
        <p:sp>
          <p:nvSpPr>
            <p:cNvPr name="Freeform 32" id="32"/>
            <p:cNvSpPr/>
            <p:nvPr/>
          </p:nvSpPr>
          <p:spPr>
            <a:xfrm flipH="false" flipV="false" rot="0">
              <a:off x="0" y="0"/>
              <a:ext cx="682752" cy="1364986"/>
            </a:xfrm>
            <a:custGeom>
              <a:avLst/>
              <a:gdLst/>
              <a:ahLst/>
              <a:cxnLst/>
              <a:rect r="r" b="b" t="t" l="l"/>
              <a:pathLst>
                <a:path h="1364986" w="682752">
                  <a:moveTo>
                    <a:pt x="0" y="0"/>
                  </a:moveTo>
                  <a:lnTo>
                    <a:pt x="682752" y="0"/>
                  </a:lnTo>
                  <a:lnTo>
                    <a:pt x="682752" y="1364986"/>
                  </a:lnTo>
                  <a:lnTo>
                    <a:pt x="0" y="1364986"/>
                  </a:lnTo>
                  <a:close/>
                </a:path>
              </a:pathLst>
            </a:custGeom>
            <a:blipFill>
              <a:blip r:embed="rId3">
                <a:alphaModFix amt="0"/>
              </a:blip>
              <a:stretch>
                <a:fillRect l="-114961" t="0" r="-114961" b="35689"/>
              </a:stretch>
            </a:blipFill>
          </p:spPr>
        </p:sp>
        <p:sp>
          <p:nvSpPr>
            <p:cNvPr name="TextBox 33" id="33"/>
            <p:cNvSpPr txBox="true"/>
            <p:nvPr/>
          </p:nvSpPr>
          <p:spPr>
            <a:xfrm>
              <a:off x="0" y="0"/>
              <a:ext cx="682752" cy="1364986"/>
            </a:xfrm>
            <a:prstGeom prst="rect">
              <a:avLst/>
            </a:prstGeom>
          </p:spPr>
          <p:txBody>
            <a:bodyPr anchor="ctr" rtlCol="false" tIns="0" lIns="0" bIns="0" rIns="0"/>
            <a:lstStyle/>
            <a:p>
              <a:pPr algn="l">
                <a:lnSpc>
                  <a:spcPts val="2160"/>
                </a:lnSpc>
              </a:pPr>
              <a:r>
                <a:rPr lang="en-US" sz="1800">
                  <a:solidFill>
                    <a:srgbClr val="0D9488"/>
                  </a:solidFill>
                  <a:latin typeface="Proxima Nova"/>
                  <a:ea typeface="Proxima Nova"/>
                  <a:cs typeface="Proxima Nova"/>
                  <a:sym typeface="Proxima Nova"/>
                </a:rPr>
                <a:t>✦</a:t>
              </a:r>
            </a:p>
          </p:txBody>
        </p:sp>
      </p:grpSp>
      <p:grpSp>
        <p:nvGrpSpPr>
          <p:cNvPr name="Group 34" id="34"/>
          <p:cNvGrpSpPr/>
          <p:nvPr/>
        </p:nvGrpSpPr>
        <p:grpSpPr>
          <a:xfrm rot="0">
            <a:off x="13526722" y="7676825"/>
            <a:ext cx="4439768" cy="1037593"/>
            <a:chOff x="0" y="0"/>
            <a:chExt cx="5816599" cy="1359364"/>
          </a:xfrm>
        </p:grpSpPr>
        <p:sp>
          <p:nvSpPr>
            <p:cNvPr name="Freeform 35" id="35"/>
            <p:cNvSpPr/>
            <p:nvPr/>
          </p:nvSpPr>
          <p:spPr>
            <a:xfrm flipH="false" flipV="false" rot="0">
              <a:off x="0" y="0"/>
              <a:ext cx="5816599" cy="1359364"/>
            </a:xfrm>
            <a:custGeom>
              <a:avLst/>
              <a:gdLst/>
              <a:ahLst/>
              <a:cxnLst/>
              <a:rect r="r" b="b" t="t" l="l"/>
              <a:pathLst>
                <a:path h="1359364" w="5816599">
                  <a:moveTo>
                    <a:pt x="0" y="0"/>
                  </a:moveTo>
                  <a:lnTo>
                    <a:pt x="5816599" y="0"/>
                  </a:lnTo>
                  <a:lnTo>
                    <a:pt x="5816599" y="1359364"/>
                  </a:lnTo>
                  <a:lnTo>
                    <a:pt x="0" y="1359364"/>
                  </a:lnTo>
                  <a:close/>
                </a:path>
              </a:pathLst>
            </a:custGeom>
            <a:blipFill>
              <a:blip r:embed="rId3">
                <a:alphaModFix amt="0"/>
              </a:blip>
              <a:stretch>
                <a:fillRect l="0" t="-101228" r="-60139" b="-65804"/>
              </a:stretch>
            </a:blipFill>
          </p:spPr>
        </p:sp>
        <p:sp>
          <p:nvSpPr>
            <p:cNvPr name="TextBox 36" id="36"/>
            <p:cNvSpPr txBox="true"/>
            <p:nvPr/>
          </p:nvSpPr>
          <p:spPr>
            <a:xfrm>
              <a:off x="0" y="0"/>
              <a:ext cx="5816599" cy="1359364"/>
            </a:xfrm>
            <a:prstGeom prst="rect">
              <a:avLst/>
            </a:prstGeom>
          </p:spPr>
          <p:txBody>
            <a:bodyPr anchor="ctr" rtlCol="false" tIns="0" lIns="0" bIns="0" rIns="0"/>
            <a:lstStyle/>
            <a:p>
              <a:pPr algn="l">
                <a:lnSpc>
                  <a:spcPts val="2760"/>
                </a:lnSpc>
              </a:pPr>
              <a:r>
                <a:rPr lang="en-US" sz="2300">
                  <a:solidFill>
                    <a:srgbClr val="1E293B"/>
                  </a:solidFill>
                  <a:latin typeface="Proxima Nova"/>
                  <a:ea typeface="Proxima Nova"/>
                  <a:cs typeface="Proxima Nova"/>
                  <a:sym typeface="Proxima Nova"/>
                </a:rPr>
                <a:t>Fund Risk vs Return Visualization</a:t>
              </a:r>
            </a:p>
          </p:txBody>
        </p:sp>
      </p:grpSp>
      <p:grpSp>
        <p:nvGrpSpPr>
          <p:cNvPr name="Group 37" id="37"/>
          <p:cNvGrpSpPr/>
          <p:nvPr/>
        </p:nvGrpSpPr>
        <p:grpSpPr>
          <a:xfrm rot="0">
            <a:off x="13111867" y="8924984"/>
            <a:ext cx="5013789" cy="1077629"/>
            <a:chOff x="0" y="0"/>
            <a:chExt cx="6568631" cy="1411816"/>
          </a:xfrm>
        </p:grpSpPr>
        <p:sp>
          <p:nvSpPr>
            <p:cNvPr name="Freeform 38" id="38"/>
            <p:cNvSpPr/>
            <p:nvPr/>
          </p:nvSpPr>
          <p:spPr>
            <a:xfrm flipH="false" flipV="false" rot="0">
              <a:off x="0" y="0"/>
              <a:ext cx="6568670" cy="1411854"/>
            </a:xfrm>
            <a:custGeom>
              <a:avLst/>
              <a:gdLst/>
              <a:ahLst/>
              <a:cxnLst/>
              <a:rect r="r" b="b" t="t" l="l"/>
              <a:pathLst>
                <a:path h="1411854" w="6568670">
                  <a:moveTo>
                    <a:pt x="0" y="274548"/>
                  </a:moveTo>
                  <a:cubicBezTo>
                    <a:pt x="0" y="122917"/>
                    <a:pt x="49566" y="0"/>
                    <a:pt x="110711" y="0"/>
                  </a:cubicBezTo>
                  <a:lnTo>
                    <a:pt x="6457945" y="0"/>
                  </a:lnTo>
                  <a:cubicBezTo>
                    <a:pt x="6519090" y="0"/>
                    <a:pt x="6568670" y="122917"/>
                    <a:pt x="6568670" y="274548"/>
                  </a:cubicBezTo>
                  <a:lnTo>
                    <a:pt x="6568670" y="1137327"/>
                  </a:lnTo>
                  <a:cubicBezTo>
                    <a:pt x="6568670" y="1288957"/>
                    <a:pt x="6519090" y="1411854"/>
                    <a:pt x="6457945" y="1411854"/>
                  </a:cubicBezTo>
                  <a:lnTo>
                    <a:pt x="110711" y="1411854"/>
                  </a:lnTo>
                  <a:cubicBezTo>
                    <a:pt x="49566" y="1411854"/>
                    <a:pt x="0" y="1288957"/>
                    <a:pt x="0" y="1137327"/>
                  </a:cubicBezTo>
                  <a:close/>
                </a:path>
              </a:pathLst>
            </a:custGeom>
            <a:solidFill>
              <a:srgbClr val="FFFFFF"/>
            </a:solidFill>
            <a:ln w="25400" cap="sq">
              <a:solidFill>
                <a:srgbClr val="CBD5E1"/>
              </a:solidFill>
              <a:prstDash val="solid"/>
              <a:miter/>
            </a:ln>
          </p:spPr>
        </p:sp>
      </p:grpSp>
      <p:grpSp>
        <p:nvGrpSpPr>
          <p:cNvPr name="Group 39" id="39"/>
          <p:cNvGrpSpPr/>
          <p:nvPr/>
        </p:nvGrpSpPr>
        <p:grpSpPr>
          <a:xfrm rot="0">
            <a:off x="13266152" y="8960728"/>
            <a:ext cx="521140" cy="1041884"/>
            <a:chOff x="0" y="0"/>
            <a:chExt cx="682752" cy="1364986"/>
          </a:xfrm>
        </p:grpSpPr>
        <p:sp>
          <p:nvSpPr>
            <p:cNvPr name="Freeform 40" id="40"/>
            <p:cNvSpPr/>
            <p:nvPr/>
          </p:nvSpPr>
          <p:spPr>
            <a:xfrm flipH="false" flipV="false" rot="0">
              <a:off x="0" y="0"/>
              <a:ext cx="682752" cy="1364986"/>
            </a:xfrm>
            <a:custGeom>
              <a:avLst/>
              <a:gdLst/>
              <a:ahLst/>
              <a:cxnLst/>
              <a:rect r="r" b="b" t="t" l="l"/>
              <a:pathLst>
                <a:path h="1364986" w="682752">
                  <a:moveTo>
                    <a:pt x="0" y="0"/>
                  </a:moveTo>
                  <a:lnTo>
                    <a:pt x="682752" y="0"/>
                  </a:lnTo>
                  <a:lnTo>
                    <a:pt x="682752" y="1364986"/>
                  </a:lnTo>
                  <a:lnTo>
                    <a:pt x="0" y="1364986"/>
                  </a:lnTo>
                  <a:close/>
                </a:path>
              </a:pathLst>
            </a:custGeom>
            <a:blipFill>
              <a:blip r:embed="rId3">
                <a:alphaModFix amt="0"/>
              </a:blip>
              <a:stretch>
                <a:fillRect l="-114961" t="0" r="-114961" b="35689"/>
              </a:stretch>
            </a:blipFill>
          </p:spPr>
        </p:sp>
        <p:sp>
          <p:nvSpPr>
            <p:cNvPr name="TextBox 41" id="41"/>
            <p:cNvSpPr txBox="true"/>
            <p:nvPr/>
          </p:nvSpPr>
          <p:spPr>
            <a:xfrm>
              <a:off x="0" y="0"/>
              <a:ext cx="682752" cy="1364986"/>
            </a:xfrm>
            <a:prstGeom prst="rect">
              <a:avLst/>
            </a:prstGeom>
          </p:spPr>
          <p:txBody>
            <a:bodyPr anchor="ctr" rtlCol="false" tIns="0" lIns="0" bIns="0" rIns="0"/>
            <a:lstStyle/>
            <a:p>
              <a:pPr algn="l">
                <a:lnSpc>
                  <a:spcPts val="2160"/>
                </a:lnSpc>
              </a:pPr>
              <a:r>
                <a:rPr lang="en-US" sz="1800">
                  <a:solidFill>
                    <a:srgbClr val="0D9488"/>
                  </a:solidFill>
                  <a:latin typeface="Proxima Nova"/>
                  <a:ea typeface="Proxima Nova"/>
                  <a:cs typeface="Proxima Nova"/>
                  <a:sym typeface="Proxima Nova"/>
                </a:rPr>
                <a:t>✦</a:t>
              </a:r>
            </a:p>
          </p:txBody>
        </p:sp>
      </p:grpSp>
      <p:grpSp>
        <p:nvGrpSpPr>
          <p:cNvPr name="Group 42" id="42"/>
          <p:cNvGrpSpPr/>
          <p:nvPr/>
        </p:nvGrpSpPr>
        <p:grpSpPr>
          <a:xfrm rot="0">
            <a:off x="13526722" y="8944994"/>
            <a:ext cx="4439768" cy="1037593"/>
            <a:chOff x="0" y="0"/>
            <a:chExt cx="5816599" cy="1359364"/>
          </a:xfrm>
        </p:grpSpPr>
        <p:sp>
          <p:nvSpPr>
            <p:cNvPr name="Freeform 43" id="43"/>
            <p:cNvSpPr/>
            <p:nvPr/>
          </p:nvSpPr>
          <p:spPr>
            <a:xfrm flipH="false" flipV="false" rot="0">
              <a:off x="0" y="0"/>
              <a:ext cx="5816599" cy="1359364"/>
            </a:xfrm>
            <a:custGeom>
              <a:avLst/>
              <a:gdLst/>
              <a:ahLst/>
              <a:cxnLst/>
              <a:rect r="r" b="b" t="t" l="l"/>
              <a:pathLst>
                <a:path h="1359364" w="5816599">
                  <a:moveTo>
                    <a:pt x="0" y="0"/>
                  </a:moveTo>
                  <a:lnTo>
                    <a:pt x="5816599" y="0"/>
                  </a:lnTo>
                  <a:lnTo>
                    <a:pt x="5816599" y="1359364"/>
                  </a:lnTo>
                  <a:lnTo>
                    <a:pt x="0" y="1359364"/>
                  </a:lnTo>
                  <a:close/>
                </a:path>
              </a:pathLst>
            </a:custGeom>
            <a:blipFill>
              <a:blip r:embed="rId3">
                <a:alphaModFix amt="0"/>
              </a:blip>
              <a:stretch>
                <a:fillRect l="0" t="-101228" r="-60139" b="-65804"/>
              </a:stretch>
            </a:blipFill>
          </p:spPr>
        </p:sp>
        <p:sp>
          <p:nvSpPr>
            <p:cNvPr name="TextBox 44" id="44"/>
            <p:cNvSpPr txBox="true"/>
            <p:nvPr/>
          </p:nvSpPr>
          <p:spPr>
            <a:xfrm>
              <a:off x="0" y="0"/>
              <a:ext cx="5816599" cy="1359364"/>
            </a:xfrm>
            <a:prstGeom prst="rect">
              <a:avLst/>
            </a:prstGeom>
          </p:spPr>
          <p:txBody>
            <a:bodyPr anchor="ctr" rtlCol="false" tIns="0" lIns="0" bIns="0" rIns="0"/>
            <a:lstStyle/>
            <a:p>
              <a:pPr algn="l">
                <a:lnSpc>
                  <a:spcPts val="2760"/>
                </a:lnSpc>
              </a:pPr>
              <a:r>
                <a:rPr lang="en-US" sz="2300">
                  <a:solidFill>
                    <a:srgbClr val="1E293B"/>
                  </a:solidFill>
                  <a:latin typeface="Proxima Nova"/>
                  <a:ea typeface="Proxima Nova"/>
                  <a:cs typeface="Proxima Nova"/>
                  <a:sym typeface="Proxima Nova"/>
                </a:rPr>
                <a:t>Fund Scorecard</a:t>
              </a:r>
            </a:p>
          </p:txBody>
        </p:sp>
      </p:grpSp>
      <p:grpSp>
        <p:nvGrpSpPr>
          <p:cNvPr name="Group 45" id="45"/>
          <p:cNvGrpSpPr/>
          <p:nvPr/>
        </p:nvGrpSpPr>
        <p:grpSpPr>
          <a:xfrm rot="0">
            <a:off x="635312" y="6920103"/>
            <a:ext cx="7863840" cy="694944"/>
            <a:chOff x="0" y="0"/>
            <a:chExt cx="10485120" cy="926592"/>
          </a:xfrm>
        </p:grpSpPr>
        <p:sp>
          <p:nvSpPr>
            <p:cNvPr name="Freeform 46" id="46"/>
            <p:cNvSpPr/>
            <p:nvPr/>
          </p:nvSpPr>
          <p:spPr>
            <a:xfrm flipH="false" flipV="false" rot="0">
              <a:off x="0" y="0"/>
              <a:ext cx="10485120" cy="926592"/>
            </a:xfrm>
            <a:custGeom>
              <a:avLst/>
              <a:gdLst/>
              <a:ahLst/>
              <a:cxnLst/>
              <a:rect r="r" b="b" t="t" l="l"/>
              <a:pathLst>
                <a:path h="926592" w="10485120">
                  <a:moveTo>
                    <a:pt x="0" y="0"/>
                  </a:moveTo>
                  <a:lnTo>
                    <a:pt x="10485120" y="0"/>
                  </a:lnTo>
                  <a:lnTo>
                    <a:pt x="10485120" y="926592"/>
                  </a:lnTo>
                  <a:lnTo>
                    <a:pt x="0" y="926592"/>
                  </a:lnTo>
                  <a:close/>
                </a:path>
              </a:pathLst>
            </a:custGeom>
            <a:blipFill>
              <a:blip r:embed="rId3">
                <a:alphaModFix amt="0"/>
              </a:blip>
              <a:stretch>
                <a:fillRect l="0" t="-170488" r="0" b="-170488"/>
              </a:stretch>
            </a:blipFill>
          </p:spPr>
        </p:sp>
        <p:sp>
          <p:nvSpPr>
            <p:cNvPr name="TextBox 47" id="47"/>
            <p:cNvSpPr txBox="true"/>
            <p:nvPr/>
          </p:nvSpPr>
          <p:spPr>
            <a:xfrm>
              <a:off x="0" y="-9525"/>
              <a:ext cx="10485120" cy="936117"/>
            </a:xfrm>
            <a:prstGeom prst="rect">
              <a:avLst/>
            </a:prstGeom>
          </p:spPr>
          <p:txBody>
            <a:bodyPr anchor="ctr" rtlCol="false" tIns="0" lIns="0" bIns="0" rIns="0"/>
            <a:lstStyle/>
            <a:p>
              <a:pPr algn="l">
                <a:lnSpc>
                  <a:spcPts val="3120"/>
                </a:lnSpc>
              </a:pPr>
              <a:r>
                <a:rPr lang="en-US" sz="2600" b="true">
                  <a:solidFill>
                    <a:srgbClr val="0D1B2A"/>
                  </a:solidFill>
                  <a:latin typeface="Proxima Nova Bold"/>
                  <a:ea typeface="Proxima Nova Bold"/>
                  <a:cs typeface="Proxima Nova Bold"/>
                  <a:sym typeface="Proxima Nova Bold"/>
                </a:rPr>
                <a:t>Business Value</a:t>
              </a:r>
            </a:p>
          </p:txBody>
        </p:sp>
      </p:grpSp>
      <p:grpSp>
        <p:nvGrpSpPr>
          <p:cNvPr name="Group 48" id="48"/>
          <p:cNvGrpSpPr/>
          <p:nvPr/>
        </p:nvGrpSpPr>
        <p:grpSpPr>
          <a:xfrm rot="0">
            <a:off x="619449" y="7704788"/>
            <a:ext cx="8018738" cy="1055590"/>
            <a:chOff x="0" y="0"/>
            <a:chExt cx="10691651" cy="1407454"/>
          </a:xfrm>
        </p:grpSpPr>
        <p:sp>
          <p:nvSpPr>
            <p:cNvPr name="Freeform 49" id="49"/>
            <p:cNvSpPr/>
            <p:nvPr/>
          </p:nvSpPr>
          <p:spPr>
            <a:xfrm flipH="false" flipV="false" rot="0">
              <a:off x="0" y="0"/>
              <a:ext cx="10691689" cy="1407492"/>
            </a:xfrm>
            <a:custGeom>
              <a:avLst/>
              <a:gdLst/>
              <a:ahLst/>
              <a:cxnLst/>
              <a:rect r="r" b="b" t="t" l="l"/>
              <a:pathLst>
                <a:path h="1407492" w="10691689">
                  <a:moveTo>
                    <a:pt x="0" y="273699"/>
                  </a:moveTo>
                  <a:cubicBezTo>
                    <a:pt x="0" y="122537"/>
                    <a:pt x="80678" y="0"/>
                    <a:pt x="180202" y="0"/>
                  </a:cubicBezTo>
                  <a:lnTo>
                    <a:pt x="10511487" y="0"/>
                  </a:lnTo>
                  <a:cubicBezTo>
                    <a:pt x="10611012" y="0"/>
                    <a:pt x="10691689" y="122537"/>
                    <a:pt x="10691689" y="273699"/>
                  </a:cubicBezTo>
                  <a:lnTo>
                    <a:pt x="10691689" y="1133813"/>
                  </a:lnTo>
                  <a:cubicBezTo>
                    <a:pt x="10691689" y="1284975"/>
                    <a:pt x="10611012" y="1407492"/>
                    <a:pt x="10511487" y="1407492"/>
                  </a:cubicBezTo>
                  <a:lnTo>
                    <a:pt x="180202" y="1407492"/>
                  </a:lnTo>
                  <a:cubicBezTo>
                    <a:pt x="80678" y="1407492"/>
                    <a:pt x="0" y="1284975"/>
                    <a:pt x="0" y="1133813"/>
                  </a:cubicBezTo>
                  <a:close/>
                </a:path>
              </a:pathLst>
            </a:custGeom>
            <a:solidFill>
              <a:srgbClr val="FEF3C7"/>
            </a:solidFill>
            <a:ln w="25400" cap="sq">
              <a:solidFill>
                <a:srgbClr val="F59E0B"/>
              </a:solidFill>
              <a:prstDash val="solid"/>
              <a:miter/>
            </a:ln>
          </p:spPr>
        </p:sp>
      </p:grpSp>
      <p:grpSp>
        <p:nvGrpSpPr>
          <p:cNvPr name="Group 50" id="50"/>
          <p:cNvGrpSpPr/>
          <p:nvPr/>
        </p:nvGrpSpPr>
        <p:grpSpPr>
          <a:xfrm rot="0">
            <a:off x="911177" y="7615047"/>
            <a:ext cx="7435272" cy="1235058"/>
            <a:chOff x="0" y="0"/>
            <a:chExt cx="9913697" cy="1646744"/>
          </a:xfrm>
        </p:grpSpPr>
        <p:sp>
          <p:nvSpPr>
            <p:cNvPr name="Freeform 51" id="51"/>
            <p:cNvSpPr/>
            <p:nvPr/>
          </p:nvSpPr>
          <p:spPr>
            <a:xfrm flipH="false" flipV="false" rot="0">
              <a:off x="0" y="0"/>
              <a:ext cx="9913696" cy="1646744"/>
            </a:xfrm>
            <a:custGeom>
              <a:avLst/>
              <a:gdLst/>
              <a:ahLst/>
              <a:cxnLst/>
              <a:rect r="r" b="b" t="t" l="l"/>
              <a:pathLst>
                <a:path h="1646744" w="9913696">
                  <a:moveTo>
                    <a:pt x="0" y="0"/>
                  </a:moveTo>
                  <a:lnTo>
                    <a:pt x="9913696" y="0"/>
                  </a:lnTo>
                  <a:lnTo>
                    <a:pt x="9913696" y="1646744"/>
                  </a:lnTo>
                  <a:lnTo>
                    <a:pt x="0" y="1646744"/>
                  </a:lnTo>
                  <a:close/>
                </a:path>
              </a:pathLst>
            </a:custGeom>
            <a:blipFill>
              <a:blip r:embed="rId3">
                <a:alphaModFix amt="0"/>
              </a:blip>
              <a:stretch>
                <a:fillRect l="0" t="-88755" r="1614" b="-42062"/>
              </a:stretch>
            </a:blipFill>
          </p:spPr>
        </p:sp>
        <p:sp>
          <p:nvSpPr>
            <p:cNvPr name="TextBox 52" id="52"/>
            <p:cNvSpPr txBox="true"/>
            <p:nvPr/>
          </p:nvSpPr>
          <p:spPr>
            <a:xfrm>
              <a:off x="0" y="0"/>
              <a:ext cx="9913697" cy="1646744"/>
            </a:xfrm>
            <a:prstGeom prst="rect">
              <a:avLst/>
            </a:prstGeom>
          </p:spPr>
          <p:txBody>
            <a:bodyPr anchor="ctr" rtlCol="false" tIns="0" lIns="0" bIns="0" rIns="0"/>
            <a:lstStyle/>
            <a:p>
              <a:pPr algn="l">
                <a:lnSpc>
                  <a:spcPts val="2640"/>
                </a:lnSpc>
              </a:pPr>
              <a:r>
                <a:rPr lang="en-US" sz="2200">
                  <a:solidFill>
                    <a:srgbClr val="1E293B"/>
                  </a:solidFill>
                  <a:latin typeface="Proxima Nova"/>
                  <a:ea typeface="Proxima Nova"/>
                  <a:cs typeface="Proxima Nova"/>
                  <a:sym typeface="Proxima Nova"/>
                </a:rPr>
                <a:t>Enables quick identification of top-performing funds</a:t>
              </a:r>
            </a:p>
          </p:txBody>
        </p:sp>
      </p:grpSp>
      <p:grpSp>
        <p:nvGrpSpPr>
          <p:cNvPr name="Group 53" id="53"/>
          <p:cNvGrpSpPr/>
          <p:nvPr/>
        </p:nvGrpSpPr>
        <p:grpSpPr>
          <a:xfrm rot="0">
            <a:off x="619449" y="8947022"/>
            <a:ext cx="8018738" cy="1055590"/>
            <a:chOff x="0" y="0"/>
            <a:chExt cx="10691651" cy="1407454"/>
          </a:xfrm>
        </p:grpSpPr>
        <p:sp>
          <p:nvSpPr>
            <p:cNvPr name="Freeform 54" id="54"/>
            <p:cNvSpPr/>
            <p:nvPr/>
          </p:nvSpPr>
          <p:spPr>
            <a:xfrm flipH="false" flipV="false" rot="0">
              <a:off x="0" y="0"/>
              <a:ext cx="10691689" cy="1407492"/>
            </a:xfrm>
            <a:custGeom>
              <a:avLst/>
              <a:gdLst/>
              <a:ahLst/>
              <a:cxnLst/>
              <a:rect r="r" b="b" t="t" l="l"/>
              <a:pathLst>
                <a:path h="1407492" w="10691689">
                  <a:moveTo>
                    <a:pt x="0" y="273699"/>
                  </a:moveTo>
                  <a:cubicBezTo>
                    <a:pt x="0" y="122537"/>
                    <a:pt x="80678" y="0"/>
                    <a:pt x="180202" y="0"/>
                  </a:cubicBezTo>
                  <a:lnTo>
                    <a:pt x="10511487" y="0"/>
                  </a:lnTo>
                  <a:cubicBezTo>
                    <a:pt x="10611012" y="0"/>
                    <a:pt x="10691689" y="122537"/>
                    <a:pt x="10691689" y="273699"/>
                  </a:cubicBezTo>
                  <a:lnTo>
                    <a:pt x="10691689" y="1133813"/>
                  </a:lnTo>
                  <a:cubicBezTo>
                    <a:pt x="10691689" y="1284975"/>
                    <a:pt x="10611012" y="1407492"/>
                    <a:pt x="10511487" y="1407492"/>
                  </a:cubicBezTo>
                  <a:lnTo>
                    <a:pt x="180202" y="1407492"/>
                  </a:lnTo>
                  <a:cubicBezTo>
                    <a:pt x="80678" y="1407492"/>
                    <a:pt x="0" y="1284975"/>
                    <a:pt x="0" y="1133813"/>
                  </a:cubicBezTo>
                  <a:close/>
                </a:path>
              </a:pathLst>
            </a:custGeom>
            <a:solidFill>
              <a:srgbClr val="FEF3C7"/>
            </a:solidFill>
            <a:ln w="25400" cap="sq">
              <a:solidFill>
                <a:srgbClr val="F59E0B"/>
              </a:solidFill>
              <a:prstDash val="solid"/>
              <a:miter/>
            </a:ln>
          </p:spPr>
        </p:sp>
      </p:grpSp>
      <p:grpSp>
        <p:nvGrpSpPr>
          <p:cNvPr name="Group 55" id="55"/>
          <p:cNvGrpSpPr/>
          <p:nvPr/>
        </p:nvGrpSpPr>
        <p:grpSpPr>
          <a:xfrm rot="0">
            <a:off x="911177" y="8857281"/>
            <a:ext cx="7435272" cy="1235058"/>
            <a:chOff x="0" y="0"/>
            <a:chExt cx="9913697" cy="1646744"/>
          </a:xfrm>
        </p:grpSpPr>
        <p:sp>
          <p:nvSpPr>
            <p:cNvPr name="Freeform 56" id="56"/>
            <p:cNvSpPr/>
            <p:nvPr/>
          </p:nvSpPr>
          <p:spPr>
            <a:xfrm flipH="false" flipV="false" rot="0">
              <a:off x="0" y="0"/>
              <a:ext cx="9913696" cy="1646744"/>
            </a:xfrm>
            <a:custGeom>
              <a:avLst/>
              <a:gdLst/>
              <a:ahLst/>
              <a:cxnLst/>
              <a:rect r="r" b="b" t="t" l="l"/>
              <a:pathLst>
                <a:path h="1646744" w="9913696">
                  <a:moveTo>
                    <a:pt x="0" y="0"/>
                  </a:moveTo>
                  <a:lnTo>
                    <a:pt x="9913696" y="0"/>
                  </a:lnTo>
                  <a:lnTo>
                    <a:pt x="9913696" y="1646744"/>
                  </a:lnTo>
                  <a:lnTo>
                    <a:pt x="0" y="1646744"/>
                  </a:lnTo>
                  <a:close/>
                </a:path>
              </a:pathLst>
            </a:custGeom>
            <a:blipFill>
              <a:blip r:embed="rId3">
                <a:alphaModFix amt="0"/>
              </a:blip>
              <a:stretch>
                <a:fillRect l="0" t="-88755" r="1614" b="-42062"/>
              </a:stretch>
            </a:blipFill>
          </p:spPr>
        </p:sp>
        <p:sp>
          <p:nvSpPr>
            <p:cNvPr name="TextBox 57" id="57"/>
            <p:cNvSpPr txBox="true"/>
            <p:nvPr/>
          </p:nvSpPr>
          <p:spPr>
            <a:xfrm>
              <a:off x="0" y="0"/>
              <a:ext cx="9913697" cy="1646744"/>
            </a:xfrm>
            <a:prstGeom prst="rect">
              <a:avLst/>
            </a:prstGeom>
          </p:spPr>
          <p:txBody>
            <a:bodyPr anchor="ctr" rtlCol="false" tIns="0" lIns="0" bIns="0" rIns="0"/>
            <a:lstStyle/>
            <a:p>
              <a:pPr algn="l">
                <a:lnSpc>
                  <a:spcPts val="2640"/>
                </a:lnSpc>
              </a:pPr>
              <a:r>
                <a:rPr lang="en-US" sz="2200">
                  <a:solidFill>
                    <a:srgbClr val="1E293B"/>
                  </a:solidFill>
                  <a:latin typeface="Proxima Nova"/>
                  <a:ea typeface="Proxima Nova"/>
                  <a:cs typeface="Proxima Nova"/>
                  <a:sym typeface="Proxima Nova"/>
                </a:rPr>
                <a:t>Supports fund comparison and risk evaluation</a:t>
              </a:r>
            </a:p>
          </p:txBody>
        </p:sp>
      </p:grpSp>
      <p:grpSp>
        <p:nvGrpSpPr>
          <p:cNvPr name="Group 58" id="58"/>
          <p:cNvGrpSpPr/>
          <p:nvPr/>
        </p:nvGrpSpPr>
        <p:grpSpPr>
          <a:xfrm rot="0">
            <a:off x="4249067" y="1329442"/>
            <a:ext cx="8778240" cy="731520"/>
            <a:chOff x="0" y="0"/>
            <a:chExt cx="11704320" cy="975360"/>
          </a:xfrm>
        </p:grpSpPr>
        <p:sp>
          <p:nvSpPr>
            <p:cNvPr name="Freeform 59" id="59"/>
            <p:cNvSpPr/>
            <p:nvPr/>
          </p:nvSpPr>
          <p:spPr>
            <a:xfrm flipH="false" flipV="false" rot="0">
              <a:off x="0" y="0"/>
              <a:ext cx="11704320" cy="975360"/>
            </a:xfrm>
            <a:custGeom>
              <a:avLst/>
              <a:gdLst/>
              <a:ahLst/>
              <a:cxnLst/>
              <a:rect r="r" b="b" t="t" l="l"/>
              <a:pathLst>
                <a:path h="975360" w="11704320">
                  <a:moveTo>
                    <a:pt x="0" y="0"/>
                  </a:moveTo>
                  <a:lnTo>
                    <a:pt x="11704320" y="0"/>
                  </a:lnTo>
                  <a:lnTo>
                    <a:pt x="11704320" y="975360"/>
                  </a:lnTo>
                  <a:lnTo>
                    <a:pt x="0" y="975360"/>
                  </a:lnTo>
                  <a:close/>
                </a:path>
              </a:pathLst>
            </a:custGeom>
            <a:blipFill>
              <a:blip r:embed="rId3">
                <a:alphaModFix amt="0"/>
              </a:blip>
              <a:stretch>
                <a:fillRect l="0" t="-183820" r="0" b="-183820"/>
              </a:stretch>
            </a:blipFill>
          </p:spPr>
        </p:sp>
        <p:sp>
          <p:nvSpPr>
            <p:cNvPr name="TextBox 60" id="60"/>
            <p:cNvSpPr txBox="true"/>
            <p:nvPr/>
          </p:nvSpPr>
          <p:spPr>
            <a:xfrm>
              <a:off x="0" y="-9525"/>
              <a:ext cx="11704320" cy="984885"/>
            </a:xfrm>
            <a:prstGeom prst="rect">
              <a:avLst/>
            </a:prstGeom>
          </p:spPr>
          <p:txBody>
            <a:bodyPr anchor="ctr" rtlCol="false" tIns="0" lIns="0" bIns="0" rIns="0"/>
            <a:lstStyle/>
            <a:p>
              <a:pPr algn="ctr">
                <a:lnSpc>
                  <a:spcPts val="3120"/>
                </a:lnSpc>
              </a:pPr>
              <a:r>
                <a:rPr lang="en-US" sz="2600" b="true">
                  <a:solidFill>
                    <a:srgbClr val="64748B"/>
                  </a:solidFill>
                  <a:latin typeface="Proxima Nova Bold"/>
                  <a:ea typeface="Proxima Nova Bold"/>
                  <a:cs typeface="Proxima Nova Bold"/>
                  <a:sym typeface="Proxima Nova Bold"/>
                </a:rPr>
                <a:t>Power BI Dashboard – Page 1 &amp; 2</a:t>
              </a:r>
            </a:p>
          </p:txBody>
        </p:sp>
      </p:grpSp>
      <p:sp>
        <p:nvSpPr>
          <p:cNvPr name="Freeform 61" id="61"/>
          <p:cNvSpPr/>
          <p:nvPr/>
        </p:nvSpPr>
        <p:spPr>
          <a:xfrm flipH="false" flipV="false" rot="0">
            <a:off x="619449" y="2191233"/>
            <a:ext cx="8018738" cy="4530587"/>
          </a:xfrm>
          <a:custGeom>
            <a:avLst/>
            <a:gdLst/>
            <a:ahLst/>
            <a:cxnLst/>
            <a:rect r="r" b="b" t="t" l="l"/>
            <a:pathLst>
              <a:path h="4530587" w="8018738">
                <a:moveTo>
                  <a:pt x="0" y="0"/>
                </a:moveTo>
                <a:lnTo>
                  <a:pt x="8018738" y="0"/>
                </a:lnTo>
                <a:lnTo>
                  <a:pt x="8018738" y="4530586"/>
                </a:lnTo>
                <a:lnTo>
                  <a:pt x="0" y="4530586"/>
                </a:lnTo>
                <a:lnTo>
                  <a:pt x="0" y="0"/>
                </a:lnTo>
                <a:close/>
              </a:path>
            </a:pathLst>
          </a:custGeom>
          <a:blipFill>
            <a:blip r:embed="rId5"/>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945643"/>
            <a:chOff x="0" y="0"/>
            <a:chExt cx="24417871" cy="2594191"/>
          </a:xfrm>
        </p:grpSpPr>
        <p:sp>
          <p:nvSpPr>
            <p:cNvPr name="Freeform 3" id="3"/>
            <p:cNvSpPr/>
            <p:nvPr/>
          </p:nvSpPr>
          <p:spPr>
            <a:xfrm flipH="false" flipV="false" rot="0">
              <a:off x="0" y="0"/>
              <a:ext cx="24417910" cy="2594229"/>
            </a:xfrm>
            <a:custGeom>
              <a:avLst/>
              <a:gdLst/>
              <a:ahLst/>
              <a:cxnLst/>
              <a:rect r="r" b="b" t="t" l="l"/>
              <a:pathLst>
                <a:path h="2594229" w="24417910">
                  <a:moveTo>
                    <a:pt x="0" y="0"/>
                  </a:moveTo>
                  <a:lnTo>
                    <a:pt x="24417910" y="0"/>
                  </a:lnTo>
                  <a:lnTo>
                    <a:pt x="24417910" y="2594229"/>
                  </a:lnTo>
                  <a:lnTo>
                    <a:pt x="0" y="2594229"/>
                  </a:lnTo>
                  <a:close/>
                </a:path>
              </a:pathLst>
            </a:custGeom>
            <a:solidFill>
              <a:srgbClr val="0D1B2A"/>
            </a:solidFill>
            <a:ln w="25400" cap="sq">
              <a:solidFill>
                <a:srgbClr val="0D1B2A"/>
              </a:solidFill>
              <a:prstDash val="solid"/>
              <a:miter/>
            </a:ln>
          </p:spPr>
        </p:sp>
      </p:grpSp>
      <p:grpSp>
        <p:nvGrpSpPr>
          <p:cNvPr name="Group 4" id="4"/>
          <p:cNvGrpSpPr/>
          <p:nvPr/>
        </p:nvGrpSpPr>
        <p:grpSpPr>
          <a:xfrm rot="0">
            <a:off x="-12697" y="1907543"/>
            <a:ext cx="18313403" cy="153419"/>
            <a:chOff x="0" y="0"/>
            <a:chExt cx="24417871" cy="204559"/>
          </a:xfrm>
        </p:grpSpPr>
        <p:sp>
          <p:nvSpPr>
            <p:cNvPr name="Freeform 5" id="5"/>
            <p:cNvSpPr/>
            <p:nvPr/>
          </p:nvSpPr>
          <p:spPr>
            <a:xfrm flipH="false" flipV="false" rot="0">
              <a:off x="0" y="0"/>
              <a:ext cx="24417910" cy="204597"/>
            </a:xfrm>
            <a:custGeom>
              <a:avLst/>
              <a:gdLst/>
              <a:ahLst/>
              <a:cxnLst/>
              <a:rect r="r" b="b" t="t" l="l"/>
              <a:pathLst>
                <a:path h="204597" w="24417910">
                  <a:moveTo>
                    <a:pt x="0" y="0"/>
                  </a:moveTo>
                  <a:lnTo>
                    <a:pt x="24417910" y="0"/>
                  </a:lnTo>
                  <a:lnTo>
                    <a:pt x="24417910" y="204597"/>
                  </a:lnTo>
                  <a:lnTo>
                    <a:pt x="0" y="204597"/>
                  </a:lnTo>
                  <a:close/>
                </a:path>
              </a:pathLst>
            </a:custGeom>
            <a:solidFill>
              <a:srgbClr val="0D9488"/>
            </a:solidFill>
            <a:ln w="25400" cap="sq">
              <a:solidFill>
                <a:srgbClr val="0D9488"/>
              </a:solidFill>
              <a:prstDash val="solid"/>
              <a:miter/>
            </a:ln>
          </p:spPr>
        </p:sp>
      </p:grpSp>
      <p:grpSp>
        <p:nvGrpSpPr>
          <p:cNvPr name="Group 6" id="6"/>
          <p:cNvGrpSpPr/>
          <p:nvPr/>
        </p:nvGrpSpPr>
        <p:grpSpPr>
          <a:xfrm rot="0">
            <a:off x="822960" y="402336"/>
            <a:ext cx="16642080" cy="1097280"/>
            <a:chOff x="0" y="0"/>
            <a:chExt cx="22189440" cy="1463040"/>
          </a:xfrm>
        </p:grpSpPr>
        <p:sp>
          <p:nvSpPr>
            <p:cNvPr name="Freeform 7" id="7"/>
            <p:cNvSpPr/>
            <p:nvPr/>
          </p:nvSpPr>
          <p:spPr>
            <a:xfrm flipH="false" flipV="false" rot="0">
              <a:off x="0" y="0"/>
              <a:ext cx="22189439" cy="1463040"/>
            </a:xfrm>
            <a:custGeom>
              <a:avLst/>
              <a:gdLst/>
              <a:ahLst/>
              <a:cxnLst/>
              <a:rect r="r" b="b" t="t" l="l"/>
              <a:pathLst>
                <a:path h="1463040" w="22189439">
                  <a:moveTo>
                    <a:pt x="0" y="0"/>
                  </a:moveTo>
                  <a:lnTo>
                    <a:pt x="22189439" y="0"/>
                  </a:lnTo>
                  <a:lnTo>
                    <a:pt x="22189439" y="1463040"/>
                  </a:lnTo>
                  <a:lnTo>
                    <a:pt x="0" y="1463040"/>
                  </a:lnTo>
                  <a:close/>
                </a:path>
              </a:pathLst>
            </a:custGeom>
            <a:blipFill>
              <a:blip r:embed="rId3">
                <a:alphaModFix amt="0"/>
              </a:blip>
              <a:stretch>
                <a:fillRect l="0" t="-245523" r="0" b="-245523"/>
              </a:stretch>
            </a:blipFill>
          </p:spPr>
        </p:sp>
        <p:sp>
          <p:nvSpPr>
            <p:cNvPr name="TextBox 8" id="8"/>
            <p:cNvSpPr txBox="true"/>
            <p:nvPr/>
          </p:nvSpPr>
          <p:spPr>
            <a:xfrm>
              <a:off x="0" y="9525"/>
              <a:ext cx="22189440" cy="1453515"/>
            </a:xfrm>
            <a:prstGeom prst="rect">
              <a:avLst/>
            </a:prstGeom>
          </p:spPr>
          <p:txBody>
            <a:bodyPr anchor="ctr" rtlCol="false" tIns="0" lIns="0" bIns="0" rIns="0"/>
            <a:lstStyle/>
            <a:p>
              <a:pPr algn="l">
                <a:lnSpc>
                  <a:spcPts val="5280"/>
                </a:lnSpc>
              </a:pPr>
              <a:r>
                <a:rPr lang="en-US" sz="4400" b="true">
                  <a:solidFill>
                    <a:srgbClr val="FFFFFF"/>
                  </a:solidFill>
                  <a:latin typeface="Montserrat Bold"/>
                  <a:ea typeface="Montserrat Bold"/>
                  <a:cs typeface="Montserrat Bold"/>
                  <a:sym typeface="Montserrat Bold"/>
                </a:rPr>
                <a:t>Dashboard Overview – Investor &amp; Market Analytics</a:t>
              </a:r>
            </a:p>
          </p:txBody>
        </p:sp>
      </p:grpSp>
      <p:grpSp>
        <p:nvGrpSpPr>
          <p:cNvPr name="Group 9" id="9"/>
          <p:cNvGrpSpPr/>
          <p:nvPr/>
        </p:nvGrpSpPr>
        <p:grpSpPr>
          <a:xfrm rot="0">
            <a:off x="8995318" y="7486178"/>
            <a:ext cx="4485831" cy="815818"/>
            <a:chOff x="0" y="0"/>
            <a:chExt cx="5981108" cy="1087758"/>
          </a:xfrm>
        </p:grpSpPr>
        <p:sp>
          <p:nvSpPr>
            <p:cNvPr name="Freeform 10" id="10"/>
            <p:cNvSpPr/>
            <p:nvPr/>
          </p:nvSpPr>
          <p:spPr>
            <a:xfrm flipH="false" flipV="false" rot="0">
              <a:off x="0" y="0"/>
              <a:ext cx="5981108" cy="1087758"/>
            </a:xfrm>
            <a:custGeom>
              <a:avLst/>
              <a:gdLst/>
              <a:ahLst/>
              <a:cxnLst/>
              <a:rect r="r" b="b" t="t" l="l"/>
              <a:pathLst>
                <a:path h="1087758" w="5981108">
                  <a:moveTo>
                    <a:pt x="0" y="0"/>
                  </a:moveTo>
                  <a:lnTo>
                    <a:pt x="5981108" y="0"/>
                  </a:lnTo>
                  <a:lnTo>
                    <a:pt x="5981108" y="1087758"/>
                  </a:lnTo>
                  <a:lnTo>
                    <a:pt x="0" y="1087758"/>
                  </a:lnTo>
                  <a:close/>
                </a:path>
              </a:pathLst>
            </a:custGeom>
            <a:blipFill>
              <a:blip r:embed="rId3">
                <a:alphaModFix amt="0"/>
              </a:blip>
              <a:stretch>
                <a:fillRect l="0" t="-145228" r="-75303" b="-130412"/>
              </a:stretch>
            </a:blipFill>
          </p:spPr>
        </p:sp>
        <p:sp>
          <p:nvSpPr>
            <p:cNvPr name="TextBox 11" id="11"/>
            <p:cNvSpPr txBox="true"/>
            <p:nvPr/>
          </p:nvSpPr>
          <p:spPr>
            <a:xfrm>
              <a:off x="0" y="-9525"/>
              <a:ext cx="5981108" cy="1097283"/>
            </a:xfrm>
            <a:prstGeom prst="rect">
              <a:avLst/>
            </a:prstGeom>
          </p:spPr>
          <p:txBody>
            <a:bodyPr anchor="ctr" rtlCol="false" tIns="0" lIns="0" bIns="0" rIns="0"/>
            <a:lstStyle/>
            <a:p>
              <a:pPr algn="l">
                <a:lnSpc>
                  <a:spcPts val="3120"/>
                </a:lnSpc>
              </a:pPr>
              <a:r>
                <a:rPr lang="en-US" sz="2600" b="true">
                  <a:solidFill>
                    <a:srgbClr val="0D1B2A"/>
                  </a:solidFill>
                  <a:latin typeface="Proxima Nova Bold"/>
                  <a:ea typeface="Proxima Nova Bold"/>
                  <a:cs typeface="Proxima Nova Bold"/>
                  <a:sym typeface="Proxima Nova Bold"/>
                </a:rPr>
                <a:t>Dashboard Features</a:t>
              </a:r>
            </a:p>
          </p:txBody>
        </p:sp>
      </p:grpSp>
      <p:grpSp>
        <p:nvGrpSpPr>
          <p:cNvPr name="Group 12" id="12"/>
          <p:cNvGrpSpPr/>
          <p:nvPr/>
        </p:nvGrpSpPr>
        <p:grpSpPr>
          <a:xfrm rot="0">
            <a:off x="8988075" y="8415904"/>
            <a:ext cx="4500322" cy="802702"/>
            <a:chOff x="0" y="0"/>
            <a:chExt cx="6000429" cy="1070269"/>
          </a:xfrm>
        </p:grpSpPr>
        <p:sp>
          <p:nvSpPr>
            <p:cNvPr name="Freeform 13" id="13"/>
            <p:cNvSpPr/>
            <p:nvPr/>
          </p:nvSpPr>
          <p:spPr>
            <a:xfrm flipH="false" flipV="false" rot="0">
              <a:off x="0" y="0"/>
              <a:ext cx="6000467" cy="1070308"/>
            </a:xfrm>
            <a:custGeom>
              <a:avLst/>
              <a:gdLst/>
              <a:ahLst/>
              <a:cxnLst/>
              <a:rect r="r" b="b" t="t" l="l"/>
              <a:pathLst>
                <a:path h="1070308" w="6000467">
                  <a:moveTo>
                    <a:pt x="0" y="208129"/>
                  </a:moveTo>
                  <a:cubicBezTo>
                    <a:pt x="0" y="93181"/>
                    <a:pt x="45278" y="0"/>
                    <a:pt x="101134" y="0"/>
                  </a:cubicBezTo>
                  <a:lnTo>
                    <a:pt x="5899317" y="0"/>
                  </a:lnTo>
                  <a:cubicBezTo>
                    <a:pt x="5955173" y="0"/>
                    <a:pt x="6000467" y="93181"/>
                    <a:pt x="6000467" y="208129"/>
                  </a:cubicBezTo>
                  <a:lnTo>
                    <a:pt x="6000467" y="862185"/>
                  </a:lnTo>
                  <a:cubicBezTo>
                    <a:pt x="6000467" y="977133"/>
                    <a:pt x="5955173" y="1070308"/>
                    <a:pt x="5899317" y="1070308"/>
                  </a:cubicBezTo>
                  <a:lnTo>
                    <a:pt x="101134" y="1070308"/>
                  </a:lnTo>
                  <a:cubicBezTo>
                    <a:pt x="45278" y="1070308"/>
                    <a:pt x="0" y="977133"/>
                    <a:pt x="0" y="862185"/>
                  </a:cubicBezTo>
                  <a:close/>
                </a:path>
              </a:pathLst>
            </a:custGeom>
            <a:solidFill>
              <a:srgbClr val="FFFFFF"/>
            </a:solidFill>
            <a:ln w="25400" cap="sq">
              <a:solidFill>
                <a:srgbClr val="CBD5E1"/>
              </a:solidFill>
              <a:prstDash val="solid"/>
              <a:miter/>
            </a:ln>
          </p:spPr>
        </p:sp>
      </p:grpSp>
      <p:grpSp>
        <p:nvGrpSpPr>
          <p:cNvPr name="Group 14" id="14"/>
          <p:cNvGrpSpPr/>
          <p:nvPr/>
        </p:nvGrpSpPr>
        <p:grpSpPr>
          <a:xfrm rot="0">
            <a:off x="9128788" y="8430809"/>
            <a:ext cx="512064" cy="772880"/>
            <a:chOff x="0" y="0"/>
            <a:chExt cx="682752" cy="1030507"/>
          </a:xfrm>
        </p:grpSpPr>
        <p:sp>
          <p:nvSpPr>
            <p:cNvPr name="Freeform 15" id="15"/>
            <p:cNvSpPr/>
            <p:nvPr/>
          </p:nvSpPr>
          <p:spPr>
            <a:xfrm flipH="false" flipV="false" rot="0">
              <a:off x="0" y="0"/>
              <a:ext cx="682752" cy="1030507"/>
            </a:xfrm>
            <a:custGeom>
              <a:avLst/>
              <a:gdLst/>
              <a:ahLst/>
              <a:cxnLst/>
              <a:rect r="r" b="b" t="t" l="l"/>
              <a:pathLst>
                <a:path h="1030507" w="682752">
                  <a:moveTo>
                    <a:pt x="0" y="0"/>
                  </a:moveTo>
                  <a:lnTo>
                    <a:pt x="682752" y="0"/>
                  </a:lnTo>
                  <a:lnTo>
                    <a:pt x="682752" y="1030507"/>
                  </a:lnTo>
                  <a:lnTo>
                    <a:pt x="0" y="1030507"/>
                  </a:lnTo>
                  <a:close/>
                </a:path>
              </a:pathLst>
            </a:custGeom>
            <a:blipFill>
              <a:blip r:embed="rId3">
                <a:alphaModFix amt="0"/>
              </a:blip>
              <a:stretch>
                <a:fillRect l="-114961" t="0" r="-114961" b="14816"/>
              </a:stretch>
            </a:blipFill>
          </p:spPr>
        </p:sp>
        <p:sp>
          <p:nvSpPr>
            <p:cNvPr name="TextBox 16" id="16"/>
            <p:cNvSpPr txBox="true"/>
            <p:nvPr/>
          </p:nvSpPr>
          <p:spPr>
            <a:xfrm>
              <a:off x="0" y="0"/>
              <a:ext cx="682752" cy="1030507"/>
            </a:xfrm>
            <a:prstGeom prst="rect">
              <a:avLst/>
            </a:prstGeom>
          </p:spPr>
          <p:txBody>
            <a:bodyPr anchor="ctr" rtlCol="false" tIns="0" lIns="0" bIns="0" rIns="0"/>
            <a:lstStyle/>
            <a:p>
              <a:pPr algn="l">
                <a:lnSpc>
                  <a:spcPts val="2160"/>
                </a:lnSpc>
              </a:pPr>
              <a:r>
                <a:rPr lang="en-US" sz="1800">
                  <a:solidFill>
                    <a:srgbClr val="0D9488"/>
                  </a:solidFill>
                  <a:latin typeface="Proxima Nova"/>
                  <a:ea typeface="Proxima Nova"/>
                  <a:cs typeface="Proxima Nova"/>
                  <a:sym typeface="Proxima Nova"/>
                </a:rPr>
                <a:t>✦</a:t>
              </a:r>
            </a:p>
          </p:txBody>
        </p:sp>
      </p:grpSp>
      <p:grpSp>
        <p:nvGrpSpPr>
          <p:cNvPr name="Group 17" id="17"/>
          <p:cNvGrpSpPr/>
          <p:nvPr/>
        </p:nvGrpSpPr>
        <p:grpSpPr>
          <a:xfrm rot="0">
            <a:off x="9360444" y="8430809"/>
            <a:ext cx="3985087" cy="772880"/>
            <a:chOff x="0" y="0"/>
            <a:chExt cx="5313449" cy="1030507"/>
          </a:xfrm>
        </p:grpSpPr>
        <p:sp>
          <p:nvSpPr>
            <p:cNvPr name="Freeform 18" id="18"/>
            <p:cNvSpPr/>
            <p:nvPr/>
          </p:nvSpPr>
          <p:spPr>
            <a:xfrm flipH="false" flipV="false" rot="0">
              <a:off x="0" y="0"/>
              <a:ext cx="5313449" cy="1030507"/>
            </a:xfrm>
            <a:custGeom>
              <a:avLst/>
              <a:gdLst/>
              <a:ahLst/>
              <a:cxnLst/>
              <a:rect r="r" b="b" t="t" l="l"/>
              <a:pathLst>
                <a:path h="1030507" w="5313449">
                  <a:moveTo>
                    <a:pt x="0" y="0"/>
                  </a:moveTo>
                  <a:lnTo>
                    <a:pt x="5313449" y="0"/>
                  </a:lnTo>
                  <a:lnTo>
                    <a:pt x="5313449" y="1030507"/>
                  </a:lnTo>
                  <a:lnTo>
                    <a:pt x="0" y="1030507"/>
                  </a:lnTo>
                  <a:close/>
                </a:path>
              </a:pathLst>
            </a:custGeom>
            <a:blipFill>
              <a:blip r:embed="rId3">
                <a:alphaModFix amt="0"/>
              </a:blip>
              <a:stretch>
                <a:fillRect l="0" t="-133532" r="-75303" b="-118715"/>
              </a:stretch>
            </a:blipFill>
          </p:spPr>
        </p:sp>
        <p:sp>
          <p:nvSpPr>
            <p:cNvPr name="TextBox 19" id="19"/>
            <p:cNvSpPr txBox="true"/>
            <p:nvPr/>
          </p:nvSpPr>
          <p:spPr>
            <a:xfrm>
              <a:off x="0" y="0"/>
              <a:ext cx="5313449" cy="1030507"/>
            </a:xfrm>
            <a:prstGeom prst="rect">
              <a:avLst/>
            </a:prstGeom>
          </p:spPr>
          <p:txBody>
            <a:bodyPr anchor="ctr" rtlCol="false" tIns="0" lIns="0" bIns="0" rIns="0"/>
            <a:lstStyle/>
            <a:p>
              <a:pPr algn="l">
                <a:lnSpc>
                  <a:spcPts val="2760"/>
                </a:lnSpc>
              </a:pPr>
              <a:r>
                <a:rPr lang="en-US" sz="2300">
                  <a:solidFill>
                    <a:srgbClr val="1E293B"/>
                  </a:solidFill>
                  <a:latin typeface="Proxima Nova"/>
                  <a:ea typeface="Proxima Nova"/>
                  <a:cs typeface="Proxima Nova"/>
                  <a:sym typeface="Proxima Nova"/>
                </a:rPr>
                <a:t>State-wise Investment Analysis</a:t>
              </a:r>
            </a:p>
          </p:txBody>
        </p:sp>
      </p:grpSp>
      <p:grpSp>
        <p:nvGrpSpPr>
          <p:cNvPr name="Group 20" id="20"/>
          <p:cNvGrpSpPr/>
          <p:nvPr/>
        </p:nvGrpSpPr>
        <p:grpSpPr>
          <a:xfrm rot="0">
            <a:off x="8988075" y="9360536"/>
            <a:ext cx="4500322" cy="802702"/>
            <a:chOff x="0" y="0"/>
            <a:chExt cx="6000429" cy="1070269"/>
          </a:xfrm>
        </p:grpSpPr>
        <p:sp>
          <p:nvSpPr>
            <p:cNvPr name="Freeform 21" id="21"/>
            <p:cNvSpPr/>
            <p:nvPr/>
          </p:nvSpPr>
          <p:spPr>
            <a:xfrm flipH="false" flipV="false" rot="0">
              <a:off x="0" y="0"/>
              <a:ext cx="6000467" cy="1070308"/>
            </a:xfrm>
            <a:custGeom>
              <a:avLst/>
              <a:gdLst/>
              <a:ahLst/>
              <a:cxnLst/>
              <a:rect r="r" b="b" t="t" l="l"/>
              <a:pathLst>
                <a:path h="1070308" w="6000467">
                  <a:moveTo>
                    <a:pt x="0" y="208129"/>
                  </a:moveTo>
                  <a:cubicBezTo>
                    <a:pt x="0" y="93181"/>
                    <a:pt x="45278" y="0"/>
                    <a:pt x="101134" y="0"/>
                  </a:cubicBezTo>
                  <a:lnTo>
                    <a:pt x="5899317" y="0"/>
                  </a:lnTo>
                  <a:cubicBezTo>
                    <a:pt x="5955173" y="0"/>
                    <a:pt x="6000467" y="93181"/>
                    <a:pt x="6000467" y="208129"/>
                  </a:cubicBezTo>
                  <a:lnTo>
                    <a:pt x="6000467" y="862185"/>
                  </a:lnTo>
                  <a:cubicBezTo>
                    <a:pt x="6000467" y="977133"/>
                    <a:pt x="5955173" y="1070308"/>
                    <a:pt x="5899317" y="1070308"/>
                  </a:cubicBezTo>
                  <a:lnTo>
                    <a:pt x="101134" y="1070308"/>
                  </a:lnTo>
                  <a:cubicBezTo>
                    <a:pt x="45278" y="1070308"/>
                    <a:pt x="0" y="977133"/>
                    <a:pt x="0" y="862185"/>
                  </a:cubicBezTo>
                  <a:close/>
                </a:path>
              </a:pathLst>
            </a:custGeom>
            <a:solidFill>
              <a:srgbClr val="FFFFFF"/>
            </a:solidFill>
            <a:ln w="25400" cap="sq">
              <a:solidFill>
                <a:srgbClr val="CBD5E1"/>
              </a:solidFill>
              <a:prstDash val="solid"/>
              <a:miter/>
            </a:ln>
          </p:spPr>
        </p:sp>
      </p:grpSp>
      <p:grpSp>
        <p:nvGrpSpPr>
          <p:cNvPr name="Group 22" id="22"/>
          <p:cNvGrpSpPr/>
          <p:nvPr/>
        </p:nvGrpSpPr>
        <p:grpSpPr>
          <a:xfrm rot="0">
            <a:off x="9128788" y="9375441"/>
            <a:ext cx="512064" cy="772880"/>
            <a:chOff x="0" y="0"/>
            <a:chExt cx="682752" cy="1030507"/>
          </a:xfrm>
        </p:grpSpPr>
        <p:sp>
          <p:nvSpPr>
            <p:cNvPr name="Freeform 23" id="23"/>
            <p:cNvSpPr/>
            <p:nvPr/>
          </p:nvSpPr>
          <p:spPr>
            <a:xfrm flipH="false" flipV="false" rot="0">
              <a:off x="0" y="0"/>
              <a:ext cx="682752" cy="1030507"/>
            </a:xfrm>
            <a:custGeom>
              <a:avLst/>
              <a:gdLst/>
              <a:ahLst/>
              <a:cxnLst/>
              <a:rect r="r" b="b" t="t" l="l"/>
              <a:pathLst>
                <a:path h="1030507" w="682752">
                  <a:moveTo>
                    <a:pt x="0" y="0"/>
                  </a:moveTo>
                  <a:lnTo>
                    <a:pt x="682752" y="0"/>
                  </a:lnTo>
                  <a:lnTo>
                    <a:pt x="682752" y="1030507"/>
                  </a:lnTo>
                  <a:lnTo>
                    <a:pt x="0" y="1030507"/>
                  </a:lnTo>
                  <a:close/>
                </a:path>
              </a:pathLst>
            </a:custGeom>
            <a:blipFill>
              <a:blip r:embed="rId3">
                <a:alphaModFix amt="0"/>
              </a:blip>
              <a:stretch>
                <a:fillRect l="-114961" t="0" r="-114961" b="14816"/>
              </a:stretch>
            </a:blipFill>
          </p:spPr>
        </p:sp>
        <p:sp>
          <p:nvSpPr>
            <p:cNvPr name="TextBox 24" id="24"/>
            <p:cNvSpPr txBox="true"/>
            <p:nvPr/>
          </p:nvSpPr>
          <p:spPr>
            <a:xfrm>
              <a:off x="0" y="0"/>
              <a:ext cx="682752" cy="1030507"/>
            </a:xfrm>
            <a:prstGeom prst="rect">
              <a:avLst/>
            </a:prstGeom>
          </p:spPr>
          <p:txBody>
            <a:bodyPr anchor="ctr" rtlCol="false" tIns="0" lIns="0" bIns="0" rIns="0"/>
            <a:lstStyle/>
            <a:p>
              <a:pPr algn="l">
                <a:lnSpc>
                  <a:spcPts val="2160"/>
                </a:lnSpc>
              </a:pPr>
              <a:r>
                <a:rPr lang="en-US" sz="1800">
                  <a:solidFill>
                    <a:srgbClr val="0D9488"/>
                  </a:solidFill>
                  <a:latin typeface="Proxima Nova"/>
                  <a:ea typeface="Proxima Nova"/>
                  <a:cs typeface="Proxima Nova"/>
                  <a:sym typeface="Proxima Nova"/>
                </a:rPr>
                <a:t>✦</a:t>
              </a:r>
            </a:p>
          </p:txBody>
        </p:sp>
      </p:grpSp>
      <p:grpSp>
        <p:nvGrpSpPr>
          <p:cNvPr name="Group 25" id="25"/>
          <p:cNvGrpSpPr/>
          <p:nvPr/>
        </p:nvGrpSpPr>
        <p:grpSpPr>
          <a:xfrm rot="0">
            <a:off x="9360444" y="9375441"/>
            <a:ext cx="3985087" cy="772880"/>
            <a:chOff x="0" y="0"/>
            <a:chExt cx="5313449" cy="1030507"/>
          </a:xfrm>
        </p:grpSpPr>
        <p:sp>
          <p:nvSpPr>
            <p:cNvPr name="Freeform 26" id="26"/>
            <p:cNvSpPr/>
            <p:nvPr/>
          </p:nvSpPr>
          <p:spPr>
            <a:xfrm flipH="false" flipV="false" rot="0">
              <a:off x="0" y="0"/>
              <a:ext cx="5313449" cy="1030507"/>
            </a:xfrm>
            <a:custGeom>
              <a:avLst/>
              <a:gdLst/>
              <a:ahLst/>
              <a:cxnLst/>
              <a:rect r="r" b="b" t="t" l="l"/>
              <a:pathLst>
                <a:path h="1030507" w="5313449">
                  <a:moveTo>
                    <a:pt x="0" y="0"/>
                  </a:moveTo>
                  <a:lnTo>
                    <a:pt x="5313449" y="0"/>
                  </a:lnTo>
                  <a:lnTo>
                    <a:pt x="5313449" y="1030507"/>
                  </a:lnTo>
                  <a:lnTo>
                    <a:pt x="0" y="1030507"/>
                  </a:lnTo>
                  <a:close/>
                </a:path>
              </a:pathLst>
            </a:custGeom>
            <a:blipFill>
              <a:blip r:embed="rId3">
                <a:alphaModFix amt="0"/>
              </a:blip>
              <a:stretch>
                <a:fillRect l="0" t="-133532" r="-75303" b="-118715"/>
              </a:stretch>
            </a:blipFill>
          </p:spPr>
        </p:sp>
        <p:sp>
          <p:nvSpPr>
            <p:cNvPr name="TextBox 27" id="27"/>
            <p:cNvSpPr txBox="true"/>
            <p:nvPr/>
          </p:nvSpPr>
          <p:spPr>
            <a:xfrm>
              <a:off x="0" y="0"/>
              <a:ext cx="5313449" cy="1030507"/>
            </a:xfrm>
            <a:prstGeom prst="rect">
              <a:avLst/>
            </a:prstGeom>
          </p:spPr>
          <p:txBody>
            <a:bodyPr anchor="ctr" rtlCol="false" tIns="0" lIns="0" bIns="0" rIns="0"/>
            <a:lstStyle/>
            <a:p>
              <a:pPr algn="l">
                <a:lnSpc>
                  <a:spcPts val="2760"/>
                </a:lnSpc>
              </a:pPr>
              <a:r>
                <a:rPr lang="en-US" sz="2300">
                  <a:solidFill>
                    <a:srgbClr val="1E293B"/>
                  </a:solidFill>
                  <a:latin typeface="Proxima Nova"/>
                  <a:ea typeface="Proxima Nova"/>
                  <a:cs typeface="Proxima Nova"/>
                  <a:sym typeface="Proxima Nova"/>
                </a:rPr>
                <a:t>SIP vs Lumpsum Distribution</a:t>
              </a:r>
            </a:p>
          </p:txBody>
        </p:sp>
      </p:grpSp>
      <p:grpSp>
        <p:nvGrpSpPr>
          <p:cNvPr name="Group 28" id="28"/>
          <p:cNvGrpSpPr/>
          <p:nvPr/>
        </p:nvGrpSpPr>
        <p:grpSpPr>
          <a:xfrm rot="0">
            <a:off x="13787678" y="8385061"/>
            <a:ext cx="4500322" cy="810019"/>
            <a:chOff x="0" y="0"/>
            <a:chExt cx="6000429" cy="1080025"/>
          </a:xfrm>
        </p:grpSpPr>
        <p:sp>
          <p:nvSpPr>
            <p:cNvPr name="Freeform 29" id="29"/>
            <p:cNvSpPr/>
            <p:nvPr/>
          </p:nvSpPr>
          <p:spPr>
            <a:xfrm flipH="false" flipV="false" rot="0">
              <a:off x="0" y="0"/>
              <a:ext cx="6000467" cy="1080063"/>
            </a:xfrm>
            <a:custGeom>
              <a:avLst/>
              <a:gdLst/>
              <a:ahLst/>
              <a:cxnLst/>
              <a:rect r="r" b="b" t="t" l="l"/>
              <a:pathLst>
                <a:path h="1080063" w="6000467">
                  <a:moveTo>
                    <a:pt x="0" y="210026"/>
                  </a:moveTo>
                  <a:cubicBezTo>
                    <a:pt x="0" y="94030"/>
                    <a:pt x="45278" y="0"/>
                    <a:pt x="101134" y="0"/>
                  </a:cubicBezTo>
                  <a:lnTo>
                    <a:pt x="5899317" y="0"/>
                  </a:lnTo>
                  <a:cubicBezTo>
                    <a:pt x="5955173" y="0"/>
                    <a:pt x="6000467" y="94030"/>
                    <a:pt x="6000467" y="210026"/>
                  </a:cubicBezTo>
                  <a:lnTo>
                    <a:pt x="6000467" y="870044"/>
                  </a:lnTo>
                  <a:cubicBezTo>
                    <a:pt x="6000467" y="986040"/>
                    <a:pt x="5955173" y="1080063"/>
                    <a:pt x="5899317" y="1080063"/>
                  </a:cubicBezTo>
                  <a:lnTo>
                    <a:pt x="101134" y="1080063"/>
                  </a:lnTo>
                  <a:cubicBezTo>
                    <a:pt x="45278" y="1080063"/>
                    <a:pt x="0" y="986040"/>
                    <a:pt x="0" y="870044"/>
                  </a:cubicBezTo>
                  <a:close/>
                </a:path>
              </a:pathLst>
            </a:custGeom>
            <a:solidFill>
              <a:srgbClr val="FFFFFF"/>
            </a:solidFill>
            <a:ln w="25400" cap="sq">
              <a:solidFill>
                <a:srgbClr val="CBD5E1"/>
              </a:solidFill>
              <a:prstDash val="solid"/>
              <a:miter/>
            </a:ln>
          </p:spPr>
        </p:sp>
      </p:grpSp>
      <p:grpSp>
        <p:nvGrpSpPr>
          <p:cNvPr name="Group 30" id="30"/>
          <p:cNvGrpSpPr/>
          <p:nvPr/>
        </p:nvGrpSpPr>
        <p:grpSpPr>
          <a:xfrm rot="0">
            <a:off x="13928391" y="8400102"/>
            <a:ext cx="512064" cy="779925"/>
            <a:chOff x="0" y="0"/>
            <a:chExt cx="682752" cy="1039900"/>
          </a:xfrm>
        </p:grpSpPr>
        <p:sp>
          <p:nvSpPr>
            <p:cNvPr name="Freeform 31" id="31"/>
            <p:cNvSpPr/>
            <p:nvPr/>
          </p:nvSpPr>
          <p:spPr>
            <a:xfrm flipH="false" flipV="false" rot="0">
              <a:off x="0" y="0"/>
              <a:ext cx="682752" cy="1039901"/>
            </a:xfrm>
            <a:custGeom>
              <a:avLst/>
              <a:gdLst/>
              <a:ahLst/>
              <a:cxnLst/>
              <a:rect r="r" b="b" t="t" l="l"/>
              <a:pathLst>
                <a:path h="1039901" w="682752">
                  <a:moveTo>
                    <a:pt x="0" y="0"/>
                  </a:moveTo>
                  <a:lnTo>
                    <a:pt x="682752" y="0"/>
                  </a:lnTo>
                  <a:lnTo>
                    <a:pt x="682752" y="1039901"/>
                  </a:lnTo>
                  <a:lnTo>
                    <a:pt x="0" y="1039901"/>
                  </a:lnTo>
                  <a:close/>
                </a:path>
              </a:pathLst>
            </a:custGeom>
            <a:blipFill>
              <a:blip r:embed="rId3">
                <a:alphaModFix amt="0"/>
              </a:blip>
              <a:stretch>
                <a:fillRect l="-114961" t="0" r="-114961" b="15585"/>
              </a:stretch>
            </a:blipFill>
          </p:spPr>
        </p:sp>
        <p:sp>
          <p:nvSpPr>
            <p:cNvPr name="TextBox 32" id="32"/>
            <p:cNvSpPr txBox="true"/>
            <p:nvPr/>
          </p:nvSpPr>
          <p:spPr>
            <a:xfrm>
              <a:off x="0" y="0"/>
              <a:ext cx="682752" cy="1039900"/>
            </a:xfrm>
            <a:prstGeom prst="rect">
              <a:avLst/>
            </a:prstGeom>
          </p:spPr>
          <p:txBody>
            <a:bodyPr anchor="ctr" rtlCol="false" tIns="0" lIns="0" bIns="0" rIns="0"/>
            <a:lstStyle/>
            <a:p>
              <a:pPr algn="l">
                <a:lnSpc>
                  <a:spcPts val="2160"/>
                </a:lnSpc>
              </a:pPr>
              <a:r>
                <a:rPr lang="en-US" sz="1800">
                  <a:solidFill>
                    <a:srgbClr val="0D9488"/>
                  </a:solidFill>
                  <a:latin typeface="Proxima Nova"/>
                  <a:ea typeface="Proxima Nova"/>
                  <a:cs typeface="Proxima Nova"/>
                  <a:sym typeface="Proxima Nova"/>
                </a:rPr>
                <a:t>✦</a:t>
              </a:r>
            </a:p>
          </p:txBody>
        </p:sp>
      </p:grpSp>
      <p:grpSp>
        <p:nvGrpSpPr>
          <p:cNvPr name="Group 33" id="33"/>
          <p:cNvGrpSpPr/>
          <p:nvPr/>
        </p:nvGrpSpPr>
        <p:grpSpPr>
          <a:xfrm rot="0">
            <a:off x="14160047" y="8400102"/>
            <a:ext cx="3985087" cy="779925"/>
            <a:chOff x="0" y="0"/>
            <a:chExt cx="5313449" cy="1039900"/>
          </a:xfrm>
        </p:grpSpPr>
        <p:sp>
          <p:nvSpPr>
            <p:cNvPr name="Freeform 34" id="34"/>
            <p:cNvSpPr/>
            <p:nvPr/>
          </p:nvSpPr>
          <p:spPr>
            <a:xfrm flipH="false" flipV="false" rot="0">
              <a:off x="0" y="0"/>
              <a:ext cx="5313449" cy="1039901"/>
            </a:xfrm>
            <a:custGeom>
              <a:avLst/>
              <a:gdLst/>
              <a:ahLst/>
              <a:cxnLst/>
              <a:rect r="r" b="b" t="t" l="l"/>
              <a:pathLst>
                <a:path h="1039901" w="5313449">
                  <a:moveTo>
                    <a:pt x="0" y="0"/>
                  </a:moveTo>
                  <a:lnTo>
                    <a:pt x="5313449" y="0"/>
                  </a:lnTo>
                  <a:lnTo>
                    <a:pt x="5313449" y="1039901"/>
                  </a:lnTo>
                  <a:lnTo>
                    <a:pt x="0" y="1039901"/>
                  </a:lnTo>
                  <a:close/>
                </a:path>
              </a:pathLst>
            </a:custGeom>
            <a:blipFill>
              <a:blip r:embed="rId3">
                <a:alphaModFix amt="0"/>
              </a:blip>
              <a:stretch>
                <a:fillRect l="0" t="-132325" r="-75303" b="-116740"/>
              </a:stretch>
            </a:blipFill>
          </p:spPr>
        </p:sp>
        <p:sp>
          <p:nvSpPr>
            <p:cNvPr name="TextBox 35" id="35"/>
            <p:cNvSpPr txBox="true"/>
            <p:nvPr/>
          </p:nvSpPr>
          <p:spPr>
            <a:xfrm>
              <a:off x="0" y="0"/>
              <a:ext cx="5313449" cy="1039900"/>
            </a:xfrm>
            <a:prstGeom prst="rect">
              <a:avLst/>
            </a:prstGeom>
          </p:spPr>
          <p:txBody>
            <a:bodyPr anchor="ctr" rtlCol="false" tIns="0" lIns="0" bIns="0" rIns="0"/>
            <a:lstStyle/>
            <a:p>
              <a:pPr algn="l">
                <a:lnSpc>
                  <a:spcPts val="2760"/>
                </a:lnSpc>
              </a:pPr>
              <a:r>
                <a:rPr lang="en-US" sz="2300">
                  <a:solidFill>
                    <a:srgbClr val="1E293B"/>
                  </a:solidFill>
                  <a:latin typeface="Proxima Nova"/>
                  <a:ea typeface="Proxima Nova"/>
                  <a:cs typeface="Proxima Nova"/>
                  <a:sym typeface="Proxima Nova"/>
                </a:rPr>
                <a:t>Investor Demographics</a:t>
              </a:r>
            </a:p>
          </p:txBody>
        </p:sp>
      </p:grpSp>
      <p:grpSp>
        <p:nvGrpSpPr>
          <p:cNvPr name="Group 36" id="36"/>
          <p:cNvGrpSpPr/>
          <p:nvPr/>
        </p:nvGrpSpPr>
        <p:grpSpPr>
          <a:xfrm rot="0">
            <a:off x="13787678" y="9338303"/>
            <a:ext cx="4500322" cy="810019"/>
            <a:chOff x="0" y="0"/>
            <a:chExt cx="6000429" cy="1080025"/>
          </a:xfrm>
        </p:grpSpPr>
        <p:sp>
          <p:nvSpPr>
            <p:cNvPr name="Freeform 37" id="37"/>
            <p:cNvSpPr/>
            <p:nvPr/>
          </p:nvSpPr>
          <p:spPr>
            <a:xfrm flipH="false" flipV="false" rot="0">
              <a:off x="0" y="0"/>
              <a:ext cx="6000467" cy="1080063"/>
            </a:xfrm>
            <a:custGeom>
              <a:avLst/>
              <a:gdLst/>
              <a:ahLst/>
              <a:cxnLst/>
              <a:rect r="r" b="b" t="t" l="l"/>
              <a:pathLst>
                <a:path h="1080063" w="6000467">
                  <a:moveTo>
                    <a:pt x="0" y="210026"/>
                  </a:moveTo>
                  <a:cubicBezTo>
                    <a:pt x="0" y="94030"/>
                    <a:pt x="45278" y="0"/>
                    <a:pt x="101134" y="0"/>
                  </a:cubicBezTo>
                  <a:lnTo>
                    <a:pt x="5899317" y="0"/>
                  </a:lnTo>
                  <a:cubicBezTo>
                    <a:pt x="5955173" y="0"/>
                    <a:pt x="6000467" y="94030"/>
                    <a:pt x="6000467" y="210026"/>
                  </a:cubicBezTo>
                  <a:lnTo>
                    <a:pt x="6000467" y="870044"/>
                  </a:lnTo>
                  <a:cubicBezTo>
                    <a:pt x="6000467" y="986040"/>
                    <a:pt x="5955173" y="1080063"/>
                    <a:pt x="5899317" y="1080063"/>
                  </a:cubicBezTo>
                  <a:lnTo>
                    <a:pt x="101134" y="1080063"/>
                  </a:lnTo>
                  <a:cubicBezTo>
                    <a:pt x="45278" y="1080063"/>
                    <a:pt x="0" y="986040"/>
                    <a:pt x="0" y="870044"/>
                  </a:cubicBezTo>
                  <a:close/>
                </a:path>
              </a:pathLst>
            </a:custGeom>
            <a:solidFill>
              <a:srgbClr val="FFFFFF"/>
            </a:solidFill>
            <a:ln w="25400" cap="sq">
              <a:solidFill>
                <a:srgbClr val="CBD5E1"/>
              </a:solidFill>
              <a:prstDash val="solid"/>
              <a:miter/>
            </a:ln>
          </p:spPr>
        </p:sp>
      </p:grpSp>
      <p:grpSp>
        <p:nvGrpSpPr>
          <p:cNvPr name="Group 38" id="38"/>
          <p:cNvGrpSpPr/>
          <p:nvPr/>
        </p:nvGrpSpPr>
        <p:grpSpPr>
          <a:xfrm rot="0">
            <a:off x="13928391" y="9353344"/>
            <a:ext cx="512064" cy="779925"/>
            <a:chOff x="0" y="0"/>
            <a:chExt cx="682752" cy="1039900"/>
          </a:xfrm>
        </p:grpSpPr>
        <p:sp>
          <p:nvSpPr>
            <p:cNvPr name="Freeform 39" id="39"/>
            <p:cNvSpPr/>
            <p:nvPr/>
          </p:nvSpPr>
          <p:spPr>
            <a:xfrm flipH="false" flipV="false" rot="0">
              <a:off x="0" y="0"/>
              <a:ext cx="682752" cy="1039901"/>
            </a:xfrm>
            <a:custGeom>
              <a:avLst/>
              <a:gdLst/>
              <a:ahLst/>
              <a:cxnLst/>
              <a:rect r="r" b="b" t="t" l="l"/>
              <a:pathLst>
                <a:path h="1039901" w="682752">
                  <a:moveTo>
                    <a:pt x="0" y="0"/>
                  </a:moveTo>
                  <a:lnTo>
                    <a:pt x="682752" y="0"/>
                  </a:lnTo>
                  <a:lnTo>
                    <a:pt x="682752" y="1039901"/>
                  </a:lnTo>
                  <a:lnTo>
                    <a:pt x="0" y="1039901"/>
                  </a:lnTo>
                  <a:close/>
                </a:path>
              </a:pathLst>
            </a:custGeom>
            <a:blipFill>
              <a:blip r:embed="rId3">
                <a:alphaModFix amt="0"/>
              </a:blip>
              <a:stretch>
                <a:fillRect l="-114961" t="0" r="-114961" b="15585"/>
              </a:stretch>
            </a:blipFill>
          </p:spPr>
        </p:sp>
        <p:sp>
          <p:nvSpPr>
            <p:cNvPr name="TextBox 40" id="40"/>
            <p:cNvSpPr txBox="true"/>
            <p:nvPr/>
          </p:nvSpPr>
          <p:spPr>
            <a:xfrm>
              <a:off x="0" y="0"/>
              <a:ext cx="682752" cy="1039900"/>
            </a:xfrm>
            <a:prstGeom prst="rect">
              <a:avLst/>
            </a:prstGeom>
          </p:spPr>
          <p:txBody>
            <a:bodyPr anchor="ctr" rtlCol="false" tIns="0" lIns="0" bIns="0" rIns="0"/>
            <a:lstStyle/>
            <a:p>
              <a:pPr algn="l">
                <a:lnSpc>
                  <a:spcPts val="2160"/>
                </a:lnSpc>
              </a:pPr>
              <a:r>
                <a:rPr lang="en-US" sz="1800">
                  <a:solidFill>
                    <a:srgbClr val="0D9488"/>
                  </a:solidFill>
                  <a:latin typeface="Proxima Nova"/>
                  <a:ea typeface="Proxima Nova"/>
                  <a:cs typeface="Proxima Nova"/>
                  <a:sym typeface="Proxima Nova"/>
                </a:rPr>
                <a:t>✦</a:t>
              </a:r>
            </a:p>
          </p:txBody>
        </p:sp>
      </p:grpSp>
      <p:grpSp>
        <p:nvGrpSpPr>
          <p:cNvPr name="Group 41" id="41"/>
          <p:cNvGrpSpPr/>
          <p:nvPr/>
        </p:nvGrpSpPr>
        <p:grpSpPr>
          <a:xfrm rot="0">
            <a:off x="14160047" y="9353344"/>
            <a:ext cx="3985087" cy="779925"/>
            <a:chOff x="0" y="0"/>
            <a:chExt cx="5313449" cy="1039900"/>
          </a:xfrm>
        </p:grpSpPr>
        <p:sp>
          <p:nvSpPr>
            <p:cNvPr name="Freeform 42" id="42"/>
            <p:cNvSpPr/>
            <p:nvPr/>
          </p:nvSpPr>
          <p:spPr>
            <a:xfrm flipH="false" flipV="false" rot="0">
              <a:off x="0" y="0"/>
              <a:ext cx="5313449" cy="1039901"/>
            </a:xfrm>
            <a:custGeom>
              <a:avLst/>
              <a:gdLst/>
              <a:ahLst/>
              <a:cxnLst/>
              <a:rect r="r" b="b" t="t" l="l"/>
              <a:pathLst>
                <a:path h="1039901" w="5313449">
                  <a:moveTo>
                    <a:pt x="0" y="0"/>
                  </a:moveTo>
                  <a:lnTo>
                    <a:pt x="5313449" y="0"/>
                  </a:lnTo>
                  <a:lnTo>
                    <a:pt x="5313449" y="1039901"/>
                  </a:lnTo>
                  <a:lnTo>
                    <a:pt x="0" y="1039901"/>
                  </a:lnTo>
                  <a:close/>
                </a:path>
              </a:pathLst>
            </a:custGeom>
            <a:blipFill>
              <a:blip r:embed="rId3">
                <a:alphaModFix amt="0"/>
              </a:blip>
              <a:stretch>
                <a:fillRect l="0" t="-132325" r="-75303" b="-116740"/>
              </a:stretch>
            </a:blipFill>
          </p:spPr>
        </p:sp>
        <p:sp>
          <p:nvSpPr>
            <p:cNvPr name="TextBox 43" id="43"/>
            <p:cNvSpPr txBox="true"/>
            <p:nvPr/>
          </p:nvSpPr>
          <p:spPr>
            <a:xfrm>
              <a:off x="0" y="0"/>
              <a:ext cx="5313449" cy="1039900"/>
            </a:xfrm>
            <a:prstGeom prst="rect">
              <a:avLst/>
            </a:prstGeom>
          </p:spPr>
          <p:txBody>
            <a:bodyPr anchor="ctr" rtlCol="false" tIns="0" lIns="0" bIns="0" rIns="0"/>
            <a:lstStyle/>
            <a:p>
              <a:pPr algn="l">
                <a:lnSpc>
                  <a:spcPts val="2760"/>
                </a:lnSpc>
              </a:pPr>
              <a:r>
                <a:rPr lang="en-US" sz="2300">
                  <a:solidFill>
                    <a:srgbClr val="1E293B"/>
                  </a:solidFill>
                  <a:latin typeface="Proxima Nova"/>
                  <a:ea typeface="Proxima Nova"/>
                  <a:cs typeface="Proxima Nova"/>
                  <a:sym typeface="Proxima Nova"/>
                </a:rPr>
                <a:t>Market Trend Monitoring</a:t>
              </a:r>
            </a:p>
          </p:txBody>
        </p:sp>
      </p:grpSp>
      <p:grpSp>
        <p:nvGrpSpPr>
          <p:cNvPr name="Group 44" id="44"/>
          <p:cNvGrpSpPr/>
          <p:nvPr/>
        </p:nvGrpSpPr>
        <p:grpSpPr>
          <a:xfrm rot="0">
            <a:off x="389630" y="7430776"/>
            <a:ext cx="7863840" cy="837367"/>
            <a:chOff x="0" y="0"/>
            <a:chExt cx="10485120" cy="1116490"/>
          </a:xfrm>
        </p:grpSpPr>
        <p:sp>
          <p:nvSpPr>
            <p:cNvPr name="Freeform 45" id="45"/>
            <p:cNvSpPr/>
            <p:nvPr/>
          </p:nvSpPr>
          <p:spPr>
            <a:xfrm flipH="false" flipV="false" rot="0">
              <a:off x="0" y="0"/>
              <a:ext cx="10485120" cy="1116490"/>
            </a:xfrm>
            <a:custGeom>
              <a:avLst/>
              <a:gdLst/>
              <a:ahLst/>
              <a:cxnLst/>
              <a:rect r="r" b="b" t="t" l="l"/>
              <a:pathLst>
                <a:path h="1116490" w="10485120">
                  <a:moveTo>
                    <a:pt x="0" y="0"/>
                  </a:moveTo>
                  <a:lnTo>
                    <a:pt x="10485120" y="0"/>
                  </a:lnTo>
                  <a:lnTo>
                    <a:pt x="10485120" y="1116490"/>
                  </a:lnTo>
                  <a:lnTo>
                    <a:pt x="0" y="1116490"/>
                  </a:lnTo>
                  <a:close/>
                </a:path>
              </a:pathLst>
            </a:custGeom>
            <a:blipFill>
              <a:blip r:embed="rId3">
                <a:alphaModFix amt="0"/>
              </a:blip>
              <a:stretch>
                <a:fillRect l="0" t="-141491" r="0" b="-124482"/>
              </a:stretch>
            </a:blipFill>
          </p:spPr>
        </p:sp>
        <p:sp>
          <p:nvSpPr>
            <p:cNvPr name="TextBox 46" id="46"/>
            <p:cNvSpPr txBox="true"/>
            <p:nvPr/>
          </p:nvSpPr>
          <p:spPr>
            <a:xfrm>
              <a:off x="0" y="-9525"/>
              <a:ext cx="10485120" cy="1126015"/>
            </a:xfrm>
            <a:prstGeom prst="rect">
              <a:avLst/>
            </a:prstGeom>
          </p:spPr>
          <p:txBody>
            <a:bodyPr anchor="ctr" rtlCol="false" tIns="0" lIns="0" bIns="0" rIns="0"/>
            <a:lstStyle/>
            <a:p>
              <a:pPr algn="l">
                <a:lnSpc>
                  <a:spcPts val="3120"/>
                </a:lnSpc>
              </a:pPr>
              <a:r>
                <a:rPr lang="en-US" sz="2600" b="true">
                  <a:solidFill>
                    <a:srgbClr val="0D1B2A"/>
                  </a:solidFill>
                  <a:latin typeface="Proxima Nova Bold"/>
                  <a:ea typeface="Proxima Nova Bold"/>
                  <a:cs typeface="Proxima Nova Bold"/>
                  <a:sym typeface="Proxima Nova Bold"/>
                </a:rPr>
                <a:t>Business Value</a:t>
              </a:r>
            </a:p>
          </p:txBody>
        </p:sp>
      </p:grpSp>
      <p:grpSp>
        <p:nvGrpSpPr>
          <p:cNvPr name="Group 47" id="47"/>
          <p:cNvGrpSpPr/>
          <p:nvPr/>
        </p:nvGrpSpPr>
        <p:grpSpPr>
          <a:xfrm rot="0">
            <a:off x="376933" y="8385061"/>
            <a:ext cx="7889243" cy="823905"/>
            <a:chOff x="0" y="0"/>
            <a:chExt cx="10518991" cy="1098540"/>
          </a:xfrm>
        </p:grpSpPr>
        <p:sp>
          <p:nvSpPr>
            <p:cNvPr name="Freeform 48" id="48"/>
            <p:cNvSpPr/>
            <p:nvPr/>
          </p:nvSpPr>
          <p:spPr>
            <a:xfrm flipH="false" flipV="false" rot="0">
              <a:off x="0" y="0"/>
              <a:ext cx="10519029" cy="1098578"/>
            </a:xfrm>
            <a:custGeom>
              <a:avLst/>
              <a:gdLst/>
              <a:ahLst/>
              <a:cxnLst/>
              <a:rect r="r" b="b" t="t" l="l"/>
              <a:pathLst>
                <a:path h="1098578" w="10519029">
                  <a:moveTo>
                    <a:pt x="0" y="213627"/>
                  </a:moveTo>
                  <a:cubicBezTo>
                    <a:pt x="0" y="95642"/>
                    <a:pt x="79375" y="0"/>
                    <a:pt x="177292" y="0"/>
                  </a:cubicBezTo>
                  <a:lnTo>
                    <a:pt x="10341737" y="0"/>
                  </a:lnTo>
                  <a:cubicBezTo>
                    <a:pt x="10439654" y="0"/>
                    <a:pt x="10519029" y="95642"/>
                    <a:pt x="10519029" y="213627"/>
                  </a:cubicBezTo>
                  <a:lnTo>
                    <a:pt x="10519029" y="884959"/>
                  </a:lnTo>
                  <a:cubicBezTo>
                    <a:pt x="10519029" y="1002943"/>
                    <a:pt x="10439654" y="1098578"/>
                    <a:pt x="10341737" y="1098578"/>
                  </a:cubicBezTo>
                  <a:lnTo>
                    <a:pt x="177292" y="1098578"/>
                  </a:lnTo>
                  <a:cubicBezTo>
                    <a:pt x="79375" y="1098578"/>
                    <a:pt x="0" y="1002943"/>
                    <a:pt x="0" y="884959"/>
                  </a:cubicBezTo>
                  <a:close/>
                </a:path>
              </a:pathLst>
            </a:custGeom>
            <a:solidFill>
              <a:srgbClr val="FEF3C7"/>
            </a:solidFill>
            <a:ln w="25400" cap="sq">
              <a:solidFill>
                <a:srgbClr val="F59E0B"/>
              </a:solidFill>
              <a:prstDash val="solid"/>
              <a:miter/>
            </a:ln>
          </p:spPr>
        </p:sp>
      </p:grpSp>
      <p:grpSp>
        <p:nvGrpSpPr>
          <p:cNvPr name="Group 49" id="49"/>
          <p:cNvGrpSpPr/>
          <p:nvPr/>
        </p:nvGrpSpPr>
        <p:grpSpPr>
          <a:xfrm rot="0">
            <a:off x="663950" y="8400359"/>
            <a:ext cx="7315200" cy="793295"/>
            <a:chOff x="0" y="0"/>
            <a:chExt cx="9753600" cy="1057727"/>
          </a:xfrm>
        </p:grpSpPr>
        <p:sp>
          <p:nvSpPr>
            <p:cNvPr name="Freeform 50" id="50"/>
            <p:cNvSpPr/>
            <p:nvPr/>
          </p:nvSpPr>
          <p:spPr>
            <a:xfrm flipH="false" flipV="false" rot="0">
              <a:off x="0" y="0"/>
              <a:ext cx="9753600" cy="1057727"/>
            </a:xfrm>
            <a:custGeom>
              <a:avLst/>
              <a:gdLst/>
              <a:ahLst/>
              <a:cxnLst/>
              <a:rect r="r" b="b" t="t" l="l"/>
              <a:pathLst>
                <a:path h="1057727" w="9753600">
                  <a:moveTo>
                    <a:pt x="0" y="0"/>
                  </a:moveTo>
                  <a:lnTo>
                    <a:pt x="9753600" y="0"/>
                  </a:lnTo>
                  <a:lnTo>
                    <a:pt x="9753600" y="1057727"/>
                  </a:lnTo>
                  <a:lnTo>
                    <a:pt x="0" y="1057727"/>
                  </a:lnTo>
                  <a:close/>
                </a:path>
              </a:pathLst>
            </a:custGeom>
            <a:blipFill>
              <a:blip r:embed="rId3">
                <a:alphaModFix amt="0"/>
              </a:blip>
              <a:stretch>
                <a:fillRect l="0" t="-138181" r="0" b="-121172"/>
              </a:stretch>
            </a:blipFill>
          </p:spPr>
        </p:sp>
        <p:sp>
          <p:nvSpPr>
            <p:cNvPr name="TextBox 51" id="51"/>
            <p:cNvSpPr txBox="true"/>
            <p:nvPr/>
          </p:nvSpPr>
          <p:spPr>
            <a:xfrm>
              <a:off x="0" y="0"/>
              <a:ext cx="9753600" cy="1057727"/>
            </a:xfrm>
            <a:prstGeom prst="rect">
              <a:avLst/>
            </a:prstGeom>
          </p:spPr>
          <p:txBody>
            <a:bodyPr anchor="ctr" rtlCol="false" tIns="0" lIns="0" bIns="0" rIns="0"/>
            <a:lstStyle/>
            <a:p>
              <a:pPr algn="l">
                <a:lnSpc>
                  <a:spcPts val="2640"/>
                </a:lnSpc>
              </a:pPr>
              <a:r>
                <a:rPr lang="en-US" sz="2200">
                  <a:solidFill>
                    <a:srgbClr val="1E293B"/>
                  </a:solidFill>
                  <a:latin typeface="Proxima Nova"/>
                  <a:ea typeface="Proxima Nova"/>
                  <a:cs typeface="Proxima Nova"/>
                  <a:sym typeface="Proxima Nova"/>
                </a:rPr>
                <a:t>Helps understand investor behavior patterns</a:t>
              </a:r>
            </a:p>
          </p:txBody>
        </p:sp>
      </p:grpSp>
      <p:grpSp>
        <p:nvGrpSpPr>
          <p:cNvPr name="Group 52" id="52"/>
          <p:cNvGrpSpPr/>
          <p:nvPr/>
        </p:nvGrpSpPr>
        <p:grpSpPr>
          <a:xfrm rot="0">
            <a:off x="376933" y="9354644"/>
            <a:ext cx="7889243" cy="823905"/>
            <a:chOff x="0" y="0"/>
            <a:chExt cx="10518991" cy="1098540"/>
          </a:xfrm>
        </p:grpSpPr>
        <p:sp>
          <p:nvSpPr>
            <p:cNvPr name="Freeform 53" id="53"/>
            <p:cNvSpPr/>
            <p:nvPr/>
          </p:nvSpPr>
          <p:spPr>
            <a:xfrm flipH="false" flipV="false" rot="0">
              <a:off x="0" y="0"/>
              <a:ext cx="10519029" cy="1098578"/>
            </a:xfrm>
            <a:custGeom>
              <a:avLst/>
              <a:gdLst/>
              <a:ahLst/>
              <a:cxnLst/>
              <a:rect r="r" b="b" t="t" l="l"/>
              <a:pathLst>
                <a:path h="1098578" w="10519029">
                  <a:moveTo>
                    <a:pt x="0" y="213627"/>
                  </a:moveTo>
                  <a:cubicBezTo>
                    <a:pt x="0" y="95642"/>
                    <a:pt x="79375" y="0"/>
                    <a:pt x="177292" y="0"/>
                  </a:cubicBezTo>
                  <a:lnTo>
                    <a:pt x="10341737" y="0"/>
                  </a:lnTo>
                  <a:cubicBezTo>
                    <a:pt x="10439654" y="0"/>
                    <a:pt x="10519029" y="95642"/>
                    <a:pt x="10519029" y="213627"/>
                  </a:cubicBezTo>
                  <a:lnTo>
                    <a:pt x="10519029" y="884959"/>
                  </a:lnTo>
                  <a:cubicBezTo>
                    <a:pt x="10519029" y="1002943"/>
                    <a:pt x="10439654" y="1098578"/>
                    <a:pt x="10341737" y="1098578"/>
                  </a:cubicBezTo>
                  <a:lnTo>
                    <a:pt x="177292" y="1098578"/>
                  </a:lnTo>
                  <a:cubicBezTo>
                    <a:pt x="79375" y="1098578"/>
                    <a:pt x="0" y="1002943"/>
                    <a:pt x="0" y="884959"/>
                  </a:cubicBezTo>
                  <a:close/>
                </a:path>
              </a:pathLst>
            </a:custGeom>
            <a:solidFill>
              <a:srgbClr val="FEF3C7"/>
            </a:solidFill>
            <a:ln w="25400" cap="sq">
              <a:solidFill>
                <a:srgbClr val="F59E0B"/>
              </a:solidFill>
              <a:prstDash val="solid"/>
              <a:miter/>
            </a:ln>
          </p:spPr>
        </p:sp>
      </p:grpSp>
      <p:grpSp>
        <p:nvGrpSpPr>
          <p:cNvPr name="Group 54" id="54"/>
          <p:cNvGrpSpPr/>
          <p:nvPr/>
        </p:nvGrpSpPr>
        <p:grpSpPr>
          <a:xfrm rot="0">
            <a:off x="663950" y="9369943"/>
            <a:ext cx="7315200" cy="793295"/>
            <a:chOff x="0" y="0"/>
            <a:chExt cx="9753600" cy="1057727"/>
          </a:xfrm>
        </p:grpSpPr>
        <p:sp>
          <p:nvSpPr>
            <p:cNvPr name="Freeform 55" id="55"/>
            <p:cNvSpPr/>
            <p:nvPr/>
          </p:nvSpPr>
          <p:spPr>
            <a:xfrm flipH="false" flipV="false" rot="0">
              <a:off x="0" y="0"/>
              <a:ext cx="9753600" cy="1057727"/>
            </a:xfrm>
            <a:custGeom>
              <a:avLst/>
              <a:gdLst/>
              <a:ahLst/>
              <a:cxnLst/>
              <a:rect r="r" b="b" t="t" l="l"/>
              <a:pathLst>
                <a:path h="1057727" w="9753600">
                  <a:moveTo>
                    <a:pt x="0" y="0"/>
                  </a:moveTo>
                  <a:lnTo>
                    <a:pt x="9753600" y="0"/>
                  </a:lnTo>
                  <a:lnTo>
                    <a:pt x="9753600" y="1057727"/>
                  </a:lnTo>
                  <a:lnTo>
                    <a:pt x="0" y="1057727"/>
                  </a:lnTo>
                  <a:close/>
                </a:path>
              </a:pathLst>
            </a:custGeom>
            <a:blipFill>
              <a:blip r:embed="rId3">
                <a:alphaModFix amt="0"/>
              </a:blip>
              <a:stretch>
                <a:fillRect l="0" t="-138181" r="0" b="-121172"/>
              </a:stretch>
            </a:blipFill>
          </p:spPr>
        </p:sp>
        <p:sp>
          <p:nvSpPr>
            <p:cNvPr name="TextBox 56" id="56"/>
            <p:cNvSpPr txBox="true"/>
            <p:nvPr/>
          </p:nvSpPr>
          <p:spPr>
            <a:xfrm>
              <a:off x="0" y="0"/>
              <a:ext cx="9753600" cy="1057727"/>
            </a:xfrm>
            <a:prstGeom prst="rect">
              <a:avLst/>
            </a:prstGeom>
          </p:spPr>
          <p:txBody>
            <a:bodyPr anchor="ctr" rtlCol="false" tIns="0" lIns="0" bIns="0" rIns="0"/>
            <a:lstStyle/>
            <a:p>
              <a:pPr algn="l">
                <a:lnSpc>
                  <a:spcPts val="2640"/>
                </a:lnSpc>
              </a:pPr>
              <a:r>
                <a:rPr lang="en-US" sz="2200">
                  <a:solidFill>
                    <a:srgbClr val="1E293B"/>
                  </a:solidFill>
                  <a:latin typeface="Proxima Nova"/>
                  <a:ea typeface="Proxima Nova"/>
                  <a:cs typeface="Proxima Nova"/>
                  <a:sym typeface="Proxima Nova"/>
                </a:rPr>
                <a:t>Supports strategic decision-making</a:t>
              </a:r>
            </a:p>
          </p:txBody>
        </p:sp>
      </p:grpSp>
      <p:grpSp>
        <p:nvGrpSpPr>
          <p:cNvPr name="Group 57" id="57"/>
          <p:cNvGrpSpPr/>
          <p:nvPr/>
        </p:nvGrpSpPr>
        <p:grpSpPr>
          <a:xfrm rot="0">
            <a:off x="4114800" y="1314069"/>
            <a:ext cx="8778240" cy="731520"/>
            <a:chOff x="0" y="0"/>
            <a:chExt cx="11704320" cy="975360"/>
          </a:xfrm>
        </p:grpSpPr>
        <p:sp>
          <p:nvSpPr>
            <p:cNvPr name="Freeform 58" id="58"/>
            <p:cNvSpPr/>
            <p:nvPr/>
          </p:nvSpPr>
          <p:spPr>
            <a:xfrm flipH="false" flipV="false" rot="0">
              <a:off x="0" y="0"/>
              <a:ext cx="11704320" cy="975360"/>
            </a:xfrm>
            <a:custGeom>
              <a:avLst/>
              <a:gdLst/>
              <a:ahLst/>
              <a:cxnLst/>
              <a:rect r="r" b="b" t="t" l="l"/>
              <a:pathLst>
                <a:path h="975360" w="11704320">
                  <a:moveTo>
                    <a:pt x="0" y="0"/>
                  </a:moveTo>
                  <a:lnTo>
                    <a:pt x="11704320" y="0"/>
                  </a:lnTo>
                  <a:lnTo>
                    <a:pt x="11704320" y="975360"/>
                  </a:lnTo>
                  <a:lnTo>
                    <a:pt x="0" y="975360"/>
                  </a:lnTo>
                  <a:close/>
                </a:path>
              </a:pathLst>
            </a:custGeom>
            <a:blipFill>
              <a:blip r:embed="rId3">
                <a:alphaModFix amt="0"/>
              </a:blip>
              <a:stretch>
                <a:fillRect l="0" t="-183820" r="0" b="-183820"/>
              </a:stretch>
            </a:blipFill>
          </p:spPr>
        </p:sp>
        <p:sp>
          <p:nvSpPr>
            <p:cNvPr name="TextBox 59" id="59"/>
            <p:cNvSpPr txBox="true"/>
            <p:nvPr/>
          </p:nvSpPr>
          <p:spPr>
            <a:xfrm>
              <a:off x="0" y="-9525"/>
              <a:ext cx="11704320" cy="984885"/>
            </a:xfrm>
            <a:prstGeom prst="rect">
              <a:avLst/>
            </a:prstGeom>
          </p:spPr>
          <p:txBody>
            <a:bodyPr anchor="ctr" rtlCol="false" tIns="0" lIns="0" bIns="0" rIns="0"/>
            <a:lstStyle/>
            <a:p>
              <a:pPr algn="ctr">
                <a:lnSpc>
                  <a:spcPts val="3120"/>
                </a:lnSpc>
              </a:pPr>
              <a:r>
                <a:rPr lang="en-US" sz="2600" b="true">
                  <a:solidFill>
                    <a:srgbClr val="64748B"/>
                  </a:solidFill>
                  <a:latin typeface="Proxima Nova Bold"/>
                  <a:ea typeface="Proxima Nova Bold"/>
                  <a:cs typeface="Proxima Nova Bold"/>
                  <a:sym typeface="Proxima Nova Bold"/>
                </a:rPr>
                <a:t>Power BI Dashboard – Page 3 &amp; 4</a:t>
              </a:r>
            </a:p>
          </p:txBody>
        </p:sp>
      </p:grpSp>
      <p:sp>
        <p:nvSpPr>
          <p:cNvPr name="Freeform 60" id="60"/>
          <p:cNvSpPr/>
          <p:nvPr/>
        </p:nvSpPr>
        <p:spPr>
          <a:xfrm flipH="false" flipV="false" rot="0">
            <a:off x="389630" y="2323417"/>
            <a:ext cx="8851407" cy="5012109"/>
          </a:xfrm>
          <a:custGeom>
            <a:avLst/>
            <a:gdLst/>
            <a:ahLst/>
            <a:cxnLst/>
            <a:rect r="r" b="b" t="t" l="l"/>
            <a:pathLst>
              <a:path h="5012109" w="8851407">
                <a:moveTo>
                  <a:pt x="0" y="0"/>
                </a:moveTo>
                <a:lnTo>
                  <a:pt x="8851406" y="0"/>
                </a:lnTo>
                <a:lnTo>
                  <a:pt x="8851406" y="5012109"/>
                </a:lnTo>
                <a:lnTo>
                  <a:pt x="0" y="5012109"/>
                </a:lnTo>
                <a:lnTo>
                  <a:pt x="0" y="0"/>
                </a:lnTo>
                <a:close/>
              </a:path>
            </a:pathLst>
          </a:custGeom>
          <a:blipFill>
            <a:blip r:embed="rId4"/>
            <a:stretch>
              <a:fillRect l="0" t="0" r="0" b="0"/>
            </a:stretch>
          </a:blipFill>
        </p:spPr>
      </p:sp>
      <p:sp>
        <p:nvSpPr>
          <p:cNvPr name="Freeform 61" id="61"/>
          <p:cNvSpPr/>
          <p:nvPr/>
        </p:nvSpPr>
        <p:spPr>
          <a:xfrm flipH="false" flipV="false" rot="0">
            <a:off x="9730272" y="2323417"/>
            <a:ext cx="8188767" cy="5077035"/>
          </a:xfrm>
          <a:custGeom>
            <a:avLst/>
            <a:gdLst/>
            <a:ahLst/>
            <a:cxnLst/>
            <a:rect r="r" b="b" t="t" l="l"/>
            <a:pathLst>
              <a:path h="5077035" w="8188767">
                <a:moveTo>
                  <a:pt x="0" y="0"/>
                </a:moveTo>
                <a:lnTo>
                  <a:pt x="8188767" y="0"/>
                </a:lnTo>
                <a:lnTo>
                  <a:pt x="8188767" y="5077036"/>
                </a:lnTo>
                <a:lnTo>
                  <a:pt x="0" y="5077036"/>
                </a:lnTo>
                <a:lnTo>
                  <a:pt x="0" y="0"/>
                </a:lnTo>
                <a:close/>
              </a:path>
            </a:pathLst>
          </a:custGeom>
          <a:blipFill>
            <a:blip r:embed="rId5"/>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945643"/>
            <a:chOff x="0" y="0"/>
            <a:chExt cx="24417871" cy="2594191"/>
          </a:xfrm>
        </p:grpSpPr>
        <p:sp>
          <p:nvSpPr>
            <p:cNvPr name="Freeform 3" id="3"/>
            <p:cNvSpPr/>
            <p:nvPr/>
          </p:nvSpPr>
          <p:spPr>
            <a:xfrm flipH="false" flipV="false" rot="0">
              <a:off x="0" y="0"/>
              <a:ext cx="24417910" cy="2594229"/>
            </a:xfrm>
            <a:custGeom>
              <a:avLst/>
              <a:gdLst/>
              <a:ahLst/>
              <a:cxnLst/>
              <a:rect r="r" b="b" t="t" l="l"/>
              <a:pathLst>
                <a:path h="2594229" w="24417910">
                  <a:moveTo>
                    <a:pt x="0" y="0"/>
                  </a:moveTo>
                  <a:lnTo>
                    <a:pt x="24417910" y="0"/>
                  </a:lnTo>
                  <a:lnTo>
                    <a:pt x="24417910" y="2594229"/>
                  </a:lnTo>
                  <a:lnTo>
                    <a:pt x="0" y="2594229"/>
                  </a:lnTo>
                  <a:close/>
                </a:path>
              </a:pathLst>
            </a:custGeom>
            <a:solidFill>
              <a:srgbClr val="0D1B2A"/>
            </a:solidFill>
            <a:ln w="25400" cap="sq">
              <a:solidFill>
                <a:srgbClr val="0D1B2A"/>
              </a:solidFill>
              <a:prstDash val="solid"/>
              <a:miter/>
            </a:ln>
          </p:spPr>
        </p:sp>
      </p:grpSp>
      <p:grpSp>
        <p:nvGrpSpPr>
          <p:cNvPr name="Group 4" id="4"/>
          <p:cNvGrpSpPr/>
          <p:nvPr/>
        </p:nvGrpSpPr>
        <p:grpSpPr>
          <a:xfrm rot="0">
            <a:off x="-12697" y="1907543"/>
            <a:ext cx="18313403" cy="153419"/>
            <a:chOff x="0" y="0"/>
            <a:chExt cx="24417871" cy="204559"/>
          </a:xfrm>
        </p:grpSpPr>
        <p:sp>
          <p:nvSpPr>
            <p:cNvPr name="Freeform 5" id="5"/>
            <p:cNvSpPr/>
            <p:nvPr/>
          </p:nvSpPr>
          <p:spPr>
            <a:xfrm flipH="false" flipV="false" rot="0">
              <a:off x="0" y="0"/>
              <a:ext cx="24417910" cy="204597"/>
            </a:xfrm>
            <a:custGeom>
              <a:avLst/>
              <a:gdLst/>
              <a:ahLst/>
              <a:cxnLst/>
              <a:rect r="r" b="b" t="t" l="l"/>
              <a:pathLst>
                <a:path h="204597" w="24417910">
                  <a:moveTo>
                    <a:pt x="0" y="0"/>
                  </a:moveTo>
                  <a:lnTo>
                    <a:pt x="24417910" y="0"/>
                  </a:lnTo>
                  <a:lnTo>
                    <a:pt x="24417910" y="204597"/>
                  </a:lnTo>
                  <a:lnTo>
                    <a:pt x="0" y="204597"/>
                  </a:lnTo>
                  <a:close/>
                </a:path>
              </a:pathLst>
            </a:custGeom>
            <a:solidFill>
              <a:srgbClr val="0D9488"/>
            </a:solidFill>
            <a:ln w="25400" cap="sq">
              <a:solidFill>
                <a:srgbClr val="0D9488"/>
              </a:solidFill>
              <a:prstDash val="solid"/>
              <a:miter/>
            </a:ln>
          </p:spPr>
        </p:sp>
      </p:grpSp>
      <p:grpSp>
        <p:nvGrpSpPr>
          <p:cNvPr name="Group 6" id="6"/>
          <p:cNvGrpSpPr/>
          <p:nvPr/>
        </p:nvGrpSpPr>
        <p:grpSpPr>
          <a:xfrm rot="0">
            <a:off x="822960" y="402336"/>
            <a:ext cx="16642080" cy="1097280"/>
            <a:chOff x="0" y="0"/>
            <a:chExt cx="22189440" cy="1463040"/>
          </a:xfrm>
        </p:grpSpPr>
        <p:sp>
          <p:nvSpPr>
            <p:cNvPr name="Freeform 7" id="7"/>
            <p:cNvSpPr/>
            <p:nvPr/>
          </p:nvSpPr>
          <p:spPr>
            <a:xfrm flipH="false" flipV="false" rot="0">
              <a:off x="0" y="0"/>
              <a:ext cx="22189439" cy="1463040"/>
            </a:xfrm>
            <a:custGeom>
              <a:avLst/>
              <a:gdLst/>
              <a:ahLst/>
              <a:cxnLst/>
              <a:rect r="r" b="b" t="t" l="l"/>
              <a:pathLst>
                <a:path h="1463040" w="22189439">
                  <a:moveTo>
                    <a:pt x="0" y="0"/>
                  </a:moveTo>
                  <a:lnTo>
                    <a:pt x="22189439" y="0"/>
                  </a:lnTo>
                  <a:lnTo>
                    <a:pt x="22189439" y="1463040"/>
                  </a:lnTo>
                  <a:lnTo>
                    <a:pt x="0" y="1463040"/>
                  </a:lnTo>
                  <a:close/>
                </a:path>
              </a:pathLst>
            </a:custGeom>
            <a:blipFill>
              <a:blip r:embed="rId3">
                <a:alphaModFix amt="0"/>
              </a:blip>
              <a:stretch>
                <a:fillRect l="0" t="-245523" r="0" b="-245523"/>
              </a:stretch>
            </a:blipFill>
          </p:spPr>
        </p:sp>
        <p:sp>
          <p:nvSpPr>
            <p:cNvPr name="TextBox 8" id="8"/>
            <p:cNvSpPr txBox="true"/>
            <p:nvPr/>
          </p:nvSpPr>
          <p:spPr>
            <a:xfrm>
              <a:off x="0" y="9525"/>
              <a:ext cx="22189440" cy="1453515"/>
            </a:xfrm>
            <a:prstGeom prst="rect">
              <a:avLst/>
            </a:prstGeom>
          </p:spPr>
          <p:txBody>
            <a:bodyPr anchor="ctr" rtlCol="false" tIns="0" lIns="0" bIns="0" rIns="0"/>
            <a:lstStyle/>
            <a:p>
              <a:pPr algn="l">
                <a:lnSpc>
                  <a:spcPts val="6240"/>
                </a:lnSpc>
              </a:pPr>
              <a:r>
                <a:rPr lang="en-US" sz="5200" b="true">
                  <a:solidFill>
                    <a:srgbClr val="FFFFFF"/>
                  </a:solidFill>
                  <a:latin typeface="Montserrat Bold"/>
                  <a:ea typeface="Montserrat Bold"/>
                  <a:cs typeface="Montserrat Bold"/>
                  <a:sym typeface="Montserrat Bold"/>
                </a:rPr>
                <a:t>Key Findings &amp; Recommendations</a:t>
              </a:r>
            </a:p>
          </p:txBody>
        </p:sp>
      </p:grpSp>
      <p:grpSp>
        <p:nvGrpSpPr>
          <p:cNvPr name="Group 9" id="9"/>
          <p:cNvGrpSpPr/>
          <p:nvPr/>
        </p:nvGrpSpPr>
        <p:grpSpPr>
          <a:xfrm rot="0">
            <a:off x="627383" y="2328167"/>
            <a:ext cx="7980683" cy="7340603"/>
            <a:chOff x="0" y="0"/>
            <a:chExt cx="10640911" cy="9787471"/>
          </a:xfrm>
        </p:grpSpPr>
        <p:sp>
          <p:nvSpPr>
            <p:cNvPr name="Freeform 10" id="10"/>
            <p:cNvSpPr/>
            <p:nvPr/>
          </p:nvSpPr>
          <p:spPr>
            <a:xfrm flipH="false" flipV="false" rot="0">
              <a:off x="0" y="0"/>
              <a:ext cx="10640949" cy="9787509"/>
            </a:xfrm>
            <a:custGeom>
              <a:avLst/>
              <a:gdLst/>
              <a:ahLst/>
              <a:cxnLst/>
              <a:rect r="r" b="b" t="t" l="l"/>
              <a:pathLst>
                <a:path h="9787509" w="10640949">
                  <a:moveTo>
                    <a:pt x="0" y="293624"/>
                  </a:moveTo>
                  <a:cubicBezTo>
                    <a:pt x="0" y="131445"/>
                    <a:pt x="131445" y="0"/>
                    <a:pt x="293624" y="0"/>
                  </a:cubicBezTo>
                  <a:lnTo>
                    <a:pt x="10347325" y="0"/>
                  </a:lnTo>
                  <a:cubicBezTo>
                    <a:pt x="10509504" y="0"/>
                    <a:pt x="10640949" y="131445"/>
                    <a:pt x="10640949" y="293624"/>
                  </a:cubicBezTo>
                  <a:lnTo>
                    <a:pt x="10640949" y="9493885"/>
                  </a:lnTo>
                  <a:cubicBezTo>
                    <a:pt x="10640949" y="9656064"/>
                    <a:pt x="10509504" y="9787509"/>
                    <a:pt x="10347325" y="9787509"/>
                  </a:cubicBezTo>
                  <a:lnTo>
                    <a:pt x="293624" y="9787509"/>
                  </a:lnTo>
                  <a:cubicBezTo>
                    <a:pt x="131445" y="9787509"/>
                    <a:pt x="0" y="9656064"/>
                    <a:pt x="0" y="9493885"/>
                  </a:cubicBezTo>
                  <a:close/>
                </a:path>
              </a:pathLst>
            </a:custGeom>
            <a:solidFill>
              <a:srgbClr val="FFFFFF"/>
            </a:solidFill>
            <a:ln w="25400" cap="sq">
              <a:solidFill>
                <a:srgbClr val="CBD5E1"/>
              </a:solidFill>
              <a:prstDash val="solid"/>
              <a:miter/>
            </a:ln>
          </p:spPr>
        </p:sp>
      </p:grpSp>
      <p:grpSp>
        <p:nvGrpSpPr>
          <p:cNvPr name="Group 11" id="11"/>
          <p:cNvGrpSpPr/>
          <p:nvPr/>
        </p:nvGrpSpPr>
        <p:grpSpPr>
          <a:xfrm rot="0">
            <a:off x="627383" y="2328167"/>
            <a:ext cx="7980683" cy="939803"/>
            <a:chOff x="0" y="0"/>
            <a:chExt cx="10640911" cy="1253071"/>
          </a:xfrm>
        </p:grpSpPr>
        <p:sp>
          <p:nvSpPr>
            <p:cNvPr name="Freeform 12" id="12"/>
            <p:cNvSpPr/>
            <p:nvPr/>
          </p:nvSpPr>
          <p:spPr>
            <a:xfrm flipH="false" flipV="false" rot="0">
              <a:off x="0" y="0"/>
              <a:ext cx="10640949" cy="1253109"/>
            </a:xfrm>
            <a:custGeom>
              <a:avLst/>
              <a:gdLst/>
              <a:ahLst/>
              <a:cxnLst/>
              <a:rect r="r" b="b" t="t" l="l"/>
              <a:pathLst>
                <a:path h="1253109" w="10640949">
                  <a:moveTo>
                    <a:pt x="0" y="0"/>
                  </a:moveTo>
                  <a:lnTo>
                    <a:pt x="10640949" y="0"/>
                  </a:lnTo>
                  <a:lnTo>
                    <a:pt x="10640949" y="1253109"/>
                  </a:lnTo>
                  <a:lnTo>
                    <a:pt x="0" y="1253109"/>
                  </a:lnTo>
                  <a:close/>
                </a:path>
              </a:pathLst>
            </a:custGeom>
            <a:solidFill>
              <a:srgbClr val="0D9488"/>
            </a:solidFill>
            <a:ln w="25400" cap="sq">
              <a:solidFill>
                <a:srgbClr val="0D9488"/>
              </a:solidFill>
              <a:prstDash val="solid"/>
              <a:miter/>
            </a:ln>
          </p:spPr>
        </p:sp>
      </p:grpSp>
      <p:grpSp>
        <p:nvGrpSpPr>
          <p:cNvPr name="Group 13" id="13"/>
          <p:cNvGrpSpPr/>
          <p:nvPr/>
        </p:nvGrpSpPr>
        <p:grpSpPr>
          <a:xfrm rot="0">
            <a:off x="914400" y="2377440"/>
            <a:ext cx="7406640" cy="841248"/>
            <a:chOff x="0" y="0"/>
            <a:chExt cx="9875520" cy="1121664"/>
          </a:xfrm>
        </p:grpSpPr>
        <p:sp>
          <p:nvSpPr>
            <p:cNvPr name="Freeform 14" id="14"/>
            <p:cNvSpPr/>
            <p:nvPr/>
          </p:nvSpPr>
          <p:spPr>
            <a:xfrm flipH="false" flipV="false" rot="0">
              <a:off x="0" y="0"/>
              <a:ext cx="9875520" cy="1121664"/>
            </a:xfrm>
            <a:custGeom>
              <a:avLst/>
              <a:gdLst/>
              <a:ahLst/>
              <a:cxnLst/>
              <a:rect r="r" b="b" t="t" l="l"/>
              <a:pathLst>
                <a:path h="1121664" w="9875520">
                  <a:moveTo>
                    <a:pt x="0" y="0"/>
                  </a:moveTo>
                  <a:lnTo>
                    <a:pt x="9875520" y="0"/>
                  </a:lnTo>
                  <a:lnTo>
                    <a:pt x="9875520" y="1121664"/>
                  </a:lnTo>
                  <a:lnTo>
                    <a:pt x="0" y="1121664"/>
                  </a:lnTo>
                  <a:close/>
                </a:path>
              </a:pathLst>
            </a:custGeom>
            <a:blipFill>
              <a:blip r:embed="rId3">
                <a:alphaModFix amt="0"/>
              </a:blip>
              <a:stretch>
                <a:fillRect l="0" t="-121553" r="0" b="-121553"/>
              </a:stretch>
            </a:blipFill>
          </p:spPr>
        </p:sp>
        <p:sp>
          <p:nvSpPr>
            <p:cNvPr name="TextBox 15" id="15"/>
            <p:cNvSpPr txBox="true"/>
            <p:nvPr/>
          </p:nvSpPr>
          <p:spPr>
            <a:xfrm>
              <a:off x="0" y="-9525"/>
              <a:ext cx="9875520" cy="1131189"/>
            </a:xfrm>
            <a:prstGeom prst="rect">
              <a:avLst/>
            </a:prstGeom>
          </p:spPr>
          <p:txBody>
            <a:bodyPr anchor="ctr" rtlCol="false" tIns="0" lIns="0" bIns="0" rIns="0"/>
            <a:lstStyle/>
            <a:p>
              <a:pPr algn="l">
                <a:lnSpc>
                  <a:spcPts val="3120"/>
                </a:lnSpc>
              </a:pPr>
              <a:r>
                <a:rPr lang="en-US" sz="2600" b="true">
                  <a:solidFill>
                    <a:srgbClr val="FFFFFF"/>
                  </a:solidFill>
                  <a:latin typeface="Proxima Nova Bold"/>
                  <a:ea typeface="Proxima Nova Bold"/>
                  <a:cs typeface="Proxima Nova Bold"/>
                  <a:sym typeface="Proxima Nova Bold"/>
                </a:rPr>
                <a:t>🔍  Key Findings</a:t>
              </a:r>
            </a:p>
          </p:txBody>
        </p:sp>
      </p:grpSp>
      <p:grpSp>
        <p:nvGrpSpPr>
          <p:cNvPr name="Group 16" id="16"/>
          <p:cNvGrpSpPr/>
          <p:nvPr/>
        </p:nvGrpSpPr>
        <p:grpSpPr>
          <a:xfrm rot="0">
            <a:off x="914400" y="3566160"/>
            <a:ext cx="7406640" cy="967079"/>
            <a:chOff x="0" y="0"/>
            <a:chExt cx="9875520" cy="1289439"/>
          </a:xfrm>
        </p:grpSpPr>
        <p:sp>
          <p:nvSpPr>
            <p:cNvPr name="Freeform 17" id="17"/>
            <p:cNvSpPr/>
            <p:nvPr/>
          </p:nvSpPr>
          <p:spPr>
            <a:xfrm flipH="false" flipV="false" rot="0">
              <a:off x="0" y="0"/>
              <a:ext cx="9875520" cy="1289439"/>
            </a:xfrm>
            <a:custGeom>
              <a:avLst/>
              <a:gdLst/>
              <a:ahLst/>
              <a:cxnLst/>
              <a:rect r="r" b="b" t="t" l="l"/>
              <a:pathLst>
                <a:path h="1289439" w="9875520">
                  <a:moveTo>
                    <a:pt x="0" y="0"/>
                  </a:moveTo>
                  <a:lnTo>
                    <a:pt x="9875520" y="0"/>
                  </a:lnTo>
                  <a:lnTo>
                    <a:pt x="9875520" y="1289439"/>
                  </a:lnTo>
                  <a:lnTo>
                    <a:pt x="0" y="1289439"/>
                  </a:lnTo>
                  <a:close/>
                </a:path>
              </a:pathLst>
            </a:custGeom>
            <a:blipFill>
              <a:blip r:embed="rId3">
                <a:alphaModFix amt="0"/>
              </a:blip>
              <a:stretch>
                <a:fillRect l="0" t="-105737" r="0" b="-92725"/>
              </a:stretch>
            </a:blipFill>
          </p:spPr>
        </p:sp>
        <p:sp>
          <p:nvSpPr>
            <p:cNvPr name="TextBox 18" id="18"/>
            <p:cNvSpPr txBox="true"/>
            <p:nvPr/>
          </p:nvSpPr>
          <p:spPr>
            <a:xfrm>
              <a:off x="0" y="0"/>
              <a:ext cx="9875520" cy="1289439"/>
            </a:xfrm>
            <a:prstGeom prst="rect">
              <a:avLst/>
            </a:prstGeom>
          </p:spPr>
          <p:txBody>
            <a:bodyPr anchor="ctr" rtlCol="false" tIns="0" lIns="0" bIns="0" rIns="0"/>
            <a:lstStyle/>
            <a:p>
              <a:pPr algn="l">
                <a:lnSpc>
                  <a:spcPts val="2760"/>
                </a:lnSpc>
              </a:pPr>
              <a:r>
                <a:rPr lang="en-US" sz="2300" b="true">
                  <a:solidFill>
                    <a:srgbClr val="0D9488"/>
                  </a:solidFill>
                  <a:latin typeface="Proxima Nova Bold"/>
                  <a:ea typeface="Proxima Nova Bold"/>
                  <a:cs typeface="Proxima Nova Bold"/>
                  <a:sym typeface="Proxima Nova Bold"/>
                </a:rPr>
                <a:t>1. </a:t>
              </a:r>
              <a:r>
                <a:rPr lang="en-US" sz="2300">
                  <a:solidFill>
                    <a:srgbClr val="1E293B"/>
                  </a:solidFill>
                  <a:latin typeface="Proxima Nova"/>
                  <a:ea typeface="Proxima Nova"/>
                  <a:cs typeface="Proxima Nova"/>
                  <a:sym typeface="Proxima Nova"/>
                </a:rPr>
                <a:t>SIP inflows reached record highs by 2025</a:t>
              </a:r>
            </a:p>
          </p:txBody>
        </p:sp>
      </p:grpSp>
      <p:grpSp>
        <p:nvGrpSpPr>
          <p:cNvPr name="Group 19" id="19"/>
          <p:cNvGrpSpPr/>
          <p:nvPr/>
        </p:nvGrpSpPr>
        <p:grpSpPr>
          <a:xfrm rot="0">
            <a:off x="914400" y="4743474"/>
            <a:ext cx="7406640" cy="967079"/>
            <a:chOff x="0" y="0"/>
            <a:chExt cx="9875520" cy="1289439"/>
          </a:xfrm>
        </p:grpSpPr>
        <p:sp>
          <p:nvSpPr>
            <p:cNvPr name="Freeform 20" id="20"/>
            <p:cNvSpPr/>
            <p:nvPr/>
          </p:nvSpPr>
          <p:spPr>
            <a:xfrm flipH="false" flipV="false" rot="0">
              <a:off x="0" y="0"/>
              <a:ext cx="9875520" cy="1289439"/>
            </a:xfrm>
            <a:custGeom>
              <a:avLst/>
              <a:gdLst/>
              <a:ahLst/>
              <a:cxnLst/>
              <a:rect r="r" b="b" t="t" l="l"/>
              <a:pathLst>
                <a:path h="1289439" w="9875520">
                  <a:moveTo>
                    <a:pt x="0" y="0"/>
                  </a:moveTo>
                  <a:lnTo>
                    <a:pt x="9875520" y="0"/>
                  </a:lnTo>
                  <a:lnTo>
                    <a:pt x="9875520" y="1289439"/>
                  </a:lnTo>
                  <a:lnTo>
                    <a:pt x="0" y="1289439"/>
                  </a:lnTo>
                  <a:close/>
                </a:path>
              </a:pathLst>
            </a:custGeom>
            <a:blipFill>
              <a:blip r:embed="rId3">
                <a:alphaModFix amt="0"/>
              </a:blip>
              <a:stretch>
                <a:fillRect l="0" t="-105737" r="0" b="-92725"/>
              </a:stretch>
            </a:blipFill>
          </p:spPr>
        </p:sp>
        <p:sp>
          <p:nvSpPr>
            <p:cNvPr name="TextBox 21" id="21"/>
            <p:cNvSpPr txBox="true"/>
            <p:nvPr/>
          </p:nvSpPr>
          <p:spPr>
            <a:xfrm>
              <a:off x="0" y="0"/>
              <a:ext cx="9875520" cy="1289439"/>
            </a:xfrm>
            <a:prstGeom prst="rect">
              <a:avLst/>
            </a:prstGeom>
          </p:spPr>
          <p:txBody>
            <a:bodyPr anchor="ctr" rtlCol="false" tIns="0" lIns="0" bIns="0" rIns="0"/>
            <a:lstStyle/>
            <a:p>
              <a:pPr algn="l">
                <a:lnSpc>
                  <a:spcPts val="2760"/>
                </a:lnSpc>
              </a:pPr>
              <a:r>
                <a:rPr lang="en-US" sz="2300" b="true">
                  <a:solidFill>
                    <a:srgbClr val="0D9488"/>
                  </a:solidFill>
                  <a:latin typeface="Proxima Nova Bold"/>
                  <a:ea typeface="Proxima Nova Bold"/>
                  <a:cs typeface="Proxima Nova Bold"/>
                  <a:sym typeface="Proxima Nova Bold"/>
                </a:rPr>
                <a:t>2. </a:t>
              </a:r>
              <a:r>
                <a:rPr lang="en-US" sz="2300">
                  <a:solidFill>
                    <a:srgbClr val="1E293B"/>
                  </a:solidFill>
                  <a:latin typeface="Proxima Nova"/>
                  <a:ea typeface="Proxima Nova"/>
                  <a:cs typeface="Proxima Nova"/>
                  <a:sym typeface="Proxima Nova"/>
                </a:rPr>
                <a:t>Equity-oriented funds generated superior long-term returns</a:t>
              </a:r>
            </a:p>
          </p:txBody>
        </p:sp>
      </p:grpSp>
      <p:grpSp>
        <p:nvGrpSpPr>
          <p:cNvPr name="Group 22" id="22"/>
          <p:cNvGrpSpPr/>
          <p:nvPr/>
        </p:nvGrpSpPr>
        <p:grpSpPr>
          <a:xfrm rot="0">
            <a:off x="914400" y="5920788"/>
            <a:ext cx="7406640" cy="967079"/>
            <a:chOff x="0" y="0"/>
            <a:chExt cx="9875520" cy="1289439"/>
          </a:xfrm>
        </p:grpSpPr>
        <p:sp>
          <p:nvSpPr>
            <p:cNvPr name="Freeform 23" id="23"/>
            <p:cNvSpPr/>
            <p:nvPr/>
          </p:nvSpPr>
          <p:spPr>
            <a:xfrm flipH="false" flipV="false" rot="0">
              <a:off x="0" y="0"/>
              <a:ext cx="9875520" cy="1289439"/>
            </a:xfrm>
            <a:custGeom>
              <a:avLst/>
              <a:gdLst/>
              <a:ahLst/>
              <a:cxnLst/>
              <a:rect r="r" b="b" t="t" l="l"/>
              <a:pathLst>
                <a:path h="1289439" w="9875520">
                  <a:moveTo>
                    <a:pt x="0" y="0"/>
                  </a:moveTo>
                  <a:lnTo>
                    <a:pt x="9875520" y="0"/>
                  </a:lnTo>
                  <a:lnTo>
                    <a:pt x="9875520" y="1289439"/>
                  </a:lnTo>
                  <a:lnTo>
                    <a:pt x="0" y="1289439"/>
                  </a:lnTo>
                  <a:close/>
                </a:path>
              </a:pathLst>
            </a:custGeom>
            <a:blipFill>
              <a:blip r:embed="rId3">
                <a:alphaModFix amt="0"/>
              </a:blip>
              <a:stretch>
                <a:fillRect l="0" t="-105737" r="0" b="-92725"/>
              </a:stretch>
            </a:blipFill>
          </p:spPr>
        </p:sp>
        <p:sp>
          <p:nvSpPr>
            <p:cNvPr name="TextBox 24" id="24"/>
            <p:cNvSpPr txBox="true"/>
            <p:nvPr/>
          </p:nvSpPr>
          <p:spPr>
            <a:xfrm>
              <a:off x="0" y="0"/>
              <a:ext cx="9875520" cy="1289439"/>
            </a:xfrm>
            <a:prstGeom prst="rect">
              <a:avLst/>
            </a:prstGeom>
          </p:spPr>
          <p:txBody>
            <a:bodyPr anchor="ctr" rtlCol="false" tIns="0" lIns="0" bIns="0" rIns="0"/>
            <a:lstStyle/>
            <a:p>
              <a:pPr algn="l">
                <a:lnSpc>
                  <a:spcPts val="2760"/>
                </a:lnSpc>
              </a:pPr>
              <a:r>
                <a:rPr lang="en-US" sz="2300" b="true">
                  <a:solidFill>
                    <a:srgbClr val="0D9488"/>
                  </a:solidFill>
                  <a:latin typeface="Proxima Nova Bold"/>
                  <a:ea typeface="Proxima Nova Bold"/>
                  <a:cs typeface="Proxima Nova Bold"/>
                  <a:sym typeface="Proxima Nova Bold"/>
                </a:rPr>
                <a:t>3. </a:t>
              </a:r>
              <a:r>
                <a:rPr lang="en-US" sz="2300">
                  <a:solidFill>
                    <a:srgbClr val="1E293B"/>
                  </a:solidFill>
                  <a:latin typeface="Proxima Nova"/>
                  <a:ea typeface="Proxima Nova"/>
                  <a:cs typeface="Proxima Nova"/>
                  <a:sym typeface="Proxima Nova"/>
                </a:rPr>
                <a:t>Higher Sharpe ratio funds delivered better risk-adjusted performance</a:t>
              </a:r>
            </a:p>
          </p:txBody>
        </p:sp>
      </p:grpSp>
      <p:grpSp>
        <p:nvGrpSpPr>
          <p:cNvPr name="Group 25" id="25"/>
          <p:cNvGrpSpPr/>
          <p:nvPr/>
        </p:nvGrpSpPr>
        <p:grpSpPr>
          <a:xfrm rot="0">
            <a:off x="914400" y="7098102"/>
            <a:ext cx="7406640" cy="967079"/>
            <a:chOff x="0" y="0"/>
            <a:chExt cx="9875520" cy="1289439"/>
          </a:xfrm>
        </p:grpSpPr>
        <p:sp>
          <p:nvSpPr>
            <p:cNvPr name="Freeform 26" id="26"/>
            <p:cNvSpPr/>
            <p:nvPr/>
          </p:nvSpPr>
          <p:spPr>
            <a:xfrm flipH="false" flipV="false" rot="0">
              <a:off x="0" y="0"/>
              <a:ext cx="9875520" cy="1289439"/>
            </a:xfrm>
            <a:custGeom>
              <a:avLst/>
              <a:gdLst/>
              <a:ahLst/>
              <a:cxnLst/>
              <a:rect r="r" b="b" t="t" l="l"/>
              <a:pathLst>
                <a:path h="1289439" w="9875520">
                  <a:moveTo>
                    <a:pt x="0" y="0"/>
                  </a:moveTo>
                  <a:lnTo>
                    <a:pt x="9875520" y="0"/>
                  </a:lnTo>
                  <a:lnTo>
                    <a:pt x="9875520" y="1289439"/>
                  </a:lnTo>
                  <a:lnTo>
                    <a:pt x="0" y="1289439"/>
                  </a:lnTo>
                  <a:close/>
                </a:path>
              </a:pathLst>
            </a:custGeom>
            <a:blipFill>
              <a:blip r:embed="rId3">
                <a:alphaModFix amt="0"/>
              </a:blip>
              <a:stretch>
                <a:fillRect l="0" t="-105737" r="0" b="-92725"/>
              </a:stretch>
            </a:blipFill>
          </p:spPr>
        </p:sp>
        <p:sp>
          <p:nvSpPr>
            <p:cNvPr name="TextBox 27" id="27"/>
            <p:cNvSpPr txBox="true"/>
            <p:nvPr/>
          </p:nvSpPr>
          <p:spPr>
            <a:xfrm>
              <a:off x="0" y="0"/>
              <a:ext cx="9875520" cy="1289439"/>
            </a:xfrm>
            <a:prstGeom prst="rect">
              <a:avLst/>
            </a:prstGeom>
          </p:spPr>
          <p:txBody>
            <a:bodyPr anchor="ctr" rtlCol="false" tIns="0" lIns="0" bIns="0" rIns="0"/>
            <a:lstStyle/>
            <a:p>
              <a:pPr algn="l">
                <a:lnSpc>
                  <a:spcPts val="2760"/>
                </a:lnSpc>
              </a:pPr>
              <a:r>
                <a:rPr lang="en-US" sz="2300" b="true">
                  <a:solidFill>
                    <a:srgbClr val="0D9488"/>
                  </a:solidFill>
                  <a:latin typeface="Proxima Nova Bold"/>
                  <a:ea typeface="Proxima Nova Bold"/>
                  <a:cs typeface="Proxima Nova Bold"/>
                  <a:sym typeface="Proxima Nova Bold"/>
                </a:rPr>
                <a:t>4. </a:t>
              </a:r>
              <a:r>
                <a:rPr lang="en-US" sz="2300">
                  <a:solidFill>
                    <a:srgbClr val="1E293B"/>
                  </a:solidFill>
                  <a:latin typeface="Proxima Nova"/>
                  <a:ea typeface="Proxima Nova"/>
                  <a:cs typeface="Proxima Nova"/>
                  <a:sym typeface="Proxima Nova"/>
                </a:rPr>
                <a:t>Most investors maintained healthy SIP continuity</a:t>
              </a:r>
            </a:p>
          </p:txBody>
        </p:sp>
      </p:grpSp>
      <p:grpSp>
        <p:nvGrpSpPr>
          <p:cNvPr name="Group 28" id="28"/>
          <p:cNvGrpSpPr/>
          <p:nvPr/>
        </p:nvGrpSpPr>
        <p:grpSpPr>
          <a:xfrm rot="0">
            <a:off x="914400" y="8275416"/>
            <a:ext cx="7406640" cy="967079"/>
            <a:chOff x="0" y="0"/>
            <a:chExt cx="9875520" cy="1289439"/>
          </a:xfrm>
        </p:grpSpPr>
        <p:sp>
          <p:nvSpPr>
            <p:cNvPr name="Freeform 29" id="29"/>
            <p:cNvSpPr/>
            <p:nvPr/>
          </p:nvSpPr>
          <p:spPr>
            <a:xfrm flipH="false" flipV="false" rot="0">
              <a:off x="0" y="0"/>
              <a:ext cx="9875520" cy="1289439"/>
            </a:xfrm>
            <a:custGeom>
              <a:avLst/>
              <a:gdLst/>
              <a:ahLst/>
              <a:cxnLst/>
              <a:rect r="r" b="b" t="t" l="l"/>
              <a:pathLst>
                <a:path h="1289439" w="9875520">
                  <a:moveTo>
                    <a:pt x="0" y="0"/>
                  </a:moveTo>
                  <a:lnTo>
                    <a:pt x="9875520" y="0"/>
                  </a:lnTo>
                  <a:lnTo>
                    <a:pt x="9875520" y="1289439"/>
                  </a:lnTo>
                  <a:lnTo>
                    <a:pt x="0" y="1289439"/>
                  </a:lnTo>
                  <a:close/>
                </a:path>
              </a:pathLst>
            </a:custGeom>
            <a:blipFill>
              <a:blip r:embed="rId3">
                <a:alphaModFix amt="0"/>
              </a:blip>
              <a:stretch>
                <a:fillRect l="0" t="-105737" r="0" b="-92725"/>
              </a:stretch>
            </a:blipFill>
          </p:spPr>
        </p:sp>
        <p:sp>
          <p:nvSpPr>
            <p:cNvPr name="TextBox 30" id="30"/>
            <p:cNvSpPr txBox="true"/>
            <p:nvPr/>
          </p:nvSpPr>
          <p:spPr>
            <a:xfrm>
              <a:off x="0" y="0"/>
              <a:ext cx="9875520" cy="1289439"/>
            </a:xfrm>
            <a:prstGeom prst="rect">
              <a:avLst/>
            </a:prstGeom>
          </p:spPr>
          <p:txBody>
            <a:bodyPr anchor="ctr" rtlCol="false" tIns="0" lIns="0" bIns="0" rIns="0"/>
            <a:lstStyle/>
            <a:p>
              <a:pPr algn="l">
                <a:lnSpc>
                  <a:spcPts val="2760"/>
                </a:lnSpc>
              </a:pPr>
              <a:r>
                <a:rPr lang="en-US" sz="2300" b="true">
                  <a:solidFill>
                    <a:srgbClr val="0D9488"/>
                  </a:solidFill>
                  <a:latin typeface="Proxima Nova Bold"/>
                  <a:ea typeface="Proxima Nova Bold"/>
                  <a:cs typeface="Proxima Nova Bold"/>
                  <a:sym typeface="Proxima Nova Bold"/>
                </a:rPr>
                <a:t>5. </a:t>
              </a:r>
              <a:r>
                <a:rPr lang="en-US" sz="2300">
                  <a:solidFill>
                    <a:srgbClr val="1E293B"/>
                  </a:solidFill>
                  <a:latin typeface="Proxima Nova"/>
                  <a:ea typeface="Proxima Nova"/>
                  <a:cs typeface="Proxima Nova"/>
                  <a:sym typeface="Proxima Nova"/>
                </a:rPr>
                <a:t>Portfolio concentration varied significantly across funds</a:t>
              </a:r>
            </a:p>
          </p:txBody>
        </p:sp>
      </p:grpSp>
      <p:grpSp>
        <p:nvGrpSpPr>
          <p:cNvPr name="Group 31" id="31"/>
          <p:cNvGrpSpPr/>
          <p:nvPr/>
        </p:nvGrpSpPr>
        <p:grpSpPr>
          <a:xfrm rot="0">
            <a:off x="9131303" y="2328167"/>
            <a:ext cx="8529323" cy="7340603"/>
            <a:chOff x="0" y="0"/>
            <a:chExt cx="11372431" cy="9787471"/>
          </a:xfrm>
        </p:grpSpPr>
        <p:sp>
          <p:nvSpPr>
            <p:cNvPr name="Freeform 32" id="32"/>
            <p:cNvSpPr/>
            <p:nvPr/>
          </p:nvSpPr>
          <p:spPr>
            <a:xfrm flipH="false" flipV="false" rot="0">
              <a:off x="0" y="0"/>
              <a:ext cx="11372469" cy="9787509"/>
            </a:xfrm>
            <a:custGeom>
              <a:avLst/>
              <a:gdLst/>
              <a:ahLst/>
              <a:cxnLst/>
              <a:rect r="r" b="b" t="t" l="l"/>
              <a:pathLst>
                <a:path h="9787509" w="11372469">
                  <a:moveTo>
                    <a:pt x="0" y="293624"/>
                  </a:moveTo>
                  <a:cubicBezTo>
                    <a:pt x="0" y="131445"/>
                    <a:pt x="131445" y="0"/>
                    <a:pt x="293624" y="0"/>
                  </a:cubicBezTo>
                  <a:lnTo>
                    <a:pt x="11078845" y="0"/>
                  </a:lnTo>
                  <a:cubicBezTo>
                    <a:pt x="11241024" y="0"/>
                    <a:pt x="11372469" y="131445"/>
                    <a:pt x="11372469" y="293624"/>
                  </a:cubicBezTo>
                  <a:lnTo>
                    <a:pt x="11372469" y="9493885"/>
                  </a:lnTo>
                  <a:cubicBezTo>
                    <a:pt x="11372469" y="9656064"/>
                    <a:pt x="11241024" y="9787509"/>
                    <a:pt x="11078845" y="9787509"/>
                  </a:cubicBezTo>
                  <a:lnTo>
                    <a:pt x="293624" y="9787509"/>
                  </a:lnTo>
                  <a:cubicBezTo>
                    <a:pt x="131445" y="9787509"/>
                    <a:pt x="0" y="9656064"/>
                    <a:pt x="0" y="9493885"/>
                  </a:cubicBezTo>
                  <a:close/>
                </a:path>
              </a:pathLst>
            </a:custGeom>
            <a:solidFill>
              <a:srgbClr val="FFFFFF"/>
            </a:solidFill>
            <a:ln w="25400" cap="sq">
              <a:solidFill>
                <a:srgbClr val="CBD5E1"/>
              </a:solidFill>
              <a:prstDash val="solid"/>
              <a:miter/>
            </a:ln>
          </p:spPr>
        </p:sp>
      </p:grpSp>
      <p:grpSp>
        <p:nvGrpSpPr>
          <p:cNvPr name="Group 33" id="33"/>
          <p:cNvGrpSpPr/>
          <p:nvPr/>
        </p:nvGrpSpPr>
        <p:grpSpPr>
          <a:xfrm rot="0">
            <a:off x="9131303" y="2328167"/>
            <a:ext cx="8529323" cy="939803"/>
            <a:chOff x="0" y="0"/>
            <a:chExt cx="11372431" cy="1253071"/>
          </a:xfrm>
        </p:grpSpPr>
        <p:sp>
          <p:nvSpPr>
            <p:cNvPr name="Freeform 34" id="34"/>
            <p:cNvSpPr/>
            <p:nvPr/>
          </p:nvSpPr>
          <p:spPr>
            <a:xfrm flipH="false" flipV="false" rot="0">
              <a:off x="0" y="0"/>
              <a:ext cx="11372469" cy="1253109"/>
            </a:xfrm>
            <a:custGeom>
              <a:avLst/>
              <a:gdLst/>
              <a:ahLst/>
              <a:cxnLst/>
              <a:rect r="r" b="b" t="t" l="l"/>
              <a:pathLst>
                <a:path h="1253109" w="11372469">
                  <a:moveTo>
                    <a:pt x="0" y="0"/>
                  </a:moveTo>
                  <a:lnTo>
                    <a:pt x="11372469" y="0"/>
                  </a:lnTo>
                  <a:lnTo>
                    <a:pt x="11372469" y="1253109"/>
                  </a:lnTo>
                  <a:lnTo>
                    <a:pt x="0" y="1253109"/>
                  </a:lnTo>
                  <a:close/>
                </a:path>
              </a:pathLst>
            </a:custGeom>
            <a:solidFill>
              <a:srgbClr val="0D1B2A"/>
            </a:solidFill>
            <a:ln w="25400" cap="sq">
              <a:solidFill>
                <a:srgbClr val="0D1B2A"/>
              </a:solidFill>
              <a:prstDash val="solid"/>
              <a:miter/>
            </a:ln>
          </p:spPr>
        </p:sp>
      </p:grpSp>
      <p:grpSp>
        <p:nvGrpSpPr>
          <p:cNvPr name="Group 35" id="35"/>
          <p:cNvGrpSpPr/>
          <p:nvPr/>
        </p:nvGrpSpPr>
        <p:grpSpPr>
          <a:xfrm rot="0">
            <a:off x="9418320" y="2377440"/>
            <a:ext cx="7955280" cy="841248"/>
            <a:chOff x="0" y="0"/>
            <a:chExt cx="10607040" cy="1121664"/>
          </a:xfrm>
        </p:grpSpPr>
        <p:sp>
          <p:nvSpPr>
            <p:cNvPr name="Freeform 36" id="36"/>
            <p:cNvSpPr/>
            <p:nvPr/>
          </p:nvSpPr>
          <p:spPr>
            <a:xfrm flipH="false" flipV="false" rot="0">
              <a:off x="0" y="0"/>
              <a:ext cx="10607040" cy="1121664"/>
            </a:xfrm>
            <a:custGeom>
              <a:avLst/>
              <a:gdLst/>
              <a:ahLst/>
              <a:cxnLst/>
              <a:rect r="r" b="b" t="t" l="l"/>
              <a:pathLst>
                <a:path h="1121664" w="10607040">
                  <a:moveTo>
                    <a:pt x="0" y="0"/>
                  </a:moveTo>
                  <a:lnTo>
                    <a:pt x="10607040" y="0"/>
                  </a:lnTo>
                  <a:lnTo>
                    <a:pt x="10607040" y="1121664"/>
                  </a:lnTo>
                  <a:lnTo>
                    <a:pt x="0" y="1121664"/>
                  </a:lnTo>
                  <a:close/>
                </a:path>
              </a:pathLst>
            </a:custGeom>
            <a:blipFill>
              <a:blip r:embed="rId3">
                <a:alphaModFix amt="0"/>
              </a:blip>
              <a:stretch>
                <a:fillRect l="0" t="-134260" r="0" b="-134260"/>
              </a:stretch>
            </a:blipFill>
          </p:spPr>
        </p:sp>
        <p:sp>
          <p:nvSpPr>
            <p:cNvPr name="TextBox 37" id="37"/>
            <p:cNvSpPr txBox="true"/>
            <p:nvPr/>
          </p:nvSpPr>
          <p:spPr>
            <a:xfrm>
              <a:off x="0" y="-9525"/>
              <a:ext cx="10607040" cy="1131189"/>
            </a:xfrm>
            <a:prstGeom prst="rect">
              <a:avLst/>
            </a:prstGeom>
          </p:spPr>
          <p:txBody>
            <a:bodyPr anchor="ctr" rtlCol="false" tIns="0" lIns="0" bIns="0" rIns="0"/>
            <a:lstStyle/>
            <a:p>
              <a:pPr algn="l">
                <a:lnSpc>
                  <a:spcPts val="3120"/>
                </a:lnSpc>
              </a:pPr>
              <a:r>
                <a:rPr lang="en-US" sz="2600" b="true">
                  <a:solidFill>
                    <a:srgbClr val="FFFFFF"/>
                  </a:solidFill>
                  <a:latin typeface="Proxima Nova Bold"/>
                  <a:ea typeface="Proxima Nova Bold"/>
                  <a:cs typeface="Proxima Nova Bold"/>
                  <a:sym typeface="Proxima Nova Bold"/>
                </a:rPr>
                <a:t>💡  Recommendations</a:t>
              </a:r>
            </a:p>
          </p:txBody>
        </p:sp>
      </p:grpSp>
      <p:grpSp>
        <p:nvGrpSpPr>
          <p:cNvPr name="Group 38" id="38"/>
          <p:cNvGrpSpPr/>
          <p:nvPr/>
        </p:nvGrpSpPr>
        <p:grpSpPr>
          <a:xfrm rot="0">
            <a:off x="9405623" y="3608327"/>
            <a:ext cx="7889243" cy="1214412"/>
            <a:chOff x="0" y="0"/>
            <a:chExt cx="10518991" cy="1619217"/>
          </a:xfrm>
        </p:grpSpPr>
        <p:sp>
          <p:nvSpPr>
            <p:cNvPr name="Freeform 39" id="39"/>
            <p:cNvSpPr/>
            <p:nvPr/>
          </p:nvSpPr>
          <p:spPr>
            <a:xfrm flipH="false" flipV="false" rot="0">
              <a:off x="0" y="0"/>
              <a:ext cx="10519029" cy="1619255"/>
            </a:xfrm>
            <a:custGeom>
              <a:avLst/>
              <a:gdLst/>
              <a:ahLst/>
              <a:cxnLst/>
              <a:rect r="r" b="b" t="t" l="l"/>
              <a:pathLst>
                <a:path h="1619255" w="10519029">
                  <a:moveTo>
                    <a:pt x="0" y="249105"/>
                  </a:moveTo>
                  <a:cubicBezTo>
                    <a:pt x="0" y="111521"/>
                    <a:pt x="89662" y="0"/>
                    <a:pt x="200279" y="0"/>
                  </a:cubicBezTo>
                  <a:lnTo>
                    <a:pt x="10318750" y="0"/>
                  </a:lnTo>
                  <a:cubicBezTo>
                    <a:pt x="10429367" y="0"/>
                    <a:pt x="10519029" y="111521"/>
                    <a:pt x="10519029" y="249105"/>
                  </a:cubicBezTo>
                  <a:lnTo>
                    <a:pt x="10519029" y="1370159"/>
                  </a:lnTo>
                  <a:cubicBezTo>
                    <a:pt x="10519029" y="1507743"/>
                    <a:pt x="10429367" y="1619255"/>
                    <a:pt x="10318750" y="1619255"/>
                  </a:cubicBezTo>
                  <a:lnTo>
                    <a:pt x="200279" y="1619255"/>
                  </a:lnTo>
                  <a:cubicBezTo>
                    <a:pt x="89662" y="1619255"/>
                    <a:pt x="0" y="1507743"/>
                    <a:pt x="0" y="1370159"/>
                  </a:cubicBezTo>
                  <a:close/>
                </a:path>
              </a:pathLst>
            </a:custGeom>
            <a:solidFill>
              <a:srgbClr val="FEF3C7"/>
            </a:solidFill>
            <a:ln w="25400" cap="sq">
              <a:solidFill>
                <a:srgbClr val="F59E0B"/>
              </a:solidFill>
              <a:prstDash val="solid"/>
              <a:miter/>
            </a:ln>
          </p:spPr>
        </p:sp>
      </p:grpSp>
      <p:grpSp>
        <p:nvGrpSpPr>
          <p:cNvPr name="Group 40" id="40"/>
          <p:cNvGrpSpPr/>
          <p:nvPr/>
        </p:nvGrpSpPr>
        <p:grpSpPr>
          <a:xfrm rot="0">
            <a:off x="9546336" y="3624119"/>
            <a:ext cx="548640" cy="1182816"/>
            <a:chOff x="0" y="0"/>
            <a:chExt cx="731520" cy="1577088"/>
          </a:xfrm>
        </p:grpSpPr>
        <p:sp>
          <p:nvSpPr>
            <p:cNvPr name="Freeform 41" id="41"/>
            <p:cNvSpPr/>
            <p:nvPr/>
          </p:nvSpPr>
          <p:spPr>
            <a:xfrm flipH="false" flipV="false" rot="0">
              <a:off x="0" y="0"/>
              <a:ext cx="731520" cy="1577088"/>
            </a:xfrm>
            <a:custGeom>
              <a:avLst/>
              <a:gdLst/>
              <a:ahLst/>
              <a:cxnLst/>
              <a:rect r="r" b="b" t="t" l="l"/>
              <a:pathLst>
                <a:path h="1577088" w="731520">
                  <a:moveTo>
                    <a:pt x="0" y="0"/>
                  </a:moveTo>
                  <a:lnTo>
                    <a:pt x="731520" y="0"/>
                  </a:lnTo>
                  <a:lnTo>
                    <a:pt x="731520" y="1577088"/>
                  </a:lnTo>
                  <a:lnTo>
                    <a:pt x="0" y="1577088"/>
                  </a:lnTo>
                  <a:close/>
                </a:path>
              </a:pathLst>
            </a:custGeom>
            <a:blipFill>
              <a:blip r:embed="rId3">
                <a:alphaModFix amt="0"/>
              </a:blip>
              <a:stretch>
                <a:fillRect l="-172392" t="0" r="-172392" b="19600"/>
              </a:stretch>
            </a:blipFill>
          </p:spPr>
        </p:sp>
        <p:sp>
          <p:nvSpPr>
            <p:cNvPr name="TextBox 42" id="42"/>
            <p:cNvSpPr txBox="true"/>
            <p:nvPr/>
          </p:nvSpPr>
          <p:spPr>
            <a:xfrm>
              <a:off x="0" y="-9525"/>
              <a:ext cx="731520" cy="1586613"/>
            </a:xfrm>
            <a:prstGeom prst="rect">
              <a:avLst/>
            </a:prstGeom>
          </p:spPr>
          <p:txBody>
            <a:bodyPr anchor="ctr" rtlCol="false" tIns="0" lIns="0" bIns="0" rIns="0"/>
            <a:lstStyle/>
            <a:p>
              <a:pPr algn="l">
                <a:lnSpc>
                  <a:spcPts val="3120"/>
                </a:lnSpc>
              </a:pPr>
              <a:r>
                <a:rPr lang="en-US" sz="2600" b="true">
                  <a:solidFill>
                    <a:srgbClr val="F59E0B"/>
                  </a:solidFill>
                  <a:latin typeface="Proxima Nova Bold"/>
                  <a:ea typeface="Proxima Nova Bold"/>
                  <a:cs typeface="Proxima Nova Bold"/>
                  <a:sym typeface="Proxima Nova Bold"/>
                </a:rPr>
                <a:t>→</a:t>
              </a:r>
            </a:p>
          </p:txBody>
        </p:sp>
      </p:grpSp>
      <p:grpSp>
        <p:nvGrpSpPr>
          <p:cNvPr name="Group 43" id="43"/>
          <p:cNvGrpSpPr/>
          <p:nvPr/>
        </p:nvGrpSpPr>
        <p:grpSpPr>
          <a:xfrm rot="0">
            <a:off x="10094976" y="3624119"/>
            <a:ext cx="6986016" cy="1182816"/>
            <a:chOff x="0" y="0"/>
            <a:chExt cx="9314688" cy="1577088"/>
          </a:xfrm>
        </p:grpSpPr>
        <p:sp>
          <p:nvSpPr>
            <p:cNvPr name="Freeform 44" id="44"/>
            <p:cNvSpPr/>
            <p:nvPr/>
          </p:nvSpPr>
          <p:spPr>
            <a:xfrm flipH="false" flipV="false" rot="0">
              <a:off x="0" y="0"/>
              <a:ext cx="9314688" cy="1577088"/>
            </a:xfrm>
            <a:custGeom>
              <a:avLst/>
              <a:gdLst/>
              <a:ahLst/>
              <a:cxnLst/>
              <a:rect r="r" b="b" t="t" l="l"/>
              <a:pathLst>
                <a:path h="1577088" w="9314688">
                  <a:moveTo>
                    <a:pt x="0" y="0"/>
                  </a:moveTo>
                  <a:lnTo>
                    <a:pt x="9314688" y="0"/>
                  </a:lnTo>
                  <a:lnTo>
                    <a:pt x="9314688" y="1577088"/>
                  </a:lnTo>
                  <a:lnTo>
                    <a:pt x="0" y="1577088"/>
                  </a:lnTo>
                  <a:close/>
                </a:path>
              </a:pathLst>
            </a:custGeom>
            <a:blipFill>
              <a:blip r:embed="rId3">
                <a:alphaModFix amt="0"/>
              </a:blip>
              <a:stretch>
                <a:fillRect l="0" t="-74883" r="0" b="-55283"/>
              </a:stretch>
            </a:blipFill>
          </p:spPr>
        </p:sp>
        <p:sp>
          <p:nvSpPr>
            <p:cNvPr name="TextBox 45" id="45"/>
            <p:cNvSpPr txBox="true"/>
            <p:nvPr/>
          </p:nvSpPr>
          <p:spPr>
            <a:xfrm>
              <a:off x="0" y="0"/>
              <a:ext cx="9314688" cy="1577088"/>
            </a:xfrm>
            <a:prstGeom prst="rect">
              <a:avLst/>
            </a:prstGeom>
          </p:spPr>
          <p:txBody>
            <a:bodyPr anchor="ctr" rtlCol="false" tIns="0" lIns="0" bIns="0" rIns="0"/>
            <a:lstStyle/>
            <a:p>
              <a:pPr algn="l">
                <a:lnSpc>
                  <a:spcPts val="2640"/>
                </a:lnSpc>
              </a:pPr>
              <a:r>
                <a:rPr lang="en-US" sz="2200">
                  <a:solidFill>
                    <a:srgbClr val="1E293B"/>
                  </a:solidFill>
                  <a:latin typeface="Proxima Nova"/>
                  <a:ea typeface="Proxima Nova"/>
                  <a:cs typeface="Proxima Nova"/>
                  <a:sym typeface="Proxima Nova"/>
                </a:rPr>
                <a:t>Focus on funds with strong Sharpe ratios and positive Alpha</a:t>
              </a:r>
            </a:p>
          </p:txBody>
        </p:sp>
      </p:grpSp>
      <p:grpSp>
        <p:nvGrpSpPr>
          <p:cNvPr name="Group 46" id="46"/>
          <p:cNvGrpSpPr/>
          <p:nvPr/>
        </p:nvGrpSpPr>
        <p:grpSpPr>
          <a:xfrm rot="0">
            <a:off x="9405623" y="5086847"/>
            <a:ext cx="7889243" cy="1214412"/>
            <a:chOff x="0" y="0"/>
            <a:chExt cx="10518991" cy="1619217"/>
          </a:xfrm>
        </p:grpSpPr>
        <p:sp>
          <p:nvSpPr>
            <p:cNvPr name="Freeform 47" id="47"/>
            <p:cNvSpPr/>
            <p:nvPr/>
          </p:nvSpPr>
          <p:spPr>
            <a:xfrm flipH="false" flipV="false" rot="0">
              <a:off x="0" y="0"/>
              <a:ext cx="10519029" cy="1619255"/>
            </a:xfrm>
            <a:custGeom>
              <a:avLst/>
              <a:gdLst/>
              <a:ahLst/>
              <a:cxnLst/>
              <a:rect r="r" b="b" t="t" l="l"/>
              <a:pathLst>
                <a:path h="1619255" w="10519029">
                  <a:moveTo>
                    <a:pt x="0" y="249105"/>
                  </a:moveTo>
                  <a:cubicBezTo>
                    <a:pt x="0" y="111521"/>
                    <a:pt x="89662" y="0"/>
                    <a:pt x="200279" y="0"/>
                  </a:cubicBezTo>
                  <a:lnTo>
                    <a:pt x="10318750" y="0"/>
                  </a:lnTo>
                  <a:cubicBezTo>
                    <a:pt x="10429367" y="0"/>
                    <a:pt x="10519029" y="111521"/>
                    <a:pt x="10519029" y="249105"/>
                  </a:cubicBezTo>
                  <a:lnTo>
                    <a:pt x="10519029" y="1370159"/>
                  </a:lnTo>
                  <a:cubicBezTo>
                    <a:pt x="10519029" y="1507743"/>
                    <a:pt x="10429367" y="1619255"/>
                    <a:pt x="10318750" y="1619255"/>
                  </a:cubicBezTo>
                  <a:lnTo>
                    <a:pt x="200279" y="1619255"/>
                  </a:lnTo>
                  <a:cubicBezTo>
                    <a:pt x="89662" y="1619255"/>
                    <a:pt x="0" y="1507743"/>
                    <a:pt x="0" y="1370159"/>
                  </a:cubicBezTo>
                  <a:close/>
                </a:path>
              </a:pathLst>
            </a:custGeom>
            <a:solidFill>
              <a:srgbClr val="FEF3C7"/>
            </a:solidFill>
            <a:ln w="25400" cap="sq">
              <a:solidFill>
                <a:srgbClr val="F59E0B"/>
              </a:solidFill>
              <a:prstDash val="solid"/>
              <a:miter/>
            </a:ln>
          </p:spPr>
        </p:sp>
      </p:grpSp>
      <p:grpSp>
        <p:nvGrpSpPr>
          <p:cNvPr name="Group 48" id="48"/>
          <p:cNvGrpSpPr/>
          <p:nvPr/>
        </p:nvGrpSpPr>
        <p:grpSpPr>
          <a:xfrm rot="0">
            <a:off x="9546336" y="5102640"/>
            <a:ext cx="548640" cy="1182816"/>
            <a:chOff x="0" y="0"/>
            <a:chExt cx="731520" cy="1577088"/>
          </a:xfrm>
        </p:grpSpPr>
        <p:sp>
          <p:nvSpPr>
            <p:cNvPr name="Freeform 49" id="49"/>
            <p:cNvSpPr/>
            <p:nvPr/>
          </p:nvSpPr>
          <p:spPr>
            <a:xfrm flipH="false" flipV="false" rot="0">
              <a:off x="0" y="0"/>
              <a:ext cx="731520" cy="1577088"/>
            </a:xfrm>
            <a:custGeom>
              <a:avLst/>
              <a:gdLst/>
              <a:ahLst/>
              <a:cxnLst/>
              <a:rect r="r" b="b" t="t" l="l"/>
              <a:pathLst>
                <a:path h="1577088" w="731520">
                  <a:moveTo>
                    <a:pt x="0" y="0"/>
                  </a:moveTo>
                  <a:lnTo>
                    <a:pt x="731520" y="0"/>
                  </a:lnTo>
                  <a:lnTo>
                    <a:pt x="731520" y="1577088"/>
                  </a:lnTo>
                  <a:lnTo>
                    <a:pt x="0" y="1577088"/>
                  </a:lnTo>
                  <a:close/>
                </a:path>
              </a:pathLst>
            </a:custGeom>
            <a:blipFill>
              <a:blip r:embed="rId3">
                <a:alphaModFix amt="0"/>
              </a:blip>
              <a:stretch>
                <a:fillRect l="-172392" t="0" r="-172392" b="19600"/>
              </a:stretch>
            </a:blipFill>
          </p:spPr>
        </p:sp>
        <p:sp>
          <p:nvSpPr>
            <p:cNvPr name="TextBox 50" id="50"/>
            <p:cNvSpPr txBox="true"/>
            <p:nvPr/>
          </p:nvSpPr>
          <p:spPr>
            <a:xfrm>
              <a:off x="0" y="-9525"/>
              <a:ext cx="731520" cy="1586613"/>
            </a:xfrm>
            <a:prstGeom prst="rect">
              <a:avLst/>
            </a:prstGeom>
          </p:spPr>
          <p:txBody>
            <a:bodyPr anchor="ctr" rtlCol="false" tIns="0" lIns="0" bIns="0" rIns="0"/>
            <a:lstStyle/>
            <a:p>
              <a:pPr algn="l">
                <a:lnSpc>
                  <a:spcPts val="3120"/>
                </a:lnSpc>
              </a:pPr>
              <a:r>
                <a:rPr lang="en-US" sz="2600" b="true">
                  <a:solidFill>
                    <a:srgbClr val="F59E0B"/>
                  </a:solidFill>
                  <a:latin typeface="Proxima Nova Bold"/>
                  <a:ea typeface="Proxima Nova Bold"/>
                  <a:cs typeface="Proxima Nova Bold"/>
                  <a:sym typeface="Proxima Nova Bold"/>
                </a:rPr>
                <a:t>→</a:t>
              </a:r>
            </a:p>
          </p:txBody>
        </p:sp>
      </p:grpSp>
      <p:grpSp>
        <p:nvGrpSpPr>
          <p:cNvPr name="Group 51" id="51"/>
          <p:cNvGrpSpPr/>
          <p:nvPr/>
        </p:nvGrpSpPr>
        <p:grpSpPr>
          <a:xfrm rot="0">
            <a:off x="10094976" y="5102640"/>
            <a:ext cx="6986016" cy="1182816"/>
            <a:chOff x="0" y="0"/>
            <a:chExt cx="9314688" cy="1577088"/>
          </a:xfrm>
        </p:grpSpPr>
        <p:sp>
          <p:nvSpPr>
            <p:cNvPr name="Freeform 52" id="52"/>
            <p:cNvSpPr/>
            <p:nvPr/>
          </p:nvSpPr>
          <p:spPr>
            <a:xfrm flipH="false" flipV="false" rot="0">
              <a:off x="0" y="0"/>
              <a:ext cx="9314688" cy="1577088"/>
            </a:xfrm>
            <a:custGeom>
              <a:avLst/>
              <a:gdLst/>
              <a:ahLst/>
              <a:cxnLst/>
              <a:rect r="r" b="b" t="t" l="l"/>
              <a:pathLst>
                <a:path h="1577088" w="9314688">
                  <a:moveTo>
                    <a:pt x="0" y="0"/>
                  </a:moveTo>
                  <a:lnTo>
                    <a:pt x="9314688" y="0"/>
                  </a:lnTo>
                  <a:lnTo>
                    <a:pt x="9314688" y="1577088"/>
                  </a:lnTo>
                  <a:lnTo>
                    <a:pt x="0" y="1577088"/>
                  </a:lnTo>
                  <a:close/>
                </a:path>
              </a:pathLst>
            </a:custGeom>
            <a:blipFill>
              <a:blip r:embed="rId3">
                <a:alphaModFix amt="0"/>
              </a:blip>
              <a:stretch>
                <a:fillRect l="0" t="-74883" r="0" b="-55283"/>
              </a:stretch>
            </a:blipFill>
          </p:spPr>
        </p:sp>
        <p:sp>
          <p:nvSpPr>
            <p:cNvPr name="TextBox 53" id="53"/>
            <p:cNvSpPr txBox="true"/>
            <p:nvPr/>
          </p:nvSpPr>
          <p:spPr>
            <a:xfrm>
              <a:off x="0" y="0"/>
              <a:ext cx="9314688" cy="1577088"/>
            </a:xfrm>
            <a:prstGeom prst="rect">
              <a:avLst/>
            </a:prstGeom>
          </p:spPr>
          <p:txBody>
            <a:bodyPr anchor="ctr" rtlCol="false" tIns="0" lIns="0" bIns="0" rIns="0"/>
            <a:lstStyle/>
            <a:p>
              <a:pPr algn="l">
                <a:lnSpc>
                  <a:spcPts val="2640"/>
                </a:lnSpc>
              </a:pPr>
              <a:r>
                <a:rPr lang="en-US" sz="2200">
                  <a:solidFill>
                    <a:srgbClr val="1E293B"/>
                  </a:solidFill>
                  <a:latin typeface="Proxima Nova"/>
                  <a:ea typeface="Proxima Nova"/>
                  <a:cs typeface="Proxima Nova"/>
                  <a:sym typeface="Proxima Nova"/>
                </a:rPr>
                <a:t>Monitor concentrated portfolios for sector-specific risks</a:t>
              </a:r>
            </a:p>
          </p:txBody>
        </p:sp>
      </p:grpSp>
      <p:grpSp>
        <p:nvGrpSpPr>
          <p:cNvPr name="Group 54" id="54"/>
          <p:cNvGrpSpPr/>
          <p:nvPr/>
        </p:nvGrpSpPr>
        <p:grpSpPr>
          <a:xfrm rot="0">
            <a:off x="9405623" y="6565367"/>
            <a:ext cx="7889243" cy="1214412"/>
            <a:chOff x="0" y="0"/>
            <a:chExt cx="10518991" cy="1619217"/>
          </a:xfrm>
        </p:grpSpPr>
        <p:sp>
          <p:nvSpPr>
            <p:cNvPr name="Freeform 55" id="55"/>
            <p:cNvSpPr/>
            <p:nvPr/>
          </p:nvSpPr>
          <p:spPr>
            <a:xfrm flipH="false" flipV="false" rot="0">
              <a:off x="0" y="0"/>
              <a:ext cx="10519029" cy="1619255"/>
            </a:xfrm>
            <a:custGeom>
              <a:avLst/>
              <a:gdLst/>
              <a:ahLst/>
              <a:cxnLst/>
              <a:rect r="r" b="b" t="t" l="l"/>
              <a:pathLst>
                <a:path h="1619255" w="10519029">
                  <a:moveTo>
                    <a:pt x="0" y="249105"/>
                  </a:moveTo>
                  <a:cubicBezTo>
                    <a:pt x="0" y="111521"/>
                    <a:pt x="89662" y="0"/>
                    <a:pt x="200279" y="0"/>
                  </a:cubicBezTo>
                  <a:lnTo>
                    <a:pt x="10318750" y="0"/>
                  </a:lnTo>
                  <a:cubicBezTo>
                    <a:pt x="10429367" y="0"/>
                    <a:pt x="10519029" y="111521"/>
                    <a:pt x="10519029" y="249105"/>
                  </a:cubicBezTo>
                  <a:lnTo>
                    <a:pt x="10519029" y="1370159"/>
                  </a:lnTo>
                  <a:cubicBezTo>
                    <a:pt x="10519029" y="1507743"/>
                    <a:pt x="10429367" y="1619255"/>
                    <a:pt x="10318750" y="1619255"/>
                  </a:cubicBezTo>
                  <a:lnTo>
                    <a:pt x="200279" y="1619255"/>
                  </a:lnTo>
                  <a:cubicBezTo>
                    <a:pt x="89662" y="1619255"/>
                    <a:pt x="0" y="1507743"/>
                    <a:pt x="0" y="1370159"/>
                  </a:cubicBezTo>
                  <a:close/>
                </a:path>
              </a:pathLst>
            </a:custGeom>
            <a:solidFill>
              <a:srgbClr val="FEF3C7"/>
            </a:solidFill>
            <a:ln w="25400" cap="sq">
              <a:solidFill>
                <a:srgbClr val="F59E0B"/>
              </a:solidFill>
              <a:prstDash val="solid"/>
              <a:miter/>
            </a:ln>
          </p:spPr>
        </p:sp>
      </p:grpSp>
      <p:grpSp>
        <p:nvGrpSpPr>
          <p:cNvPr name="Group 56" id="56"/>
          <p:cNvGrpSpPr/>
          <p:nvPr/>
        </p:nvGrpSpPr>
        <p:grpSpPr>
          <a:xfrm rot="0">
            <a:off x="9546336" y="6581160"/>
            <a:ext cx="548640" cy="1182816"/>
            <a:chOff x="0" y="0"/>
            <a:chExt cx="731520" cy="1577088"/>
          </a:xfrm>
        </p:grpSpPr>
        <p:sp>
          <p:nvSpPr>
            <p:cNvPr name="Freeform 57" id="57"/>
            <p:cNvSpPr/>
            <p:nvPr/>
          </p:nvSpPr>
          <p:spPr>
            <a:xfrm flipH="false" flipV="false" rot="0">
              <a:off x="0" y="0"/>
              <a:ext cx="731520" cy="1577088"/>
            </a:xfrm>
            <a:custGeom>
              <a:avLst/>
              <a:gdLst/>
              <a:ahLst/>
              <a:cxnLst/>
              <a:rect r="r" b="b" t="t" l="l"/>
              <a:pathLst>
                <a:path h="1577088" w="731520">
                  <a:moveTo>
                    <a:pt x="0" y="0"/>
                  </a:moveTo>
                  <a:lnTo>
                    <a:pt x="731520" y="0"/>
                  </a:lnTo>
                  <a:lnTo>
                    <a:pt x="731520" y="1577088"/>
                  </a:lnTo>
                  <a:lnTo>
                    <a:pt x="0" y="1577088"/>
                  </a:lnTo>
                  <a:close/>
                </a:path>
              </a:pathLst>
            </a:custGeom>
            <a:blipFill>
              <a:blip r:embed="rId3">
                <a:alphaModFix amt="0"/>
              </a:blip>
              <a:stretch>
                <a:fillRect l="-172392" t="0" r="-172392" b="19600"/>
              </a:stretch>
            </a:blipFill>
          </p:spPr>
        </p:sp>
        <p:sp>
          <p:nvSpPr>
            <p:cNvPr name="TextBox 58" id="58"/>
            <p:cNvSpPr txBox="true"/>
            <p:nvPr/>
          </p:nvSpPr>
          <p:spPr>
            <a:xfrm>
              <a:off x="0" y="-9525"/>
              <a:ext cx="731520" cy="1586613"/>
            </a:xfrm>
            <a:prstGeom prst="rect">
              <a:avLst/>
            </a:prstGeom>
          </p:spPr>
          <p:txBody>
            <a:bodyPr anchor="ctr" rtlCol="false" tIns="0" lIns="0" bIns="0" rIns="0"/>
            <a:lstStyle/>
            <a:p>
              <a:pPr algn="l">
                <a:lnSpc>
                  <a:spcPts val="3120"/>
                </a:lnSpc>
              </a:pPr>
              <a:r>
                <a:rPr lang="en-US" sz="2600" b="true">
                  <a:solidFill>
                    <a:srgbClr val="F59E0B"/>
                  </a:solidFill>
                  <a:latin typeface="Proxima Nova Bold"/>
                  <a:ea typeface="Proxima Nova Bold"/>
                  <a:cs typeface="Proxima Nova Bold"/>
                  <a:sym typeface="Proxima Nova Bold"/>
                </a:rPr>
                <a:t>→</a:t>
              </a:r>
            </a:p>
          </p:txBody>
        </p:sp>
      </p:grpSp>
      <p:grpSp>
        <p:nvGrpSpPr>
          <p:cNvPr name="Group 59" id="59"/>
          <p:cNvGrpSpPr/>
          <p:nvPr/>
        </p:nvGrpSpPr>
        <p:grpSpPr>
          <a:xfrm rot="0">
            <a:off x="10094976" y="6581160"/>
            <a:ext cx="6986016" cy="1182816"/>
            <a:chOff x="0" y="0"/>
            <a:chExt cx="9314688" cy="1577088"/>
          </a:xfrm>
        </p:grpSpPr>
        <p:sp>
          <p:nvSpPr>
            <p:cNvPr name="Freeform 60" id="60"/>
            <p:cNvSpPr/>
            <p:nvPr/>
          </p:nvSpPr>
          <p:spPr>
            <a:xfrm flipH="false" flipV="false" rot="0">
              <a:off x="0" y="0"/>
              <a:ext cx="9314688" cy="1577088"/>
            </a:xfrm>
            <a:custGeom>
              <a:avLst/>
              <a:gdLst/>
              <a:ahLst/>
              <a:cxnLst/>
              <a:rect r="r" b="b" t="t" l="l"/>
              <a:pathLst>
                <a:path h="1577088" w="9314688">
                  <a:moveTo>
                    <a:pt x="0" y="0"/>
                  </a:moveTo>
                  <a:lnTo>
                    <a:pt x="9314688" y="0"/>
                  </a:lnTo>
                  <a:lnTo>
                    <a:pt x="9314688" y="1577088"/>
                  </a:lnTo>
                  <a:lnTo>
                    <a:pt x="0" y="1577088"/>
                  </a:lnTo>
                  <a:close/>
                </a:path>
              </a:pathLst>
            </a:custGeom>
            <a:blipFill>
              <a:blip r:embed="rId3">
                <a:alphaModFix amt="0"/>
              </a:blip>
              <a:stretch>
                <a:fillRect l="0" t="-74883" r="0" b="-55283"/>
              </a:stretch>
            </a:blipFill>
          </p:spPr>
        </p:sp>
        <p:sp>
          <p:nvSpPr>
            <p:cNvPr name="TextBox 61" id="61"/>
            <p:cNvSpPr txBox="true"/>
            <p:nvPr/>
          </p:nvSpPr>
          <p:spPr>
            <a:xfrm>
              <a:off x="0" y="0"/>
              <a:ext cx="9314688" cy="1577088"/>
            </a:xfrm>
            <a:prstGeom prst="rect">
              <a:avLst/>
            </a:prstGeom>
          </p:spPr>
          <p:txBody>
            <a:bodyPr anchor="ctr" rtlCol="false" tIns="0" lIns="0" bIns="0" rIns="0"/>
            <a:lstStyle/>
            <a:p>
              <a:pPr algn="l">
                <a:lnSpc>
                  <a:spcPts val="2640"/>
                </a:lnSpc>
              </a:pPr>
              <a:r>
                <a:rPr lang="en-US" sz="2200">
                  <a:solidFill>
                    <a:srgbClr val="1E293B"/>
                  </a:solidFill>
                  <a:latin typeface="Proxima Nova"/>
                  <a:ea typeface="Proxima Nova"/>
                  <a:cs typeface="Proxima Nova"/>
                  <a:sym typeface="Proxima Nova"/>
                </a:rPr>
                <a:t>Improve investor engagement in underrepresented regions</a:t>
              </a:r>
            </a:p>
          </p:txBody>
        </p:sp>
      </p:grpSp>
      <p:grpSp>
        <p:nvGrpSpPr>
          <p:cNvPr name="Group 62" id="62"/>
          <p:cNvGrpSpPr/>
          <p:nvPr/>
        </p:nvGrpSpPr>
        <p:grpSpPr>
          <a:xfrm rot="0">
            <a:off x="9405623" y="8043888"/>
            <a:ext cx="7889243" cy="1214412"/>
            <a:chOff x="0" y="0"/>
            <a:chExt cx="10518991" cy="1619217"/>
          </a:xfrm>
        </p:grpSpPr>
        <p:sp>
          <p:nvSpPr>
            <p:cNvPr name="Freeform 63" id="63"/>
            <p:cNvSpPr/>
            <p:nvPr/>
          </p:nvSpPr>
          <p:spPr>
            <a:xfrm flipH="false" flipV="false" rot="0">
              <a:off x="0" y="0"/>
              <a:ext cx="10519029" cy="1619255"/>
            </a:xfrm>
            <a:custGeom>
              <a:avLst/>
              <a:gdLst/>
              <a:ahLst/>
              <a:cxnLst/>
              <a:rect r="r" b="b" t="t" l="l"/>
              <a:pathLst>
                <a:path h="1619255" w="10519029">
                  <a:moveTo>
                    <a:pt x="0" y="249105"/>
                  </a:moveTo>
                  <a:cubicBezTo>
                    <a:pt x="0" y="111521"/>
                    <a:pt x="89662" y="0"/>
                    <a:pt x="200279" y="0"/>
                  </a:cubicBezTo>
                  <a:lnTo>
                    <a:pt x="10318750" y="0"/>
                  </a:lnTo>
                  <a:cubicBezTo>
                    <a:pt x="10429367" y="0"/>
                    <a:pt x="10519029" y="111521"/>
                    <a:pt x="10519029" y="249105"/>
                  </a:cubicBezTo>
                  <a:lnTo>
                    <a:pt x="10519029" y="1370159"/>
                  </a:lnTo>
                  <a:cubicBezTo>
                    <a:pt x="10519029" y="1507743"/>
                    <a:pt x="10429367" y="1619255"/>
                    <a:pt x="10318750" y="1619255"/>
                  </a:cubicBezTo>
                  <a:lnTo>
                    <a:pt x="200279" y="1619255"/>
                  </a:lnTo>
                  <a:cubicBezTo>
                    <a:pt x="89662" y="1619255"/>
                    <a:pt x="0" y="1507743"/>
                    <a:pt x="0" y="1370159"/>
                  </a:cubicBezTo>
                  <a:close/>
                </a:path>
              </a:pathLst>
            </a:custGeom>
            <a:solidFill>
              <a:srgbClr val="FEF3C7"/>
            </a:solidFill>
            <a:ln w="25400" cap="sq">
              <a:solidFill>
                <a:srgbClr val="F59E0B"/>
              </a:solidFill>
              <a:prstDash val="solid"/>
              <a:miter/>
            </a:ln>
          </p:spPr>
        </p:sp>
      </p:grpSp>
      <p:grpSp>
        <p:nvGrpSpPr>
          <p:cNvPr name="Group 64" id="64"/>
          <p:cNvGrpSpPr/>
          <p:nvPr/>
        </p:nvGrpSpPr>
        <p:grpSpPr>
          <a:xfrm rot="0">
            <a:off x="9546336" y="8059680"/>
            <a:ext cx="548640" cy="1182816"/>
            <a:chOff x="0" y="0"/>
            <a:chExt cx="731520" cy="1577088"/>
          </a:xfrm>
        </p:grpSpPr>
        <p:sp>
          <p:nvSpPr>
            <p:cNvPr name="Freeform 65" id="65"/>
            <p:cNvSpPr/>
            <p:nvPr/>
          </p:nvSpPr>
          <p:spPr>
            <a:xfrm flipH="false" flipV="false" rot="0">
              <a:off x="0" y="0"/>
              <a:ext cx="731520" cy="1577088"/>
            </a:xfrm>
            <a:custGeom>
              <a:avLst/>
              <a:gdLst/>
              <a:ahLst/>
              <a:cxnLst/>
              <a:rect r="r" b="b" t="t" l="l"/>
              <a:pathLst>
                <a:path h="1577088" w="731520">
                  <a:moveTo>
                    <a:pt x="0" y="0"/>
                  </a:moveTo>
                  <a:lnTo>
                    <a:pt x="731520" y="0"/>
                  </a:lnTo>
                  <a:lnTo>
                    <a:pt x="731520" y="1577088"/>
                  </a:lnTo>
                  <a:lnTo>
                    <a:pt x="0" y="1577088"/>
                  </a:lnTo>
                  <a:close/>
                </a:path>
              </a:pathLst>
            </a:custGeom>
            <a:blipFill>
              <a:blip r:embed="rId3">
                <a:alphaModFix amt="0"/>
              </a:blip>
              <a:stretch>
                <a:fillRect l="-172392" t="0" r="-172392" b="19600"/>
              </a:stretch>
            </a:blipFill>
          </p:spPr>
        </p:sp>
        <p:sp>
          <p:nvSpPr>
            <p:cNvPr name="TextBox 66" id="66"/>
            <p:cNvSpPr txBox="true"/>
            <p:nvPr/>
          </p:nvSpPr>
          <p:spPr>
            <a:xfrm>
              <a:off x="0" y="-9525"/>
              <a:ext cx="731520" cy="1586613"/>
            </a:xfrm>
            <a:prstGeom prst="rect">
              <a:avLst/>
            </a:prstGeom>
          </p:spPr>
          <p:txBody>
            <a:bodyPr anchor="ctr" rtlCol="false" tIns="0" lIns="0" bIns="0" rIns="0"/>
            <a:lstStyle/>
            <a:p>
              <a:pPr algn="l">
                <a:lnSpc>
                  <a:spcPts val="3120"/>
                </a:lnSpc>
              </a:pPr>
              <a:r>
                <a:rPr lang="en-US" sz="2600" b="true">
                  <a:solidFill>
                    <a:srgbClr val="F59E0B"/>
                  </a:solidFill>
                  <a:latin typeface="Proxima Nova Bold"/>
                  <a:ea typeface="Proxima Nova Bold"/>
                  <a:cs typeface="Proxima Nova Bold"/>
                  <a:sym typeface="Proxima Nova Bold"/>
                </a:rPr>
                <a:t>→</a:t>
              </a:r>
            </a:p>
          </p:txBody>
        </p:sp>
      </p:grpSp>
      <p:grpSp>
        <p:nvGrpSpPr>
          <p:cNvPr name="Group 67" id="67"/>
          <p:cNvGrpSpPr/>
          <p:nvPr/>
        </p:nvGrpSpPr>
        <p:grpSpPr>
          <a:xfrm rot="0">
            <a:off x="10094976" y="8059680"/>
            <a:ext cx="6986016" cy="1182816"/>
            <a:chOff x="0" y="0"/>
            <a:chExt cx="9314688" cy="1577088"/>
          </a:xfrm>
        </p:grpSpPr>
        <p:sp>
          <p:nvSpPr>
            <p:cNvPr name="Freeform 68" id="68"/>
            <p:cNvSpPr/>
            <p:nvPr/>
          </p:nvSpPr>
          <p:spPr>
            <a:xfrm flipH="false" flipV="false" rot="0">
              <a:off x="0" y="0"/>
              <a:ext cx="9314688" cy="1577088"/>
            </a:xfrm>
            <a:custGeom>
              <a:avLst/>
              <a:gdLst/>
              <a:ahLst/>
              <a:cxnLst/>
              <a:rect r="r" b="b" t="t" l="l"/>
              <a:pathLst>
                <a:path h="1577088" w="9314688">
                  <a:moveTo>
                    <a:pt x="0" y="0"/>
                  </a:moveTo>
                  <a:lnTo>
                    <a:pt x="9314688" y="0"/>
                  </a:lnTo>
                  <a:lnTo>
                    <a:pt x="9314688" y="1577088"/>
                  </a:lnTo>
                  <a:lnTo>
                    <a:pt x="0" y="1577088"/>
                  </a:lnTo>
                  <a:close/>
                </a:path>
              </a:pathLst>
            </a:custGeom>
            <a:blipFill>
              <a:blip r:embed="rId3">
                <a:alphaModFix amt="0"/>
              </a:blip>
              <a:stretch>
                <a:fillRect l="0" t="-74883" r="0" b="-55283"/>
              </a:stretch>
            </a:blipFill>
          </p:spPr>
        </p:sp>
        <p:sp>
          <p:nvSpPr>
            <p:cNvPr name="TextBox 69" id="69"/>
            <p:cNvSpPr txBox="true"/>
            <p:nvPr/>
          </p:nvSpPr>
          <p:spPr>
            <a:xfrm>
              <a:off x="0" y="0"/>
              <a:ext cx="9314688" cy="1577088"/>
            </a:xfrm>
            <a:prstGeom prst="rect">
              <a:avLst/>
            </a:prstGeom>
          </p:spPr>
          <p:txBody>
            <a:bodyPr anchor="ctr" rtlCol="false" tIns="0" lIns="0" bIns="0" rIns="0"/>
            <a:lstStyle/>
            <a:p>
              <a:pPr algn="l">
                <a:lnSpc>
                  <a:spcPts val="2640"/>
                </a:lnSpc>
              </a:pPr>
              <a:r>
                <a:rPr lang="en-US" sz="2200">
                  <a:solidFill>
                    <a:srgbClr val="1E293B"/>
                  </a:solidFill>
                  <a:latin typeface="Proxima Nova"/>
                  <a:ea typeface="Proxima Nova"/>
                  <a:cs typeface="Proxima Nova"/>
                  <a:sym typeface="Proxima Nova"/>
                </a:rPr>
                <a:t>Promote SIP investing for long-term wealth creation</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1841497" y="6388103"/>
            <a:ext cx="8255003" cy="8255003"/>
            <a:chOff x="0" y="0"/>
            <a:chExt cx="11006671" cy="11006671"/>
          </a:xfrm>
        </p:grpSpPr>
        <p:sp>
          <p:nvSpPr>
            <p:cNvPr name="Freeform 3" id="3"/>
            <p:cNvSpPr/>
            <p:nvPr/>
          </p:nvSpPr>
          <p:spPr>
            <a:xfrm flipH="false" flipV="false" rot="0">
              <a:off x="0" y="0"/>
              <a:ext cx="11006709" cy="11006709"/>
            </a:xfrm>
            <a:custGeom>
              <a:avLst/>
              <a:gdLst/>
              <a:ahLst/>
              <a:cxnLst/>
              <a:rect r="r" b="b" t="t" l="l"/>
              <a:pathLst>
                <a:path h="11006709" w="11006709">
                  <a:moveTo>
                    <a:pt x="0" y="5503291"/>
                  </a:moveTo>
                  <a:cubicBezTo>
                    <a:pt x="0" y="2463927"/>
                    <a:pt x="2463927" y="0"/>
                    <a:pt x="5503291" y="0"/>
                  </a:cubicBezTo>
                  <a:cubicBezTo>
                    <a:pt x="8542655" y="0"/>
                    <a:pt x="11006709" y="2463927"/>
                    <a:pt x="11006709" y="5503291"/>
                  </a:cubicBezTo>
                  <a:cubicBezTo>
                    <a:pt x="11006709" y="8542655"/>
                    <a:pt x="8542782" y="11006709"/>
                    <a:pt x="5503291" y="11006709"/>
                  </a:cubicBezTo>
                  <a:cubicBezTo>
                    <a:pt x="2463800" y="11006709"/>
                    <a:pt x="0" y="8542782"/>
                    <a:pt x="0" y="5503291"/>
                  </a:cubicBezTo>
                  <a:close/>
                </a:path>
              </a:pathLst>
            </a:custGeom>
            <a:solidFill>
              <a:srgbClr val="0D9488">
                <a:alpha val="1961"/>
              </a:srgbClr>
            </a:solidFill>
            <a:ln w="25400" cap="sq">
              <a:solidFill>
                <a:srgbClr val="0D9488"/>
              </a:solidFill>
              <a:prstDash val="solid"/>
              <a:miter/>
            </a:ln>
          </p:spPr>
        </p:sp>
      </p:grpSp>
      <p:grpSp>
        <p:nvGrpSpPr>
          <p:cNvPr name="Group 4" id="4"/>
          <p:cNvGrpSpPr/>
          <p:nvPr/>
        </p:nvGrpSpPr>
        <p:grpSpPr>
          <a:xfrm rot="0">
            <a:off x="13703303" y="-2755897"/>
            <a:ext cx="7340603" cy="7340603"/>
            <a:chOff x="0" y="0"/>
            <a:chExt cx="9787471" cy="9787471"/>
          </a:xfrm>
        </p:grpSpPr>
        <p:sp>
          <p:nvSpPr>
            <p:cNvPr name="Freeform 5" id="5"/>
            <p:cNvSpPr/>
            <p:nvPr/>
          </p:nvSpPr>
          <p:spPr>
            <a:xfrm flipH="false" flipV="false" rot="0">
              <a:off x="0" y="0"/>
              <a:ext cx="9787509" cy="9787509"/>
            </a:xfrm>
            <a:custGeom>
              <a:avLst/>
              <a:gdLst/>
              <a:ahLst/>
              <a:cxnLst/>
              <a:rect r="r" b="b" t="t" l="l"/>
              <a:pathLst>
                <a:path h="9787509" w="9787509">
                  <a:moveTo>
                    <a:pt x="0" y="4893691"/>
                  </a:moveTo>
                  <a:cubicBezTo>
                    <a:pt x="0" y="2191004"/>
                    <a:pt x="2191004" y="0"/>
                    <a:pt x="4893691" y="0"/>
                  </a:cubicBezTo>
                  <a:cubicBezTo>
                    <a:pt x="7596377" y="0"/>
                    <a:pt x="9787509" y="2191004"/>
                    <a:pt x="9787509" y="4893691"/>
                  </a:cubicBezTo>
                  <a:cubicBezTo>
                    <a:pt x="9787509" y="7596377"/>
                    <a:pt x="7596505" y="9787509"/>
                    <a:pt x="4893691" y="9787509"/>
                  </a:cubicBezTo>
                  <a:cubicBezTo>
                    <a:pt x="2190876" y="9787509"/>
                    <a:pt x="0" y="7596505"/>
                    <a:pt x="0" y="4893691"/>
                  </a:cubicBezTo>
                  <a:close/>
                </a:path>
              </a:pathLst>
            </a:custGeom>
            <a:solidFill>
              <a:srgbClr val="0F766E">
                <a:alpha val="3922"/>
              </a:srgbClr>
            </a:solidFill>
            <a:ln w="25400" cap="sq">
              <a:solidFill>
                <a:srgbClr val="0F766E"/>
              </a:solidFill>
              <a:prstDash val="solid"/>
              <a:miter/>
            </a:ln>
          </p:spPr>
        </p:sp>
      </p:grpSp>
      <p:grpSp>
        <p:nvGrpSpPr>
          <p:cNvPr name="Group 6" id="6"/>
          <p:cNvGrpSpPr/>
          <p:nvPr/>
        </p:nvGrpSpPr>
        <p:grpSpPr>
          <a:xfrm rot="0">
            <a:off x="-12697" y="-12697"/>
            <a:ext cx="18313403" cy="135131"/>
            <a:chOff x="0" y="0"/>
            <a:chExt cx="24417871" cy="180175"/>
          </a:xfrm>
        </p:grpSpPr>
        <p:sp>
          <p:nvSpPr>
            <p:cNvPr name="Freeform 7" id="7"/>
            <p:cNvSpPr/>
            <p:nvPr/>
          </p:nvSpPr>
          <p:spPr>
            <a:xfrm flipH="false" flipV="false" rot="0">
              <a:off x="0" y="0"/>
              <a:ext cx="24417910" cy="180213"/>
            </a:xfrm>
            <a:custGeom>
              <a:avLst/>
              <a:gdLst/>
              <a:ahLst/>
              <a:cxnLst/>
              <a:rect r="r" b="b" t="t" l="l"/>
              <a:pathLst>
                <a:path h="180213" w="24417910">
                  <a:moveTo>
                    <a:pt x="0" y="0"/>
                  </a:moveTo>
                  <a:lnTo>
                    <a:pt x="24417910" y="0"/>
                  </a:lnTo>
                  <a:lnTo>
                    <a:pt x="24417910" y="180213"/>
                  </a:lnTo>
                  <a:lnTo>
                    <a:pt x="0" y="180213"/>
                  </a:lnTo>
                  <a:close/>
                </a:path>
              </a:pathLst>
            </a:custGeom>
            <a:solidFill>
              <a:srgbClr val="0D9488"/>
            </a:solidFill>
            <a:ln w="25400" cap="sq">
              <a:solidFill>
                <a:srgbClr val="0D9488"/>
              </a:solidFill>
              <a:prstDash val="solid"/>
              <a:miter/>
            </a:ln>
          </p:spPr>
        </p:sp>
      </p:grpSp>
      <p:grpSp>
        <p:nvGrpSpPr>
          <p:cNvPr name="Group 8" id="8"/>
          <p:cNvGrpSpPr/>
          <p:nvPr/>
        </p:nvGrpSpPr>
        <p:grpSpPr>
          <a:xfrm rot="0">
            <a:off x="914400" y="640080"/>
            <a:ext cx="16459200" cy="1117270"/>
            <a:chOff x="0" y="0"/>
            <a:chExt cx="21945600" cy="1489693"/>
          </a:xfrm>
        </p:grpSpPr>
        <p:sp>
          <p:nvSpPr>
            <p:cNvPr name="Freeform 9" id="9"/>
            <p:cNvSpPr/>
            <p:nvPr/>
          </p:nvSpPr>
          <p:spPr>
            <a:xfrm flipH="false" flipV="false" rot="0">
              <a:off x="0" y="0"/>
              <a:ext cx="21945600" cy="1489693"/>
            </a:xfrm>
            <a:custGeom>
              <a:avLst/>
              <a:gdLst/>
              <a:ahLst/>
              <a:cxnLst/>
              <a:rect r="r" b="b" t="t" l="l"/>
              <a:pathLst>
                <a:path h="1489693" w="21945600">
                  <a:moveTo>
                    <a:pt x="0" y="0"/>
                  </a:moveTo>
                  <a:lnTo>
                    <a:pt x="21945600" y="0"/>
                  </a:lnTo>
                  <a:lnTo>
                    <a:pt x="21945600" y="1489693"/>
                  </a:lnTo>
                  <a:lnTo>
                    <a:pt x="0" y="1489693"/>
                  </a:lnTo>
                  <a:close/>
                </a:path>
              </a:pathLst>
            </a:custGeom>
            <a:blipFill>
              <a:blip r:embed="rId3">
                <a:alphaModFix amt="0"/>
              </a:blip>
              <a:stretch>
                <a:fillRect l="0" t="-242032" r="0" b="-232059"/>
              </a:stretch>
            </a:blipFill>
          </p:spPr>
        </p:sp>
        <p:sp>
          <p:nvSpPr>
            <p:cNvPr name="TextBox 10" id="10"/>
            <p:cNvSpPr txBox="true"/>
            <p:nvPr/>
          </p:nvSpPr>
          <p:spPr>
            <a:xfrm>
              <a:off x="0" y="0"/>
              <a:ext cx="21945600" cy="1489693"/>
            </a:xfrm>
            <a:prstGeom prst="rect">
              <a:avLst/>
            </a:prstGeom>
          </p:spPr>
          <p:txBody>
            <a:bodyPr anchor="ctr" rtlCol="false" tIns="0" lIns="0" bIns="0" rIns="0"/>
            <a:lstStyle/>
            <a:p>
              <a:pPr algn="l">
                <a:lnSpc>
                  <a:spcPts val="6719"/>
                </a:lnSpc>
              </a:pPr>
              <a:r>
                <a:rPr lang="en-US" sz="5599" b="true">
                  <a:solidFill>
                    <a:srgbClr val="0D9488"/>
                  </a:solidFill>
                  <a:latin typeface="Montserrat Bold"/>
                  <a:ea typeface="Montserrat Bold"/>
                  <a:cs typeface="Montserrat Bold"/>
                  <a:sym typeface="Montserrat Bold"/>
                </a:rPr>
                <a:t>Conclusion</a:t>
              </a:r>
            </a:p>
          </p:txBody>
        </p:sp>
      </p:grpSp>
      <p:grpSp>
        <p:nvGrpSpPr>
          <p:cNvPr name="Group 11" id="11"/>
          <p:cNvGrpSpPr/>
          <p:nvPr/>
        </p:nvGrpSpPr>
        <p:grpSpPr>
          <a:xfrm rot="0">
            <a:off x="914400" y="1828800"/>
            <a:ext cx="16459200" cy="694944"/>
            <a:chOff x="0" y="0"/>
            <a:chExt cx="21945600" cy="926592"/>
          </a:xfrm>
        </p:grpSpPr>
        <p:sp>
          <p:nvSpPr>
            <p:cNvPr name="Freeform 12" id="12"/>
            <p:cNvSpPr/>
            <p:nvPr/>
          </p:nvSpPr>
          <p:spPr>
            <a:xfrm flipH="false" flipV="false" rot="0">
              <a:off x="0" y="0"/>
              <a:ext cx="21945600" cy="926592"/>
            </a:xfrm>
            <a:custGeom>
              <a:avLst/>
              <a:gdLst/>
              <a:ahLst/>
              <a:cxnLst/>
              <a:rect r="r" b="b" t="t" l="l"/>
              <a:pathLst>
                <a:path h="926592" w="21945600">
                  <a:moveTo>
                    <a:pt x="0" y="0"/>
                  </a:moveTo>
                  <a:lnTo>
                    <a:pt x="21945600" y="0"/>
                  </a:lnTo>
                  <a:lnTo>
                    <a:pt x="21945600" y="926592"/>
                  </a:lnTo>
                  <a:lnTo>
                    <a:pt x="0" y="926592"/>
                  </a:lnTo>
                  <a:close/>
                </a:path>
              </a:pathLst>
            </a:custGeom>
            <a:blipFill>
              <a:blip r:embed="rId3">
                <a:alphaModFix amt="0"/>
              </a:blip>
              <a:stretch>
                <a:fillRect l="0" t="-411487" r="0" b="-411487"/>
              </a:stretch>
            </a:blipFill>
          </p:spPr>
        </p:sp>
        <p:sp>
          <p:nvSpPr>
            <p:cNvPr name="TextBox 13" id="13"/>
            <p:cNvSpPr txBox="true"/>
            <p:nvPr/>
          </p:nvSpPr>
          <p:spPr>
            <a:xfrm>
              <a:off x="0" y="-9525"/>
              <a:ext cx="21945600" cy="936117"/>
            </a:xfrm>
            <a:prstGeom prst="rect">
              <a:avLst/>
            </a:prstGeom>
          </p:spPr>
          <p:txBody>
            <a:bodyPr anchor="ctr" rtlCol="false" tIns="0" lIns="0" bIns="0" rIns="0"/>
            <a:lstStyle/>
            <a:p>
              <a:pPr algn="l">
                <a:lnSpc>
                  <a:spcPts val="3120"/>
                </a:lnSpc>
              </a:pPr>
              <a:r>
                <a:rPr lang="en-US" sz="2600">
                  <a:solidFill>
                    <a:srgbClr val="CBD5E1"/>
                  </a:solidFill>
                  <a:latin typeface="Proxima Nova"/>
                  <a:ea typeface="Proxima Nova"/>
                  <a:cs typeface="Proxima Nova"/>
                  <a:sym typeface="Proxima Nova"/>
                </a:rPr>
                <a:t>Successfully developed an end-to-end Mutual Fund Analytics platform covering:</a:t>
              </a:r>
            </a:p>
          </p:txBody>
        </p:sp>
      </p:grpSp>
      <p:grpSp>
        <p:nvGrpSpPr>
          <p:cNvPr name="Group 14" id="14"/>
          <p:cNvGrpSpPr/>
          <p:nvPr/>
        </p:nvGrpSpPr>
        <p:grpSpPr>
          <a:xfrm rot="0">
            <a:off x="901703" y="2767079"/>
            <a:ext cx="3134363" cy="1031243"/>
            <a:chOff x="0" y="0"/>
            <a:chExt cx="4179151" cy="1374991"/>
          </a:xfrm>
        </p:grpSpPr>
        <p:sp>
          <p:nvSpPr>
            <p:cNvPr name="Freeform 15" id="15"/>
            <p:cNvSpPr/>
            <p:nvPr/>
          </p:nvSpPr>
          <p:spPr>
            <a:xfrm flipH="false" flipV="false" rot="0">
              <a:off x="0" y="0"/>
              <a:ext cx="4179316" cy="1375156"/>
            </a:xfrm>
            <a:custGeom>
              <a:avLst/>
              <a:gdLst/>
              <a:ahLst/>
              <a:cxnLst/>
              <a:rect r="r" b="b" t="t" l="l"/>
              <a:pathLst>
                <a:path h="1375156" w="4179316">
                  <a:moveTo>
                    <a:pt x="0" y="250063"/>
                  </a:moveTo>
                  <a:cubicBezTo>
                    <a:pt x="0" y="111887"/>
                    <a:pt x="111887" y="0"/>
                    <a:pt x="250063" y="0"/>
                  </a:cubicBezTo>
                  <a:lnTo>
                    <a:pt x="3929253" y="0"/>
                  </a:lnTo>
                  <a:cubicBezTo>
                    <a:pt x="4067302" y="0"/>
                    <a:pt x="4179316" y="111887"/>
                    <a:pt x="4179316" y="250063"/>
                  </a:cubicBezTo>
                  <a:lnTo>
                    <a:pt x="4179316" y="1125093"/>
                  </a:lnTo>
                  <a:cubicBezTo>
                    <a:pt x="4179316" y="1263142"/>
                    <a:pt x="4067429" y="1375156"/>
                    <a:pt x="3929253" y="1375156"/>
                  </a:cubicBezTo>
                  <a:lnTo>
                    <a:pt x="250063" y="1375156"/>
                  </a:lnTo>
                  <a:cubicBezTo>
                    <a:pt x="111887" y="1375029"/>
                    <a:pt x="0" y="1263015"/>
                    <a:pt x="0" y="1124966"/>
                  </a:cubicBezTo>
                  <a:close/>
                </a:path>
              </a:pathLst>
            </a:custGeom>
            <a:solidFill>
              <a:srgbClr val="0D9488">
                <a:alpha val="72157"/>
              </a:srgbClr>
            </a:solidFill>
            <a:ln w="25400" cap="sq">
              <a:solidFill>
                <a:srgbClr val="0D9488"/>
              </a:solidFill>
              <a:prstDash val="solid"/>
              <a:miter/>
            </a:ln>
          </p:spPr>
        </p:sp>
      </p:grpSp>
      <p:grpSp>
        <p:nvGrpSpPr>
          <p:cNvPr name="Group 16" id="16"/>
          <p:cNvGrpSpPr/>
          <p:nvPr/>
        </p:nvGrpSpPr>
        <p:grpSpPr>
          <a:xfrm rot="0">
            <a:off x="914400" y="2779776"/>
            <a:ext cx="3108960" cy="1005840"/>
            <a:chOff x="0" y="0"/>
            <a:chExt cx="4145280" cy="1341120"/>
          </a:xfrm>
        </p:grpSpPr>
        <p:sp>
          <p:nvSpPr>
            <p:cNvPr name="Freeform 17" id="17"/>
            <p:cNvSpPr/>
            <p:nvPr/>
          </p:nvSpPr>
          <p:spPr>
            <a:xfrm flipH="false" flipV="false" rot="0">
              <a:off x="0" y="0"/>
              <a:ext cx="4145280" cy="1341120"/>
            </a:xfrm>
            <a:custGeom>
              <a:avLst/>
              <a:gdLst/>
              <a:ahLst/>
              <a:cxnLst/>
              <a:rect r="r" b="b" t="t" l="l"/>
              <a:pathLst>
                <a:path h="1341120" w="4145280">
                  <a:moveTo>
                    <a:pt x="0" y="0"/>
                  </a:moveTo>
                  <a:lnTo>
                    <a:pt x="4145280" y="0"/>
                  </a:lnTo>
                  <a:lnTo>
                    <a:pt x="4145280" y="1341120"/>
                  </a:lnTo>
                  <a:lnTo>
                    <a:pt x="0" y="1341120"/>
                  </a:lnTo>
                  <a:close/>
                </a:path>
              </a:pathLst>
            </a:custGeom>
            <a:blipFill>
              <a:blip r:embed="rId3">
                <a:alphaModFix amt="0"/>
              </a:blip>
              <a:stretch>
                <a:fillRect l="0" t="-10226" r="0" b="-10226"/>
              </a:stretch>
            </a:blipFill>
          </p:spPr>
        </p:sp>
        <p:sp>
          <p:nvSpPr>
            <p:cNvPr name="TextBox 18" id="18"/>
            <p:cNvSpPr txBox="true"/>
            <p:nvPr/>
          </p:nvSpPr>
          <p:spPr>
            <a:xfrm>
              <a:off x="0" y="0"/>
              <a:ext cx="4145280" cy="1341120"/>
            </a:xfrm>
            <a:prstGeom prst="rect">
              <a:avLst/>
            </a:prstGeom>
          </p:spPr>
          <p:txBody>
            <a:bodyPr anchor="ctr" rtlCol="false" tIns="0" lIns="0" bIns="0" rIns="0"/>
            <a:lstStyle/>
            <a:p>
              <a:pPr algn="ctr">
                <a:lnSpc>
                  <a:spcPts val="2520"/>
                </a:lnSpc>
              </a:pPr>
              <a:r>
                <a:rPr lang="en-US" sz="2100" b="true">
                  <a:solidFill>
                    <a:srgbClr val="FFFFFF"/>
                  </a:solidFill>
                  <a:latin typeface="Proxima Nova Bold"/>
                  <a:ea typeface="Proxima Nova Bold"/>
                  <a:cs typeface="Proxima Nova Bold"/>
                  <a:sym typeface="Proxima Nova Bold"/>
                </a:rPr>
                <a:t>Data Engineering</a:t>
              </a:r>
            </a:p>
          </p:txBody>
        </p:sp>
      </p:grpSp>
      <p:grpSp>
        <p:nvGrpSpPr>
          <p:cNvPr name="Group 19" id="19"/>
          <p:cNvGrpSpPr/>
          <p:nvPr/>
        </p:nvGrpSpPr>
        <p:grpSpPr>
          <a:xfrm rot="0">
            <a:off x="4467863" y="2767079"/>
            <a:ext cx="3134363" cy="1031243"/>
            <a:chOff x="0" y="0"/>
            <a:chExt cx="4179151" cy="1374991"/>
          </a:xfrm>
        </p:grpSpPr>
        <p:sp>
          <p:nvSpPr>
            <p:cNvPr name="Freeform 20" id="20"/>
            <p:cNvSpPr/>
            <p:nvPr/>
          </p:nvSpPr>
          <p:spPr>
            <a:xfrm flipH="false" flipV="false" rot="0">
              <a:off x="0" y="0"/>
              <a:ext cx="4179316" cy="1375156"/>
            </a:xfrm>
            <a:custGeom>
              <a:avLst/>
              <a:gdLst/>
              <a:ahLst/>
              <a:cxnLst/>
              <a:rect r="r" b="b" t="t" l="l"/>
              <a:pathLst>
                <a:path h="1375156" w="4179316">
                  <a:moveTo>
                    <a:pt x="0" y="250063"/>
                  </a:moveTo>
                  <a:cubicBezTo>
                    <a:pt x="0" y="111887"/>
                    <a:pt x="111887" y="0"/>
                    <a:pt x="250063" y="0"/>
                  </a:cubicBezTo>
                  <a:lnTo>
                    <a:pt x="3929253" y="0"/>
                  </a:lnTo>
                  <a:cubicBezTo>
                    <a:pt x="4067302" y="0"/>
                    <a:pt x="4179316" y="111887"/>
                    <a:pt x="4179316" y="250063"/>
                  </a:cubicBezTo>
                  <a:lnTo>
                    <a:pt x="4179316" y="1125093"/>
                  </a:lnTo>
                  <a:cubicBezTo>
                    <a:pt x="4179316" y="1263142"/>
                    <a:pt x="4067429" y="1375156"/>
                    <a:pt x="3929253" y="1375156"/>
                  </a:cubicBezTo>
                  <a:lnTo>
                    <a:pt x="250063" y="1375156"/>
                  </a:lnTo>
                  <a:cubicBezTo>
                    <a:pt x="111887" y="1375029"/>
                    <a:pt x="0" y="1263015"/>
                    <a:pt x="0" y="1124966"/>
                  </a:cubicBezTo>
                  <a:close/>
                </a:path>
              </a:pathLst>
            </a:custGeom>
            <a:solidFill>
              <a:srgbClr val="0D9488">
                <a:alpha val="72157"/>
              </a:srgbClr>
            </a:solidFill>
            <a:ln w="25400" cap="sq">
              <a:solidFill>
                <a:srgbClr val="0D9488"/>
              </a:solidFill>
              <a:prstDash val="solid"/>
              <a:miter/>
            </a:ln>
          </p:spPr>
        </p:sp>
      </p:grpSp>
      <p:grpSp>
        <p:nvGrpSpPr>
          <p:cNvPr name="Group 21" id="21"/>
          <p:cNvGrpSpPr/>
          <p:nvPr/>
        </p:nvGrpSpPr>
        <p:grpSpPr>
          <a:xfrm rot="0">
            <a:off x="4480560" y="2779776"/>
            <a:ext cx="3108960" cy="1005840"/>
            <a:chOff x="0" y="0"/>
            <a:chExt cx="4145280" cy="1341120"/>
          </a:xfrm>
        </p:grpSpPr>
        <p:sp>
          <p:nvSpPr>
            <p:cNvPr name="Freeform 22" id="22"/>
            <p:cNvSpPr/>
            <p:nvPr/>
          </p:nvSpPr>
          <p:spPr>
            <a:xfrm flipH="false" flipV="false" rot="0">
              <a:off x="0" y="0"/>
              <a:ext cx="4145280" cy="1341120"/>
            </a:xfrm>
            <a:custGeom>
              <a:avLst/>
              <a:gdLst/>
              <a:ahLst/>
              <a:cxnLst/>
              <a:rect r="r" b="b" t="t" l="l"/>
              <a:pathLst>
                <a:path h="1341120" w="4145280">
                  <a:moveTo>
                    <a:pt x="0" y="0"/>
                  </a:moveTo>
                  <a:lnTo>
                    <a:pt x="4145280" y="0"/>
                  </a:lnTo>
                  <a:lnTo>
                    <a:pt x="4145280" y="1341120"/>
                  </a:lnTo>
                  <a:lnTo>
                    <a:pt x="0" y="1341120"/>
                  </a:lnTo>
                  <a:close/>
                </a:path>
              </a:pathLst>
            </a:custGeom>
            <a:blipFill>
              <a:blip r:embed="rId3">
                <a:alphaModFix amt="0"/>
              </a:blip>
              <a:stretch>
                <a:fillRect l="0" t="-10226" r="0" b="-10226"/>
              </a:stretch>
            </a:blipFill>
          </p:spPr>
        </p:sp>
        <p:sp>
          <p:nvSpPr>
            <p:cNvPr name="TextBox 23" id="23"/>
            <p:cNvSpPr txBox="true"/>
            <p:nvPr/>
          </p:nvSpPr>
          <p:spPr>
            <a:xfrm>
              <a:off x="0" y="0"/>
              <a:ext cx="4145280" cy="1341120"/>
            </a:xfrm>
            <a:prstGeom prst="rect">
              <a:avLst/>
            </a:prstGeom>
          </p:spPr>
          <p:txBody>
            <a:bodyPr anchor="ctr" rtlCol="false" tIns="0" lIns="0" bIns="0" rIns="0"/>
            <a:lstStyle/>
            <a:p>
              <a:pPr algn="ctr">
                <a:lnSpc>
                  <a:spcPts val="2520"/>
                </a:lnSpc>
              </a:pPr>
              <a:r>
                <a:rPr lang="en-US" sz="2100" b="true">
                  <a:solidFill>
                    <a:srgbClr val="FFFFFF"/>
                  </a:solidFill>
                  <a:latin typeface="Proxima Nova Bold"/>
                  <a:ea typeface="Proxima Nova Bold"/>
                  <a:cs typeface="Proxima Nova Bold"/>
                  <a:sym typeface="Proxima Nova Bold"/>
                </a:rPr>
                <a:t>Financial Analytics</a:t>
              </a:r>
            </a:p>
          </p:txBody>
        </p:sp>
      </p:grpSp>
      <p:grpSp>
        <p:nvGrpSpPr>
          <p:cNvPr name="Group 24" id="24"/>
          <p:cNvGrpSpPr/>
          <p:nvPr/>
        </p:nvGrpSpPr>
        <p:grpSpPr>
          <a:xfrm rot="0">
            <a:off x="8034023" y="2767079"/>
            <a:ext cx="2494283" cy="1031243"/>
            <a:chOff x="0" y="0"/>
            <a:chExt cx="3325711" cy="1374991"/>
          </a:xfrm>
        </p:grpSpPr>
        <p:sp>
          <p:nvSpPr>
            <p:cNvPr name="Freeform 25" id="25"/>
            <p:cNvSpPr/>
            <p:nvPr/>
          </p:nvSpPr>
          <p:spPr>
            <a:xfrm flipH="false" flipV="false" rot="0">
              <a:off x="0" y="0"/>
              <a:ext cx="3325876" cy="1375156"/>
            </a:xfrm>
            <a:custGeom>
              <a:avLst/>
              <a:gdLst/>
              <a:ahLst/>
              <a:cxnLst/>
              <a:rect r="r" b="b" t="t" l="l"/>
              <a:pathLst>
                <a:path h="1375156" w="3325876">
                  <a:moveTo>
                    <a:pt x="0" y="250063"/>
                  </a:moveTo>
                  <a:cubicBezTo>
                    <a:pt x="0" y="111887"/>
                    <a:pt x="111887" y="0"/>
                    <a:pt x="250063" y="0"/>
                  </a:cubicBezTo>
                  <a:lnTo>
                    <a:pt x="3075813" y="0"/>
                  </a:lnTo>
                  <a:cubicBezTo>
                    <a:pt x="3213862" y="0"/>
                    <a:pt x="3325876" y="111887"/>
                    <a:pt x="3325876" y="250063"/>
                  </a:cubicBezTo>
                  <a:lnTo>
                    <a:pt x="3325876" y="1125093"/>
                  </a:lnTo>
                  <a:cubicBezTo>
                    <a:pt x="3325876" y="1263142"/>
                    <a:pt x="3213989" y="1375156"/>
                    <a:pt x="3075813" y="1375156"/>
                  </a:cubicBezTo>
                  <a:lnTo>
                    <a:pt x="250063" y="1375156"/>
                  </a:lnTo>
                  <a:cubicBezTo>
                    <a:pt x="111887" y="1375029"/>
                    <a:pt x="0" y="1263015"/>
                    <a:pt x="0" y="1124966"/>
                  </a:cubicBezTo>
                  <a:close/>
                </a:path>
              </a:pathLst>
            </a:custGeom>
            <a:solidFill>
              <a:srgbClr val="0D9488">
                <a:alpha val="72157"/>
              </a:srgbClr>
            </a:solidFill>
            <a:ln w="25400" cap="sq">
              <a:solidFill>
                <a:srgbClr val="0D9488"/>
              </a:solidFill>
              <a:prstDash val="solid"/>
              <a:miter/>
            </a:ln>
          </p:spPr>
        </p:sp>
      </p:grpSp>
      <p:grpSp>
        <p:nvGrpSpPr>
          <p:cNvPr name="Group 26" id="26"/>
          <p:cNvGrpSpPr/>
          <p:nvPr/>
        </p:nvGrpSpPr>
        <p:grpSpPr>
          <a:xfrm rot="0">
            <a:off x="8046720" y="2779776"/>
            <a:ext cx="2468880" cy="1005840"/>
            <a:chOff x="0" y="0"/>
            <a:chExt cx="3291840" cy="1341120"/>
          </a:xfrm>
        </p:grpSpPr>
        <p:sp>
          <p:nvSpPr>
            <p:cNvPr name="Freeform 27" id="27"/>
            <p:cNvSpPr/>
            <p:nvPr/>
          </p:nvSpPr>
          <p:spPr>
            <a:xfrm flipH="false" flipV="false" rot="0">
              <a:off x="0" y="0"/>
              <a:ext cx="3291840" cy="1341120"/>
            </a:xfrm>
            <a:custGeom>
              <a:avLst/>
              <a:gdLst/>
              <a:ahLst/>
              <a:cxnLst/>
              <a:rect r="r" b="b" t="t" l="l"/>
              <a:pathLst>
                <a:path h="1341120" w="3291840">
                  <a:moveTo>
                    <a:pt x="0" y="0"/>
                  </a:moveTo>
                  <a:lnTo>
                    <a:pt x="3291840" y="0"/>
                  </a:lnTo>
                  <a:lnTo>
                    <a:pt x="3291840" y="1341120"/>
                  </a:lnTo>
                  <a:lnTo>
                    <a:pt x="0" y="1341120"/>
                  </a:lnTo>
                  <a:close/>
                </a:path>
              </a:pathLst>
            </a:custGeom>
            <a:blipFill>
              <a:blip r:embed="rId3">
                <a:alphaModFix amt="0"/>
              </a:blip>
              <a:stretch>
                <a:fillRect l="-2271" t="0" r="-2271" b="0"/>
              </a:stretch>
            </a:blipFill>
          </p:spPr>
        </p:sp>
        <p:sp>
          <p:nvSpPr>
            <p:cNvPr name="TextBox 28" id="28"/>
            <p:cNvSpPr txBox="true"/>
            <p:nvPr/>
          </p:nvSpPr>
          <p:spPr>
            <a:xfrm>
              <a:off x="0" y="0"/>
              <a:ext cx="3291840" cy="1341120"/>
            </a:xfrm>
            <a:prstGeom prst="rect">
              <a:avLst/>
            </a:prstGeom>
          </p:spPr>
          <p:txBody>
            <a:bodyPr anchor="ctr" rtlCol="false" tIns="0" lIns="0" bIns="0" rIns="0"/>
            <a:lstStyle/>
            <a:p>
              <a:pPr algn="ctr">
                <a:lnSpc>
                  <a:spcPts val="2520"/>
                </a:lnSpc>
              </a:pPr>
              <a:r>
                <a:rPr lang="en-US" sz="2100" b="true">
                  <a:solidFill>
                    <a:srgbClr val="FFFFFF"/>
                  </a:solidFill>
                  <a:latin typeface="Proxima Nova Bold"/>
                  <a:ea typeface="Proxima Nova Bold"/>
                  <a:cs typeface="Proxima Nova Bold"/>
                  <a:sym typeface="Proxima Nova Bold"/>
                </a:rPr>
                <a:t>Risk Analytics</a:t>
              </a:r>
            </a:p>
          </p:txBody>
        </p:sp>
      </p:grpSp>
      <p:grpSp>
        <p:nvGrpSpPr>
          <p:cNvPr name="Group 29" id="29"/>
          <p:cNvGrpSpPr/>
          <p:nvPr/>
        </p:nvGrpSpPr>
        <p:grpSpPr>
          <a:xfrm rot="0">
            <a:off x="10960103" y="2767079"/>
            <a:ext cx="2951483" cy="1031243"/>
            <a:chOff x="0" y="0"/>
            <a:chExt cx="3935311" cy="1374991"/>
          </a:xfrm>
        </p:grpSpPr>
        <p:sp>
          <p:nvSpPr>
            <p:cNvPr name="Freeform 30" id="30"/>
            <p:cNvSpPr/>
            <p:nvPr/>
          </p:nvSpPr>
          <p:spPr>
            <a:xfrm flipH="false" flipV="false" rot="0">
              <a:off x="0" y="0"/>
              <a:ext cx="3935476" cy="1375156"/>
            </a:xfrm>
            <a:custGeom>
              <a:avLst/>
              <a:gdLst/>
              <a:ahLst/>
              <a:cxnLst/>
              <a:rect r="r" b="b" t="t" l="l"/>
              <a:pathLst>
                <a:path h="1375156" w="3935476">
                  <a:moveTo>
                    <a:pt x="0" y="250063"/>
                  </a:moveTo>
                  <a:cubicBezTo>
                    <a:pt x="0" y="111887"/>
                    <a:pt x="111887" y="0"/>
                    <a:pt x="250063" y="0"/>
                  </a:cubicBezTo>
                  <a:lnTo>
                    <a:pt x="3685413" y="0"/>
                  </a:lnTo>
                  <a:cubicBezTo>
                    <a:pt x="3823462" y="0"/>
                    <a:pt x="3935476" y="111887"/>
                    <a:pt x="3935476" y="250063"/>
                  </a:cubicBezTo>
                  <a:lnTo>
                    <a:pt x="3935476" y="1125093"/>
                  </a:lnTo>
                  <a:cubicBezTo>
                    <a:pt x="3935476" y="1263142"/>
                    <a:pt x="3823589" y="1375156"/>
                    <a:pt x="3685413" y="1375156"/>
                  </a:cubicBezTo>
                  <a:lnTo>
                    <a:pt x="250063" y="1375156"/>
                  </a:lnTo>
                  <a:cubicBezTo>
                    <a:pt x="111887" y="1375029"/>
                    <a:pt x="0" y="1263015"/>
                    <a:pt x="0" y="1124966"/>
                  </a:cubicBezTo>
                  <a:close/>
                </a:path>
              </a:pathLst>
            </a:custGeom>
            <a:solidFill>
              <a:srgbClr val="0D9488">
                <a:alpha val="72157"/>
              </a:srgbClr>
            </a:solidFill>
            <a:ln w="25400" cap="sq">
              <a:solidFill>
                <a:srgbClr val="0D9488"/>
              </a:solidFill>
              <a:prstDash val="solid"/>
              <a:miter/>
            </a:ln>
          </p:spPr>
        </p:sp>
      </p:grpSp>
      <p:grpSp>
        <p:nvGrpSpPr>
          <p:cNvPr name="Group 31" id="31"/>
          <p:cNvGrpSpPr/>
          <p:nvPr/>
        </p:nvGrpSpPr>
        <p:grpSpPr>
          <a:xfrm rot="0">
            <a:off x="10972800" y="2779776"/>
            <a:ext cx="2926080" cy="1005840"/>
            <a:chOff x="0" y="0"/>
            <a:chExt cx="3901440" cy="1341120"/>
          </a:xfrm>
        </p:grpSpPr>
        <p:sp>
          <p:nvSpPr>
            <p:cNvPr name="Freeform 32" id="32"/>
            <p:cNvSpPr/>
            <p:nvPr/>
          </p:nvSpPr>
          <p:spPr>
            <a:xfrm flipH="false" flipV="false" rot="0">
              <a:off x="0" y="0"/>
              <a:ext cx="3901440" cy="1341120"/>
            </a:xfrm>
            <a:custGeom>
              <a:avLst/>
              <a:gdLst/>
              <a:ahLst/>
              <a:cxnLst/>
              <a:rect r="r" b="b" t="t" l="l"/>
              <a:pathLst>
                <a:path h="1341120" w="3901440">
                  <a:moveTo>
                    <a:pt x="0" y="0"/>
                  </a:moveTo>
                  <a:lnTo>
                    <a:pt x="3901440" y="0"/>
                  </a:lnTo>
                  <a:lnTo>
                    <a:pt x="3901440" y="1341120"/>
                  </a:lnTo>
                  <a:lnTo>
                    <a:pt x="0" y="1341120"/>
                  </a:lnTo>
                  <a:close/>
                </a:path>
              </a:pathLst>
            </a:custGeom>
            <a:blipFill>
              <a:blip r:embed="rId3">
                <a:alphaModFix amt="0"/>
              </a:blip>
              <a:stretch>
                <a:fillRect l="0" t="-6683" r="0" b="-6683"/>
              </a:stretch>
            </a:blipFill>
          </p:spPr>
        </p:sp>
        <p:sp>
          <p:nvSpPr>
            <p:cNvPr name="TextBox 33" id="33"/>
            <p:cNvSpPr txBox="true"/>
            <p:nvPr/>
          </p:nvSpPr>
          <p:spPr>
            <a:xfrm>
              <a:off x="0" y="0"/>
              <a:ext cx="3901440" cy="1341120"/>
            </a:xfrm>
            <a:prstGeom prst="rect">
              <a:avLst/>
            </a:prstGeom>
          </p:spPr>
          <p:txBody>
            <a:bodyPr anchor="ctr" rtlCol="false" tIns="0" lIns="0" bIns="0" rIns="0"/>
            <a:lstStyle/>
            <a:p>
              <a:pPr algn="ctr">
                <a:lnSpc>
                  <a:spcPts val="2520"/>
                </a:lnSpc>
              </a:pPr>
              <a:r>
                <a:rPr lang="en-US" sz="2100" b="true">
                  <a:solidFill>
                    <a:srgbClr val="FFFFFF"/>
                  </a:solidFill>
                  <a:latin typeface="Proxima Nova Bold"/>
                  <a:ea typeface="Proxima Nova Bold"/>
                  <a:cs typeface="Proxima Nova Bold"/>
                  <a:sym typeface="Proxima Nova Bold"/>
                </a:rPr>
                <a:t>Business Intelligence</a:t>
              </a:r>
            </a:p>
          </p:txBody>
        </p:sp>
      </p:grpSp>
      <p:grpSp>
        <p:nvGrpSpPr>
          <p:cNvPr name="Group 34" id="34"/>
          <p:cNvGrpSpPr/>
          <p:nvPr/>
        </p:nvGrpSpPr>
        <p:grpSpPr>
          <a:xfrm rot="0">
            <a:off x="14343383" y="2767079"/>
            <a:ext cx="3408683" cy="1031243"/>
            <a:chOff x="0" y="0"/>
            <a:chExt cx="4544911" cy="1374991"/>
          </a:xfrm>
        </p:grpSpPr>
        <p:sp>
          <p:nvSpPr>
            <p:cNvPr name="Freeform 35" id="35"/>
            <p:cNvSpPr/>
            <p:nvPr/>
          </p:nvSpPr>
          <p:spPr>
            <a:xfrm flipH="false" flipV="false" rot="0">
              <a:off x="0" y="0"/>
              <a:ext cx="4545076" cy="1375156"/>
            </a:xfrm>
            <a:custGeom>
              <a:avLst/>
              <a:gdLst/>
              <a:ahLst/>
              <a:cxnLst/>
              <a:rect r="r" b="b" t="t" l="l"/>
              <a:pathLst>
                <a:path h="1375156" w="4545076">
                  <a:moveTo>
                    <a:pt x="0" y="250063"/>
                  </a:moveTo>
                  <a:cubicBezTo>
                    <a:pt x="0" y="111887"/>
                    <a:pt x="111887" y="0"/>
                    <a:pt x="250063" y="0"/>
                  </a:cubicBezTo>
                  <a:lnTo>
                    <a:pt x="4295013" y="0"/>
                  </a:lnTo>
                  <a:cubicBezTo>
                    <a:pt x="4433062" y="0"/>
                    <a:pt x="4545076" y="111887"/>
                    <a:pt x="4545076" y="250063"/>
                  </a:cubicBezTo>
                  <a:lnTo>
                    <a:pt x="4545076" y="1125093"/>
                  </a:lnTo>
                  <a:cubicBezTo>
                    <a:pt x="4545076" y="1263142"/>
                    <a:pt x="4433189" y="1375156"/>
                    <a:pt x="4295013" y="1375156"/>
                  </a:cubicBezTo>
                  <a:lnTo>
                    <a:pt x="250063" y="1375156"/>
                  </a:lnTo>
                  <a:cubicBezTo>
                    <a:pt x="111887" y="1375029"/>
                    <a:pt x="0" y="1263015"/>
                    <a:pt x="0" y="1124966"/>
                  </a:cubicBezTo>
                  <a:close/>
                </a:path>
              </a:pathLst>
            </a:custGeom>
            <a:solidFill>
              <a:srgbClr val="0D9488">
                <a:alpha val="72157"/>
              </a:srgbClr>
            </a:solidFill>
            <a:ln w="25400" cap="sq">
              <a:solidFill>
                <a:srgbClr val="0D9488"/>
              </a:solidFill>
              <a:prstDash val="solid"/>
              <a:miter/>
            </a:ln>
          </p:spPr>
        </p:sp>
      </p:grpSp>
      <p:grpSp>
        <p:nvGrpSpPr>
          <p:cNvPr name="Group 36" id="36"/>
          <p:cNvGrpSpPr/>
          <p:nvPr/>
        </p:nvGrpSpPr>
        <p:grpSpPr>
          <a:xfrm rot="0">
            <a:off x="14356080" y="2779776"/>
            <a:ext cx="3383280" cy="1005840"/>
            <a:chOff x="0" y="0"/>
            <a:chExt cx="4511040" cy="1341120"/>
          </a:xfrm>
        </p:grpSpPr>
        <p:sp>
          <p:nvSpPr>
            <p:cNvPr name="Freeform 37" id="37"/>
            <p:cNvSpPr/>
            <p:nvPr/>
          </p:nvSpPr>
          <p:spPr>
            <a:xfrm flipH="false" flipV="false" rot="0">
              <a:off x="0" y="0"/>
              <a:ext cx="4511040" cy="1341120"/>
            </a:xfrm>
            <a:custGeom>
              <a:avLst/>
              <a:gdLst/>
              <a:ahLst/>
              <a:cxnLst/>
              <a:rect r="r" b="b" t="t" l="l"/>
              <a:pathLst>
                <a:path h="1341120" w="4511040">
                  <a:moveTo>
                    <a:pt x="0" y="0"/>
                  </a:moveTo>
                  <a:lnTo>
                    <a:pt x="4511040" y="0"/>
                  </a:lnTo>
                  <a:lnTo>
                    <a:pt x="4511040" y="1341120"/>
                  </a:lnTo>
                  <a:lnTo>
                    <a:pt x="0" y="1341120"/>
                  </a:lnTo>
                  <a:close/>
                </a:path>
              </a:pathLst>
            </a:custGeom>
            <a:blipFill>
              <a:blip r:embed="rId3">
                <a:alphaModFix amt="0"/>
              </a:blip>
              <a:stretch>
                <a:fillRect l="0" t="-15540" r="0" b="-15540"/>
              </a:stretch>
            </a:blipFill>
          </p:spPr>
        </p:sp>
        <p:sp>
          <p:nvSpPr>
            <p:cNvPr name="TextBox 38" id="38"/>
            <p:cNvSpPr txBox="true"/>
            <p:nvPr/>
          </p:nvSpPr>
          <p:spPr>
            <a:xfrm>
              <a:off x="0" y="0"/>
              <a:ext cx="4511040" cy="1341120"/>
            </a:xfrm>
            <a:prstGeom prst="rect">
              <a:avLst/>
            </a:prstGeom>
          </p:spPr>
          <p:txBody>
            <a:bodyPr anchor="ctr" rtlCol="false" tIns="0" lIns="0" bIns="0" rIns="0"/>
            <a:lstStyle/>
            <a:p>
              <a:pPr algn="ctr">
                <a:lnSpc>
                  <a:spcPts val="2520"/>
                </a:lnSpc>
              </a:pPr>
              <a:r>
                <a:rPr lang="en-US" sz="2100" b="true">
                  <a:solidFill>
                    <a:srgbClr val="FFFFFF"/>
                  </a:solidFill>
                  <a:latin typeface="Proxima Nova Bold"/>
                  <a:ea typeface="Proxima Nova Bold"/>
                  <a:cs typeface="Proxima Nova Bold"/>
                  <a:sym typeface="Proxima Nova Bold"/>
                </a:rPr>
                <a:t>Dashboard Reporting</a:t>
              </a:r>
            </a:p>
          </p:txBody>
        </p:sp>
      </p:grpSp>
      <p:grpSp>
        <p:nvGrpSpPr>
          <p:cNvPr name="Group 39" id="39"/>
          <p:cNvGrpSpPr/>
          <p:nvPr/>
        </p:nvGrpSpPr>
        <p:grpSpPr>
          <a:xfrm rot="0">
            <a:off x="914400" y="4114800"/>
            <a:ext cx="16459200" cy="694944"/>
            <a:chOff x="0" y="0"/>
            <a:chExt cx="21945600" cy="926592"/>
          </a:xfrm>
        </p:grpSpPr>
        <p:sp>
          <p:nvSpPr>
            <p:cNvPr name="Freeform 40" id="40"/>
            <p:cNvSpPr/>
            <p:nvPr/>
          </p:nvSpPr>
          <p:spPr>
            <a:xfrm flipH="false" flipV="false" rot="0">
              <a:off x="0" y="0"/>
              <a:ext cx="21945600" cy="926592"/>
            </a:xfrm>
            <a:custGeom>
              <a:avLst/>
              <a:gdLst/>
              <a:ahLst/>
              <a:cxnLst/>
              <a:rect r="r" b="b" t="t" l="l"/>
              <a:pathLst>
                <a:path h="926592" w="21945600">
                  <a:moveTo>
                    <a:pt x="0" y="0"/>
                  </a:moveTo>
                  <a:lnTo>
                    <a:pt x="21945600" y="0"/>
                  </a:lnTo>
                  <a:lnTo>
                    <a:pt x="21945600" y="926592"/>
                  </a:lnTo>
                  <a:lnTo>
                    <a:pt x="0" y="926592"/>
                  </a:lnTo>
                  <a:close/>
                </a:path>
              </a:pathLst>
            </a:custGeom>
            <a:blipFill>
              <a:blip r:embed="rId3">
                <a:alphaModFix amt="0"/>
              </a:blip>
              <a:stretch>
                <a:fillRect l="0" t="-411487" r="0" b="-411487"/>
              </a:stretch>
            </a:blipFill>
          </p:spPr>
        </p:sp>
        <p:sp>
          <p:nvSpPr>
            <p:cNvPr name="TextBox 41" id="41"/>
            <p:cNvSpPr txBox="true"/>
            <p:nvPr/>
          </p:nvSpPr>
          <p:spPr>
            <a:xfrm>
              <a:off x="0" y="-9525"/>
              <a:ext cx="21945600" cy="936117"/>
            </a:xfrm>
            <a:prstGeom prst="rect">
              <a:avLst/>
            </a:prstGeom>
          </p:spPr>
          <p:txBody>
            <a:bodyPr anchor="ctr" rtlCol="false" tIns="0" lIns="0" bIns="0" rIns="0"/>
            <a:lstStyle/>
            <a:p>
              <a:pPr algn="l">
                <a:lnSpc>
                  <a:spcPts val="3120"/>
                </a:lnSpc>
              </a:pPr>
              <a:r>
                <a:rPr lang="en-US" sz="2600">
                  <a:solidFill>
                    <a:srgbClr val="CBD5E1"/>
                  </a:solidFill>
                  <a:latin typeface="Proxima Nova"/>
                  <a:ea typeface="Proxima Nova"/>
                  <a:cs typeface="Proxima Nova"/>
                  <a:sym typeface="Proxima Nova"/>
                </a:rPr>
                <a:t>The solution provides actionable insights for investors, analysts, and fund managers.</a:t>
              </a:r>
            </a:p>
          </p:txBody>
        </p:sp>
      </p:grpSp>
      <p:grpSp>
        <p:nvGrpSpPr>
          <p:cNvPr name="Group 42" id="42"/>
          <p:cNvGrpSpPr/>
          <p:nvPr/>
        </p:nvGrpSpPr>
        <p:grpSpPr>
          <a:xfrm rot="0">
            <a:off x="901703" y="5071367"/>
            <a:ext cx="16484603" cy="80267"/>
            <a:chOff x="0" y="0"/>
            <a:chExt cx="21979471" cy="107023"/>
          </a:xfrm>
        </p:grpSpPr>
        <p:sp>
          <p:nvSpPr>
            <p:cNvPr name="Freeform 43" id="43"/>
            <p:cNvSpPr/>
            <p:nvPr/>
          </p:nvSpPr>
          <p:spPr>
            <a:xfrm flipH="false" flipV="false" rot="0">
              <a:off x="0" y="0"/>
              <a:ext cx="21979510" cy="107061"/>
            </a:xfrm>
            <a:custGeom>
              <a:avLst/>
              <a:gdLst/>
              <a:ahLst/>
              <a:cxnLst/>
              <a:rect r="r" b="b" t="t" l="l"/>
              <a:pathLst>
                <a:path h="107061" w="21979510">
                  <a:moveTo>
                    <a:pt x="0" y="0"/>
                  </a:moveTo>
                  <a:lnTo>
                    <a:pt x="21979510" y="0"/>
                  </a:lnTo>
                  <a:lnTo>
                    <a:pt x="21979510" y="107061"/>
                  </a:lnTo>
                  <a:lnTo>
                    <a:pt x="0" y="107061"/>
                  </a:lnTo>
                  <a:close/>
                </a:path>
              </a:pathLst>
            </a:custGeom>
            <a:solidFill>
              <a:srgbClr val="334155"/>
            </a:solidFill>
            <a:ln w="25400" cap="sq">
              <a:solidFill>
                <a:srgbClr val="334155"/>
              </a:solidFill>
              <a:prstDash val="solid"/>
              <a:miter/>
            </a:ln>
          </p:spPr>
        </p:sp>
      </p:grpSp>
      <p:grpSp>
        <p:nvGrpSpPr>
          <p:cNvPr name="Group 44" id="44"/>
          <p:cNvGrpSpPr/>
          <p:nvPr/>
        </p:nvGrpSpPr>
        <p:grpSpPr>
          <a:xfrm rot="0">
            <a:off x="800100" y="6170809"/>
            <a:ext cx="16459200" cy="1919402"/>
            <a:chOff x="0" y="0"/>
            <a:chExt cx="21945600" cy="2559202"/>
          </a:xfrm>
        </p:grpSpPr>
        <p:sp>
          <p:nvSpPr>
            <p:cNvPr name="Freeform 45" id="45"/>
            <p:cNvSpPr/>
            <p:nvPr/>
          </p:nvSpPr>
          <p:spPr>
            <a:xfrm flipH="false" flipV="false" rot="0">
              <a:off x="0" y="0"/>
              <a:ext cx="21945600" cy="2559202"/>
            </a:xfrm>
            <a:custGeom>
              <a:avLst/>
              <a:gdLst/>
              <a:ahLst/>
              <a:cxnLst/>
              <a:rect r="r" b="b" t="t" l="l"/>
              <a:pathLst>
                <a:path h="2559202" w="21945600">
                  <a:moveTo>
                    <a:pt x="0" y="0"/>
                  </a:moveTo>
                  <a:lnTo>
                    <a:pt x="21945600" y="0"/>
                  </a:lnTo>
                  <a:lnTo>
                    <a:pt x="21945600" y="2559202"/>
                  </a:lnTo>
                  <a:lnTo>
                    <a:pt x="0" y="2559202"/>
                  </a:lnTo>
                  <a:close/>
                </a:path>
              </a:pathLst>
            </a:custGeom>
            <a:blipFill>
              <a:blip r:embed="rId3">
                <a:alphaModFix amt="0"/>
              </a:blip>
              <a:stretch>
                <a:fillRect l="0" t="-126593" r="0" b="-107581"/>
              </a:stretch>
            </a:blipFill>
          </p:spPr>
        </p:sp>
        <p:sp>
          <p:nvSpPr>
            <p:cNvPr name="TextBox 46" id="46"/>
            <p:cNvSpPr txBox="true"/>
            <p:nvPr/>
          </p:nvSpPr>
          <p:spPr>
            <a:xfrm>
              <a:off x="0" y="0"/>
              <a:ext cx="21945600" cy="2559202"/>
            </a:xfrm>
            <a:prstGeom prst="rect">
              <a:avLst/>
            </a:prstGeom>
          </p:spPr>
          <p:txBody>
            <a:bodyPr anchor="ctr" rtlCol="false" tIns="0" lIns="0" bIns="0" rIns="0"/>
            <a:lstStyle/>
            <a:p>
              <a:pPr algn="ctr">
                <a:lnSpc>
                  <a:spcPts val="11519"/>
                </a:lnSpc>
              </a:pPr>
              <a:r>
                <a:rPr lang="en-US" sz="9600" b="true">
                  <a:solidFill>
                    <a:srgbClr val="FFFFFF"/>
                  </a:solidFill>
                  <a:latin typeface="Montserrat Bold"/>
                  <a:ea typeface="Montserrat Bold"/>
                  <a:cs typeface="Montserrat Bold"/>
                  <a:sym typeface="Montserrat Bold"/>
                </a:rPr>
                <a:t>Thank You</a:t>
              </a:r>
            </a:p>
          </p:txBody>
        </p:sp>
      </p:grpSp>
      <p:grpSp>
        <p:nvGrpSpPr>
          <p:cNvPr name="Group 47" id="47"/>
          <p:cNvGrpSpPr/>
          <p:nvPr/>
        </p:nvGrpSpPr>
        <p:grpSpPr>
          <a:xfrm rot="0">
            <a:off x="914400" y="9326880"/>
            <a:ext cx="16459200" cy="548640"/>
            <a:chOff x="0" y="0"/>
            <a:chExt cx="21945600" cy="731520"/>
          </a:xfrm>
        </p:grpSpPr>
        <p:sp>
          <p:nvSpPr>
            <p:cNvPr name="Freeform 48" id="48"/>
            <p:cNvSpPr/>
            <p:nvPr/>
          </p:nvSpPr>
          <p:spPr>
            <a:xfrm flipH="false" flipV="false" rot="0">
              <a:off x="0" y="0"/>
              <a:ext cx="21945600" cy="731520"/>
            </a:xfrm>
            <a:custGeom>
              <a:avLst/>
              <a:gdLst/>
              <a:ahLst/>
              <a:cxnLst/>
              <a:rect r="r" b="b" t="t" l="l"/>
              <a:pathLst>
                <a:path h="731520" w="21945600">
                  <a:moveTo>
                    <a:pt x="0" y="0"/>
                  </a:moveTo>
                  <a:lnTo>
                    <a:pt x="21945600" y="0"/>
                  </a:lnTo>
                  <a:lnTo>
                    <a:pt x="21945600" y="731520"/>
                  </a:lnTo>
                  <a:lnTo>
                    <a:pt x="0" y="731520"/>
                  </a:lnTo>
                  <a:close/>
                </a:path>
              </a:pathLst>
            </a:custGeom>
            <a:blipFill>
              <a:blip r:embed="rId3">
                <a:alphaModFix amt="0"/>
              </a:blip>
              <a:stretch>
                <a:fillRect l="0" t="-534551" r="0" b="-534551"/>
              </a:stretch>
            </a:blipFill>
          </p:spPr>
        </p:sp>
        <p:sp>
          <p:nvSpPr>
            <p:cNvPr name="TextBox 49" id="49"/>
            <p:cNvSpPr txBox="true"/>
            <p:nvPr/>
          </p:nvSpPr>
          <p:spPr>
            <a:xfrm>
              <a:off x="0" y="0"/>
              <a:ext cx="21945600" cy="731520"/>
            </a:xfrm>
            <a:prstGeom prst="rect">
              <a:avLst/>
            </a:prstGeom>
          </p:spPr>
          <p:txBody>
            <a:bodyPr anchor="ctr" rtlCol="false" tIns="0" lIns="0" bIns="0" rIns="0"/>
            <a:lstStyle/>
            <a:p>
              <a:pPr algn="ctr">
                <a:lnSpc>
                  <a:spcPts val="2280"/>
                </a:lnSpc>
              </a:pPr>
              <a:r>
                <a:rPr lang="en-US" sz="1900">
                  <a:solidFill>
                    <a:srgbClr val="64748B"/>
                  </a:solidFill>
                  <a:latin typeface="Proxima Nova"/>
                  <a:ea typeface="Proxima Nova"/>
                  <a:cs typeface="Proxima Nova"/>
                  <a:sym typeface="Proxima Nova"/>
                </a:rPr>
                <a:t>Hemant Singh Rajput  •  Bluestock Mutual Fund Analytics  •  June 2026</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DAHMQR_Cs8g</dc:identifier>
  <dcterms:modified xsi:type="dcterms:W3CDTF">2011-08-01T06:04:30Z</dcterms:modified>
  <cp:revision>1</cp:revision>
  <dc:title>Bluestock_MF_Analytics_Capstone.pptx</dc:title>
</cp:coreProperties>
</file>